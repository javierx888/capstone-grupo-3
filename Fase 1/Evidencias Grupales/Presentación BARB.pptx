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ay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jPmS6KLW0Mr2xRjCed+sSCjaay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00274F-1A46-4E1B-B7D7-636D0AD363AE}" v="1" dt="2026-09-05T00:09:02.5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é A. Rojas Robles" userId="a81bb1a83322bfbc" providerId="LiveId" clId="{51487DAD-BF97-4849-956B-CB66BF697501}"/>
    <pc:docChg chg="undo custSel modSld">
      <pc:chgData name="René A. Rojas Robles" userId="a81bb1a83322bfbc" providerId="LiveId" clId="{51487DAD-BF97-4849-956B-CB66BF697501}" dt="2026-09-05T00:12:31.195" v="284" actId="20577"/>
      <pc:docMkLst>
        <pc:docMk/>
      </pc:docMkLst>
      <pc:sldChg chg="modSp mod">
        <pc:chgData name="René A. Rojas Robles" userId="a81bb1a83322bfbc" providerId="LiveId" clId="{51487DAD-BF97-4849-956B-CB66BF697501}" dt="2026-09-05T00:09:02.598" v="20" actId="27636"/>
        <pc:sldMkLst>
          <pc:docMk/>
          <pc:sldMk cId="0" sldId="258"/>
        </pc:sldMkLst>
        <pc:spChg chg="mod">
          <ac:chgData name="René A. Rojas Robles" userId="a81bb1a83322bfbc" providerId="LiveId" clId="{51487DAD-BF97-4849-956B-CB66BF697501}" dt="2026-09-05T00:09:02.598" v="20" actId="27636"/>
          <ac:spMkLst>
            <pc:docMk/>
            <pc:sldMk cId="0" sldId="258"/>
            <ac:spMk id="56" creationId="{00000000-0000-0000-0000-000000000000}"/>
          </ac:spMkLst>
        </pc:spChg>
      </pc:sldChg>
      <pc:sldChg chg="modSp mod">
        <pc:chgData name="René A. Rojas Robles" userId="a81bb1a83322bfbc" providerId="LiveId" clId="{51487DAD-BF97-4849-956B-CB66BF697501}" dt="2026-09-05T00:09:02.609" v="21" actId="27636"/>
        <pc:sldMkLst>
          <pc:docMk/>
          <pc:sldMk cId="0" sldId="261"/>
        </pc:sldMkLst>
        <pc:spChg chg="mod">
          <ac:chgData name="René A. Rojas Robles" userId="a81bb1a83322bfbc" providerId="LiveId" clId="{51487DAD-BF97-4849-956B-CB66BF697501}" dt="2026-09-05T00:09:02.609" v="21" actId="27636"/>
          <ac:spMkLst>
            <pc:docMk/>
            <pc:sldMk cId="0" sldId="261"/>
            <ac:spMk id="144" creationId="{00000000-0000-0000-0000-000000000000}"/>
          </ac:spMkLst>
        </pc:spChg>
      </pc:sldChg>
      <pc:sldChg chg="addSp modSp mod">
        <pc:chgData name="René A. Rojas Robles" userId="a81bb1a83322bfbc" providerId="LiveId" clId="{51487DAD-BF97-4849-956B-CB66BF697501}" dt="2026-09-05T00:12:31.195" v="284" actId="20577"/>
        <pc:sldMkLst>
          <pc:docMk/>
          <pc:sldMk cId="0" sldId="262"/>
        </pc:sldMkLst>
        <pc:spChg chg="add mod">
          <ac:chgData name="René A. Rojas Robles" userId="a81bb1a83322bfbc" providerId="LiveId" clId="{51487DAD-BF97-4849-956B-CB66BF697501}" dt="2026-09-05T00:12:31.195" v="284" actId="20577"/>
          <ac:spMkLst>
            <pc:docMk/>
            <pc:sldMk cId="0" sldId="262"/>
            <ac:spMk id="4" creationId="{080BB11C-52B5-C21B-F7BF-75F0F88573F4}"/>
          </ac:spMkLst>
        </pc:spChg>
        <pc:spChg chg="add mod">
          <ac:chgData name="René A. Rojas Robles" userId="a81bb1a83322bfbc" providerId="LiveId" clId="{51487DAD-BF97-4849-956B-CB66BF697501}" dt="2026-09-05T00:10:19.187" v="235" actId="20577"/>
          <ac:spMkLst>
            <pc:docMk/>
            <pc:sldMk cId="0" sldId="262"/>
            <ac:spMk id="6" creationId="{48FFF3E7-8C61-2B1A-74DD-2E5948BB0273}"/>
          </ac:spMkLst>
        </pc:spChg>
        <pc:spChg chg="add mod">
          <ac:chgData name="René A. Rojas Robles" userId="a81bb1a83322bfbc" providerId="LiveId" clId="{51487DAD-BF97-4849-956B-CB66BF697501}" dt="2026-09-05T00:10:34.979" v="276" actId="20577"/>
          <ac:spMkLst>
            <pc:docMk/>
            <pc:sldMk cId="0" sldId="262"/>
            <ac:spMk id="8" creationId="{F14F7937-DFCE-40DA-4964-7EE4CBC1216B}"/>
          </ac:spMkLst>
        </pc:spChg>
        <pc:spChg chg="mod">
          <ac:chgData name="René A. Rojas Robles" userId="a81bb1a83322bfbc" providerId="LiveId" clId="{51487DAD-BF97-4849-956B-CB66BF697501}" dt="2026-09-05T00:09:19.064" v="85" actId="1035"/>
          <ac:spMkLst>
            <pc:docMk/>
            <pc:sldMk cId="0" sldId="262"/>
            <ac:spMk id="208" creationId="{00000000-0000-0000-0000-000000000000}"/>
          </ac:spMkLst>
        </pc:spChg>
        <pc:spChg chg="mod">
          <ac:chgData name="René A. Rojas Robles" userId="a81bb1a83322bfbc" providerId="LiveId" clId="{51487DAD-BF97-4849-956B-CB66BF697501}" dt="2026-09-05T00:09:19.064" v="85" actId="1035"/>
          <ac:spMkLst>
            <pc:docMk/>
            <pc:sldMk cId="0" sldId="262"/>
            <ac:spMk id="209" creationId="{00000000-0000-0000-0000-000000000000}"/>
          </ac:spMkLst>
        </pc:spChg>
        <pc:spChg chg="mod">
          <ac:chgData name="René A. Rojas Robles" userId="a81bb1a83322bfbc" providerId="LiveId" clId="{51487DAD-BF97-4849-956B-CB66BF697501}" dt="2026-09-05T00:09:19.064" v="85" actId="1035"/>
          <ac:spMkLst>
            <pc:docMk/>
            <pc:sldMk cId="0" sldId="262"/>
            <ac:spMk id="210" creationId="{00000000-0000-0000-0000-000000000000}"/>
          </ac:spMkLst>
        </pc:spChg>
        <pc:spChg chg="mod">
          <ac:chgData name="René A. Rojas Robles" userId="a81bb1a83322bfbc" providerId="LiveId" clId="{51487DAD-BF97-4849-956B-CB66BF697501}" dt="2026-09-05T00:09:30.247" v="109" actId="1035"/>
          <ac:spMkLst>
            <pc:docMk/>
            <pc:sldMk cId="0" sldId="262"/>
            <ac:spMk id="212" creationId="{00000000-0000-0000-0000-000000000000}"/>
          </ac:spMkLst>
        </pc:spChg>
        <pc:spChg chg="mod">
          <ac:chgData name="René A. Rojas Robles" userId="a81bb1a83322bfbc" providerId="LiveId" clId="{51487DAD-BF97-4849-956B-CB66BF697501}" dt="2026-09-05T00:09:30.247" v="109" actId="1035"/>
          <ac:spMkLst>
            <pc:docMk/>
            <pc:sldMk cId="0" sldId="262"/>
            <ac:spMk id="213" creationId="{00000000-0000-0000-0000-000000000000}"/>
          </ac:spMkLst>
        </pc:spChg>
        <pc:spChg chg="mod">
          <ac:chgData name="René A. Rojas Robles" userId="a81bb1a83322bfbc" providerId="LiveId" clId="{51487DAD-BF97-4849-956B-CB66BF697501}" dt="2026-09-05T00:09:30.247" v="109" actId="1035"/>
          <ac:spMkLst>
            <pc:docMk/>
            <pc:sldMk cId="0" sldId="262"/>
            <ac:spMk id="214" creationId="{00000000-0000-0000-0000-000000000000}"/>
          </ac:spMkLst>
        </pc:spChg>
        <pc:spChg chg="mod">
          <ac:chgData name="René A. Rojas Robles" userId="a81bb1a83322bfbc" providerId="LiveId" clId="{51487DAD-BF97-4849-956B-CB66BF697501}" dt="2026-09-05T00:09:44.794" v="157" actId="1035"/>
          <ac:spMkLst>
            <pc:docMk/>
            <pc:sldMk cId="0" sldId="262"/>
            <ac:spMk id="216" creationId="{00000000-0000-0000-0000-000000000000}"/>
          </ac:spMkLst>
        </pc:spChg>
        <pc:spChg chg="mod">
          <ac:chgData name="René A. Rojas Robles" userId="a81bb1a83322bfbc" providerId="LiveId" clId="{51487DAD-BF97-4849-956B-CB66BF697501}" dt="2026-09-05T00:09:44.794" v="157" actId="1035"/>
          <ac:spMkLst>
            <pc:docMk/>
            <pc:sldMk cId="0" sldId="262"/>
            <ac:spMk id="217" creationId="{00000000-0000-0000-0000-000000000000}"/>
          </ac:spMkLst>
        </pc:spChg>
        <pc:spChg chg="mod">
          <ac:chgData name="René A. Rojas Robles" userId="a81bb1a83322bfbc" providerId="LiveId" clId="{51487DAD-BF97-4849-956B-CB66BF697501}" dt="2026-09-05T00:09:44.794" v="157" actId="1035"/>
          <ac:spMkLst>
            <pc:docMk/>
            <pc:sldMk cId="0" sldId="262"/>
            <ac:spMk id="218" creationId="{00000000-0000-0000-0000-000000000000}"/>
          </ac:spMkLst>
        </pc:spChg>
        <pc:spChg chg="mod">
          <ac:chgData name="René A. Rojas Robles" userId="a81bb1a83322bfbc" providerId="LiveId" clId="{51487DAD-BF97-4849-956B-CB66BF697501}" dt="2026-09-05T00:08:58.711" v="15" actId="1036"/>
          <ac:spMkLst>
            <pc:docMk/>
            <pc:sldMk cId="0" sldId="262"/>
            <ac:spMk id="220" creationId="{00000000-0000-0000-0000-000000000000}"/>
          </ac:spMkLst>
        </pc:spChg>
        <pc:spChg chg="mod">
          <ac:chgData name="René A. Rojas Robles" userId="a81bb1a83322bfbc" providerId="LiveId" clId="{51487DAD-BF97-4849-956B-CB66BF697501}" dt="2026-09-05T00:08:58.711" v="15" actId="1036"/>
          <ac:spMkLst>
            <pc:docMk/>
            <pc:sldMk cId="0" sldId="262"/>
            <ac:spMk id="221" creationId="{00000000-0000-0000-0000-000000000000}"/>
          </ac:spMkLst>
        </pc:spChg>
        <pc:cxnChg chg="add mod">
          <ac:chgData name="René A. Rojas Robles" userId="a81bb1a83322bfbc" providerId="LiveId" clId="{51487DAD-BF97-4849-956B-CB66BF697501}" dt="2026-09-05T00:09:51.698" v="175" actId="1036"/>
          <ac:cxnSpMkLst>
            <pc:docMk/>
            <pc:sldMk cId="0" sldId="262"/>
            <ac:cxnSpMk id="2" creationId="{0E0AD5FC-59D8-DAA1-FB08-FBAC671FED41}"/>
          </ac:cxnSpMkLst>
        </pc:cxnChg>
        <pc:cxnChg chg="mod">
          <ac:chgData name="René A. Rojas Robles" userId="a81bb1a83322bfbc" providerId="LiveId" clId="{51487DAD-BF97-4849-956B-CB66BF697501}" dt="2026-09-05T00:09:12.801" v="72" actId="1035"/>
          <ac:cxnSpMkLst>
            <pc:docMk/>
            <pc:sldMk cId="0" sldId="262"/>
            <ac:cxnSpMk id="207" creationId="{00000000-0000-0000-0000-000000000000}"/>
          </ac:cxnSpMkLst>
        </pc:cxnChg>
        <pc:cxnChg chg="mod">
          <ac:chgData name="René A. Rojas Robles" userId="a81bb1a83322bfbc" providerId="LiveId" clId="{51487DAD-BF97-4849-956B-CB66BF697501}" dt="2026-09-05T00:09:23.918" v="98" actId="1036"/>
          <ac:cxnSpMkLst>
            <pc:docMk/>
            <pc:sldMk cId="0" sldId="262"/>
            <ac:cxnSpMk id="211" creationId="{00000000-0000-0000-0000-000000000000}"/>
          </ac:cxnSpMkLst>
        </pc:cxnChg>
        <pc:cxnChg chg="mod">
          <ac:chgData name="René A. Rojas Robles" userId="a81bb1a83322bfbc" providerId="LiveId" clId="{51487DAD-BF97-4849-956B-CB66BF697501}" dt="2026-09-05T00:09:39.864" v="147" actId="1036"/>
          <ac:cxnSpMkLst>
            <pc:docMk/>
            <pc:sldMk cId="0" sldId="262"/>
            <ac:cxnSpMk id="215" creationId="{00000000-0000-0000-0000-000000000000}"/>
          </ac:cxnSpMkLst>
        </pc:cxnChg>
        <pc:cxnChg chg="mod">
          <ac:chgData name="René A. Rojas Robles" userId="a81bb1a83322bfbc" providerId="LiveId" clId="{51487DAD-BF97-4849-956B-CB66BF697501}" dt="2026-09-05T00:08:58.711" v="15" actId="1036"/>
          <ac:cxnSpMkLst>
            <pc:docMk/>
            <pc:sldMk cId="0" sldId="262"/>
            <ac:cxnSpMk id="219" creationId="{00000000-0000-0000-0000-000000000000}"/>
          </ac:cxnSpMkLst>
        </pc:cxnChg>
      </pc:sldChg>
      <pc:sldChg chg="modSp mod">
        <pc:chgData name="René A. Rojas Robles" userId="a81bb1a83322bfbc" providerId="LiveId" clId="{51487DAD-BF97-4849-956B-CB66BF697501}" dt="2026-09-05T00:09:02.569" v="17" actId="27636"/>
        <pc:sldMkLst>
          <pc:docMk/>
          <pc:sldMk cId="0" sldId="263"/>
        </pc:sldMkLst>
        <pc:spChg chg="mod">
          <ac:chgData name="René A. Rojas Robles" userId="a81bb1a83322bfbc" providerId="LiveId" clId="{51487DAD-BF97-4849-956B-CB66BF697501}" dt="2026-09-05T00:09:02.569" v="17" actId="27636"/>
          <ac:spMkLst>
            <pc:docMk/>
            <pc:sldMk cId="0" sldId="263"/>
            <ac:spMk id="238" creationId="{00000000-0000-0000-0000-000000000000}"/>
          </ac:spMkLst>
        </pc:spChg>
      </pc:sldChg>
      <pc:sldChg chg="modSp mod">
        <pc:chgData name="René A. Rojas Robles" userId="a81bb1a83322bfbc" providerId="LiveId" clId="{51487DAD-BF97-4849-956B-CB66BF697501}" dt="2026-09-05T00:09:02.583" v="19" actId="27636"/>
        <pc:sldMkLst>
          <pc:docMk/>
          <pc:sldMk cId="0" sldId="265"/>
        </pc:sldMkLst>
        <pc:spChg chg="mod">
          <ac:chgData name="René A. Rojas Robles" userId="a81bb1a83322bfbc" providerId="LiveId" clId="{51487DAD-BF97-4849-956B-CB66BF697501}" dt="2026-09-05T00:09:02.583" v="19" actId="27636"/>
          <ac:spMkLst>
            <pc:docMk/>
            <pc:sldMk cId="0" sldId="265"/>
            <ac:spMk id="343" creationId="{00000000-0000-0000-0000-000000000000}"/>
          </ac:spMkLst>
        </pc:spChg>
        <pc:spChg chg="mod">
          <ac:chgData name="René A. Rojas Robles" userId="a81bb1a83322bfbc" providerId="LiveId" clId="{51487DAD-BF97-4849-956B-CB66BF697501}" dt="2026-09-05T00:09:02.583" v="18" actId="27636"/>
          <ac:spMkLst>
            <pc:docMk/>
            <pc:sldMk cId="0" sldId="265"/>
            <ac:spMk id="34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742950" y="590550"/>
            <a:ext cx="44767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350"/>
              <a:buFont typeface="Arial"/>
              <a:buNone/>
            </a:pPr>
            <a:r>
              <a:rPr lang="en-US" sz="135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APT · CAPSTONE PTY4614</a:t>
            </a:r>
            <a:endParaRPr b="1">
              <a:solidFill>
                <a:schemeClr val="dk1"/>
              </a:solidFill>
            </a:endParaRPr>
          </a:p>
        </p:txBody>
      </p:sp>
      <p:cxnSp>
        <p:nvCxnSpPr>
          <p:cNvPr id="14" name="Google Shape;14;p1"/>
          <p:cNvCxnSpPr/>
          <p:nvPr/>
        </p:nvCxnSpPr>
        <p:spPr>
          <a:xfrm>
            <a:off x="742950" y="990600"/>
            <a:ext cx="106680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>
            <a:off x="685800" y="1428750"/>
            <a:ext cx="7239000" cy="128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8400"/>
              <a:buFont typeface="Play"/>
              <a:buNone/>
            </a:pPr>
            <a:r>
              <a:rPr lang="en-US" sz="840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BARB</a:t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9191625" y="1257300"/>
            <a:ext cx="2190750" cy="219075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9477375" y="1571625"/>
            <a:ext cx="16192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lay"/>
              <a:buNone/>
            </a:pPr>
            <a:r>
              <a:rPr lang="en-US" sz="4500" b="1" i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477375" y="2524125"/>
            <a:ext cx="16192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lang="en-US" sz="22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MVP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42950" y="3000375"/>
            <a:ext cx="7524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2550"/>
              <a:buFont typeface="Play"/>
              <a:buNone/>
            </a:pPr>
            <a:r>
              <a:rPr lang="en-US" sz="25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Plataforma SaaS para la gestión trazable</a:t>
            </a:r>
            <a:endParaRPr/>
          </a:p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2550"/>
              <a:buFont typeface="Play"/>
              <a:buNone/>
            </a:pPr>
            <a:r>
              <a:rPr lang="en-US" sz="25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del mantenimiento industrial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62000" y="4171950"/>
            <a:ext cx="4762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725"/>
              <a:buFont typeface="Arial"/>
              <a:buNone/>
            </a:pPr>
            <a:r>
              <a:rPr lang="en-US" sz="1725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Propuesta de Proyecto APT</a:t>
            </a:r>
            <a:endParaRPr/>
          </a:p>
        </p:txBody>
      </p:sp>
      <p:cxnSp>
        <p:nvCxnSpPr>
          <p:cNvPr id="21" name="Google Shape;21;p1"/>
          <p:cNvCxnSpPr/>
          <p:nvPr/>
        </p:nvCxnSpPr>
        <p:spPr>
          <a:xfrm>
            <a:off x="762000" y="4743450"/>
            <a:ext cx="10620375" cy="0"/>
          </a:xfrm>
          <a:prstGeom prst="straightConnector1">
            <a:avLst/>
          </a:prstGeom>
          <a:noFill/>
          <a:ln w="9525" cap="flat" cmpd="sng">
            <a:solidFill>
              <a:srgbClr val="F36C2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1"/>
          <p:cNvSpPr/>
          <p:nvPr/>
        </p:nvSpPr>
        <p:spPr>
          <a:xfrm>
            <a:off x="762000" y="5010150"/>
            <a:ext cx="10477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425"/>
              <a:buFont typeface="Arial"/>
              <a:buNone/>
            </a:pPr>
            <a:r>
              <a:rPr lang="en-US" sz="1425" b="0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René A. Rojas Robles  ·  Samuel Mathias  ·  Javier Gacitúa  ·  Juan Pablo Valdebenito</a:t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62000" y="5381625"/>
            <a:ext cx="10477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75"/>
              <a:buFont typeface="Arial"/>
              <a:buNone/>
            </a:pPr>
            <a:r>
              <a:rPr lang="en-US" sz="127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Roles preliminares: frontend/documentación · Scrum y negocio · </a:t>
            </a:r>
            <a:r>
              <a:rPr lang="en-US" sz="1275">
                <a:solidFill>
                  <a:schemeClr val="dk1"/>
                </a:solidFill>
              </a:rPr>
              <a:t>backend/pruebas ·</a:t>
            </a:r>
            <a:r>
              <a:rPr lang="en-US" sz="127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arquitectura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62000" y="6048375"/>
            <a:ext cx="3333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4 de septiembre de 2026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8413350" y="6048375"/>
            <a:ext cx="3465300" cy="5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chemeClr val="dk1"/>
                </a:solidFill>
              </a:rPr>
              <a:t>Docente: </a:t>
            </a:r>
            <a:r>
              <a:rPr lang="en-US" sz="1200" i="0">
                <a:solidFill>
                  <a:schemeClr val="dk1"/>
                </a:solidFill>
              </a:rPr>
              <a:t>A</a:t>
            </a:r>
            <a:r>
              <a:rPr lang="en-US" sz="1200">
                <a:solidFill>
                  <a:schemeClr val="dk1"/>
                </a:solidFill>
              </a:rPr>
              <a:t>rturo Guerra</a:t>
            </a:r>
            <a:r>
              <a:rPr lang="en-US" sz="1200" b="1" i="0">
                <a:solidFill>
                  <a:schemeClr val="dk1"/>
                </a:solidFill>
              </a:rPr>
              <a:t> · carrera: </a:t>
            </a:r>
            <a:r>
              <a:rPr lang="en-US" sz="1200" i="0">
                <a:solidFill>
                  <a:schemeClr val="dk1"/>
                </a:solidFill>
              </a:rPr>
              <a:t>Ingeniería en infor</a:t>
            </a:r>
            <a:r>
              <a:rPr lang="en-US" sz="1200">
                <a:solidFill>
                  <a:schemeClr val="dk1"/>
                </a:solidFill>
              </a:rPr>
              <a:t>mática</a:t>
            </a:r>
            <a:r>
              <a:rPr lang="en-US" sz="1200" b="1" i="0">
                <a:solidFill>
                  <a:schemeClr val="dk1"/>
                </a:solidFill>
              </a:rPr>
              <a:t> · sede: </a:t>
            </a:r>
            <a:r>
              <a:rPr lang="en-US" sz="1200">
                <a:solidFill>
                  <a:schemeClr val="dk1"/>
                </a:solidFill>
              </a:rPr>
              <a:t>Antonio varas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66750" y="304800"/>
            <a:ext cx="4095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BARB · PROPUESTA APT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1144250" y="30480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cxnSp>
        <p:nvCxnSpPr>
          <p:cNvPr id="34" name="Google Shape;34;p2"/>
          <p:cNvCxnSpPr/>
          <p:nvPr/>
        </p:nvCxnSpPr>
        <p:spPr>
          <a:xfrm>
            <a:off x="666750" y="6191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2"/>
          <p:cNvSpPr/>
          <p:nvPr/>
        </p:nvSpPr>
        <p:spPr>
          <a:xfrm>
            <a:off x="666750" y="809625"/>
            <a:ext cx="10572750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3192"/>
              <a:buFont typeface="Play"/>
              <a:buNone/>
            </a:pPr>
            <a:r>
              <a:rPr lang="en-US" sz="3193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BARB convierte cada intervención en conocimiento reutilizable</a:t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85800" y="1952625"/>
            <a:ext cx="6715125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2158"/>
              <a:buFont typeface="Play"/>
              <a:buNone/>
            </a:pPr>
            <a:r>
              <a:rPr lang="en-US" sz="2158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BARB es un</a:t>
            </a:r>
            <a:r>
              <a:rPr lang="en-US" sz="2158" b="1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 sistema multiplataforma </a:t>
            </a:r>
            <a:r>
              <a:rPr lang="en-US" sz="2158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para apoyar la gestión del mantenimiento industrial.</a:t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85800" y="2971800"/>
            <a:ext cx="65722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725"/>
              <a:buFont typeface="Arial"/>
              <a:buNone/>
            </a:pPr>
            <a:r>
              <a:rPr lang="en-US" sz="172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Centraliza activos, órdenes de trabajo, evidencias, repuestos, tiempos de intervención, alertas y métricas operacionales.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096250" y="1790700"/>
            <a:ext cx="2667000" cy="2667000"/>
          </a:xfrm>
          <a:prstGeom prst="rect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401050" y="2038350"/>
            <a:ext cx="19050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5250"/>
              <a:buFont typeface="Play"/>
              <a:buNone/>
            </a:pPr>
            <a:r>
              <a:rPr lang="en-US" sz="5250" b="1" i="0">
                <a:solidFill>
                  <a:srgbClr val="F36C21"/>
                </a:solidFill>
                <a:latin typeface="Play"/>
                <a:ea typeface="Play"/>
                <a:cs typeface="Play"/>
                <a:sym typeface="Play"/>
              </a:rPr>
              <a:t>1</a:t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401050" y="2952750"/>
            <a:ext cx="20002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lang="en-US" sz="19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NÚCLEO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lang="en-US" sz="19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OPERACIONAL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401050" y="3914775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orden de trabajo</a:t>
            </a:r>
            <a:endParaRPr/>
          </a:p>
        </p:txBody>
      </p:sp>
      <p:cxnSp>
        <p:nvCxnSpPr>
          <p:cNvPr id="42" name="Google Shape;42;p2"/>
          <p:cNvCxnSpPr/>
          <p:nvPr/>
        </p:nvCxnSpPr>
        <p:spPr>
          <a:xfrm>
            <a:off x="685800" y="4286250"/>
            <a:ext cx="6572250" cy="0"/>
          </a:xfrm>
          <a:prstGeom prst="straightConnector1">
            <a:avLst/>
          </a:prstGeom>
          <a:noFill/>
          <a:ln w="28575" cap="flat" cmpd="sng">
            <a:solidFill>
              <a:srgbClr val="F36C2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p2"/>
          <p:cNvSpPr/>
          <p:nvPr/>
        </p:nvSpPr>
        <p:spPr>
          <a:xfrm>
            <a:off x="685800" y="4524375"/>
            <a:ext cx="101917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350"/>
              <a:buFont typeface="Arial"/>
              <a:buNone/>
            </a:pPr>
            <a:r>
              <a:rPr lang="en-US" sz="1350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ACTIVOS  ·  EVIDENCIAS  ·  REPUESTOS  ·  TIEMPOS  ·  ALERTAS  ·  MÉTRICAS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85800" y="5191125"/>
            <a:ext cx="10287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2100"/>
              <a:buFont typeface="Play"/>
              <a:buNone/>
            </a:pPr>
            <a:r>
              <a:rPr lang="en-US" sz="2100" b="1" i="0">
                <a:solidFill>
                  <a:srgbClr val="F36C21"/>
                </a:solidFill>
                <a:latin typeface="Play"/>
                <a:ea typeface="Play"/>
                <a:cs typeface="Play"/>
                <a:sym typeface="Play"/>
              </a:rPr>
              <a:t>No es solo registrar tareas: cada resolución debe dejar trazabilidad y contexto para la próxima falla.</a:t>
            </a:r>
            <a:endParaRPr/>
          </a:p>
        </p:txBody>
      </p:sp>
      <p:cxnSp>
        <p:nvCxnSpPr>
          <p:cNvPr id="45" name="Google Shape;45;p2"/>
          <p:cNvCxnSpPr/>
          <p:nvPr/>
        </p:nvCxnSpPr>
        <p:spPr>
          <a:xfrm>
            <a:off x="666750" y="65246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2"/>
          <p:cNvSpPr/>
          <p:nvPr/>
        </p:nvSpPr>
        <p:spPr>
          <a:xfrm>
            <a:off x="666750" y="658177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8F"/>
              </a:buClr>
              <a:buSzPts val="975"/>
              <a:buFont typeface="Arial"/>
              <a:buNone/>
            </a:pPr>
            <a:r>
              <a:rPr lang="en-US" sz="975" b="0" i="0">
                <a:solidFill>
                  <a:srgbClr val="8A918F"/>
                </a:solidFill>
                <a:latin typeface="Arial"/>
                <a:ea typeface="Arial"/>
                <a:cs typeface="Arial"/>
                <a:sym typeface="Arial"/>
              </a:rPr>
              <a:t>Propuesta de proyecto · Fase 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66750" y="304800"/>
            <a:ext cx="4095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657078"/>
                </a:solidFill>
                <a:latin typeface="Arial"/>
                <a:ea typeface="Arial"/>
                <a:cs typeface="Arial"/>
                <a:sym typeface="Arial"/>
              </a:rPr>
              <a:t>BARB · PROPUESTA APT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1144250" y="30480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cxnSp>
        <p:nvCxnSpPr>
          <p:cNvPr id="55" name="Google Shape;55;p3"/>
          <p:cNvCxnSpPr/>
          <p:nvPr/>
        </p:nvCxnSpPr>
        <p:spPr>
          <a:xfrm>
            <a:off x="666750" y="6191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3"/>
          <p:cNvSpPr/>
          <p:nvPr/>
        </p:nvSpPr>
        <p:spPr>
          <a:xfrm>
            <a:off x="666750" y="809625"/>
            <a:ext cx="105727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3459"/>
              <a:buFont typeface="Play"/>
              <a:buNone/>
            </a:pPr>
            <a:r>
              <a:rPr lang="en-US" sz="3459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El tiempo se pierde antes, durante y después de la falla</a:t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85800" y="2143125"/>
            <a:ext cx="1047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3750"/>
              <a:buFont typeface="Play"/>
              <a:buNone/>
            </a:pPr>
            <a:r>
              <a:rPr lang="en-US" sz="3750" b="1" i="0">
                <a:solidFill>
                  <a:srgbClr val="F36C21"/>
                </a:solidFill>
                <a:latin typeface="Play"/>
                <a:ea typeface="Play"/>
                <a:cs typeface="Play"/>
                <a:sym typeface="Play"/>
              </a:rPr>
              <a:t>01</a:t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85800" y="2857500"/>
            <a:ext cx="31432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2025"/>
              <a:buFont typeface="Play"/>
              <a:buNone/>
            </a:pPr>
            <a:r>
              <a:rPr lang="en-US" sz="2025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Paradas no planificadas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85800" y="3695700"/>
            <a:ext cx="31432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97"/>
              <a:buFont typeface="Arial"/>
              <a:buNone/>
            </a:pPr>
            <a:r>
              <a:rPr lang="en-US" sz="1597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falla crítica puede detener la operación y sumar pérdida de producción, reparación, horas extra y retrasos.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60" name="Google Shape;60;p3"/>
          <p:cNvCxnSpPr/>
          <p:nvPr/>
        </p:nvCxnSpPr>
        <p:spPr>
          <a:xfrm>
            <a:off x="4019550" y="2143125"/>
            <a:ext cx="0" cy="285750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61;p3"/>
          <p:cNvSpPr/>
          <p:nvPr/>
        </p:nvSpPr>
        <p:spPr>
          <a:xfrm>
            <a:off x="4305300" y="2143125"/>
            <a:ext cx="1047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3750"/>
              <a:buFont typeface="Play"/>
              <a:buNone/>
            </a:pPr>
            <a:r>
              <a:rPr lang="en-US" sz="3750" b="1" i="0">
                <a:solidFill>
                  <a:srgbClr val="F36C21"/>
                </a:solidFill>
                <a:latin typeface="Play"/>
                <a:ea typeface="Play"/>
                <a:cs typeface="Play"/>
                <a:sym typeface="Play"/>
              </a:rPr>
              <a:t>02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305300" y="2857500"/>
            <a:ext cx="31432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2025"/>
              <a:buFont typeface="Play"/>
              <a:buNone/>
            </a:pPr>
            <a:r>
              <a:rPr lang="en-US" sz="2025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Información dispersa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4305300" y="3695700"/>
            <a:ext cx="31432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650"/>
              <a:buFont typeface="Arial"/>
              <a:buNone/>
            </a:pPr>
            <a:r>
              <a:rPr lang="en-US" sz="16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Manuales, fotografías, planos, reportes, correos y experiencia técnica viven en fuentes separadas.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7639050" y="2143125"/>
            <a:ext cx="0" cy="285750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" name="Google Shape;65;p3"/>
          <p:cNvSpPr/>
          <p:nvPr/>
        </p:nvSpPr>
        <p:spPr>
          <a:xfrm>
            <a:off x="7924800" y="2143125"/>
            <a:ext cx="1047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3750"/>
              <a:buFont typeface="Play"/>
              <a:buNone/>
            </a:pPr>
            <a:r>
              <a:rPr lang="en-US" sz="3750" b="1" i="0">
                <a:solidFill>
                  <a:srgbClr val="F36C21"/>
                </a:solidFill>
                <a:latin typeface="Play"/>
                <a:ea typeface="Play"/>
                <a:cs typeface="Play"/>
                <a:sym typeface="Play"/>
              </a:rPr>
              <a:t>03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7924800" y="2857500"/>
            <a:ext cx="314325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2025"/>
              <a:buFont typeface="Play"/>
              <a:buNone/>
            </a:pPr>
            <a:r>
              <a:rPr lang="en-US" sz="2025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Sin trazabilidad ni alertas</a:t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7924800" y="3695700"/>
            <a:ext cx="314325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650"/>
              <a:buFont typeface="Arial"/>
              <a:buNone/>
            </a:pPr>
            <a:r>
              <a:rPr lang="en-US" sz="16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OT puede vencer su SLA o quedar abierta sin notificación ni escalamiento oportuno.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85800" y="5400675"/>
            <a:ext cx="10839450" cy="68580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33450" y="5591175"/>
            <a:ext cx="103822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Play"/>
              <a:buNone/>
            </a:pPr>
            <a:r>
              <a:rPr lang="en-US" sz="1950" b="1" i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Reducir resolución  ·  mejorar trazabilidad  ·  conservar conocimiento</a:t>
            </a:r>
            <a:endParaRPr/>
          </a:p>
        </p:txBody>
      </p:sp>
      <p:cxnSp>
        <p:nvCxnSpPr>
          <p:cNvPr id="70" name="Google Shape;70;p3"/>
          <p:cNvCxnSpPr/>
          <p:nvPr/>
        </p:nvCxnSpPr>
        <p:spPr>
          <a:xfrm>
            <a:off x="666750" y="65246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3"/>
          <p:cNvSpPr/>
          <p:nvPr/>
        </p:nvSpPr>
        <p:spPr>
          <a:xfrm>
            <a:off x="666750" y="658177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8F"/>
              </a:buClr>
              <a:buSzPts val="975"/>
              <a:buFont typeface="Arial"/>
              <a:buNone/>
            </a:pPr>
            <a:r>
              <a:rPr lang="en-US" sz="975" b="0" i="0">
                <a:solidFill>
                  <a:srgbClr val="8A918F"/>
                </a:solidFill>
                <a:latin typeface="Arial"/>
                <a:ea typeface="Arial"/>
                <a:cs typeface="Arial"/>
                <a:sym typeface="Arial"/>
              </a:rPr>
              <a:t>Oportunidad de diseño · sin métricas externas incorporadas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66750" y="304800"/>
            <a:ext cx="4095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657078"/>
                </a:solidFill>
                <a:latin typeface="Arial"/>
                <a:ea typeface="Arial"/>
                <a:cs typeface="Arial"/>
                <a:sym typeface="Arial"/>
              </a:rPr>
              <a:t>BARB · PROPUESTA APT</a:t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1144250" y="30480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cxnSp>
        <p:nvCxnSpPr>
          <p:cNvPr id="80" name="Google Shape;80;p4"/>
          <p:cNvCxnSpPr/>
          <p:nvPr/>
        </p:nvCxnSpPr>
        <p:spPr>
          <a:xfrm>
            <a:off x="666750" y="6191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4"/>
          <p:cNvSpPr/>
          <p:nvPr/>
        </p:nvSpPr>
        <p:spPr>
          <a:xfrm>
            <a:off x="666750" y="809625"/>
            <a:ext cx="10572750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3462"/>
              <a:buFont typeface="Play"/>
              <a:buNone/>
            </a:pPr>
            <a:r>
              <a:rPr lang="en-US" sz="3463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El MVP prioriza a quienes crean y resuelven la OT</a:t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85800" y="1809750"/>
            <a:ext cx="1962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USUARIO</a:t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2762250" y="1809750"/>
            <a:ext cx="34671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NECESIDAD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343650" y="1809750"/>
            <a:ext cx="50673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VALOR QUE ENTREGA BARB</a:t>
            </a:r>
            <a:endParaRPr/>
          </a:p>
        </p:txBody>
      </p:sp>
      <p:cxnSp>
        <p:nvCxnSpPr>
          <p:cNvPr id="85" name="Google Shape;85;p4"/>
          <p:cNvCxnSpPr/>
          <p:nvPr/>
        </p:nvCxnSpPr>
        <p:spPr>
          <a:xfrm>
            <a:off x="685800" y="2133600"/>
            <a:ext cx="10839450" cy="0"/>
          </a:xfrm>
          <a:prstGeom prst="straightConnector1">
            <a:avLst/>
          </a:prstGeom>
          <a:noFill/>
          <a:ln w="19050" cap="flat" cmpd="sng">
            <a:solidFill>
              <a:srgbClr val="22262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4"/>
          <p:cNvSpPr/>
          <p:nvPr/>
        </p:nvSpPr>
        <p:spPr>
          <a:xfrm>
            <a:off x="685800" y="2238375"/>
            <a:ext cx="66675" cy="695325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19150" y="2362200"/>
            <a:ext cx="18478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500"/>
              <a:buFont typeface="Arial"/>
              <a:buNone/>
            </a:pPr>
            <a:r>
              <a:rPr lang="en-US" sz="1500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Técnico de mantenimiento</a:t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762250" y="2362200"/>
            <a:ext cx="3429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Resolver fallas rápidamente en terreno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6343650" y="2362200"/>
            <a:ext cx="5029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 OTs asignadas; registrar tiempo, repuestos, fotos y resolución.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90" name="Google Shape;90;p4"/>
          <p:cNvCxnSpPr/>
          <p:nvPr/>
        </p:nvCxnSpPr>
        <p:spPr>
          <a:xfrm>
            <a:off x="685800" y="2943225"/>
            <a:ext cx="1083945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4"/>
          <p:cNvSpPr/>
          <p:nvPr/>
        </p:nvSpPr>
        <p:spPr>
          <a:xfrm>
            <a:off x="685800" y="2943225"/>
            <a:ext cx="66675" cy="695325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19150" y="3067050"/>
            <a:ext cx="18478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500"/>
              <a:buFont typeface="Arial"/>
              <a:buNone/>
            </a:pPr>
            <a:r>
              <a:rPr lang="en-US" sz="1500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Supervisor de planta</a:t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2762250" y="3067050"/>
            <a:ext cx="3429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Coordinar técnicos y cumplir plazos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343650" y="3067050"/>
            <a:ext cx="5029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Crear, asignar, priorizar y monitorear órdenes de trabajo.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95" name="Google Shape;95;p4"/>
          <p:cNvCxnSpPr/>
          <p:nvPr/>
        </p:nvCxnSpPr>
        <p:spPr>
          <a:xfrm>
            <a:off x="685800" y="3648075"/>
            <a:ext cx="1083945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4"/>
          <p:cNvSpPr/>
          <p:nvPr/>
        </p:nvSpPr>
        <p:spPr>
          <a:xfrm>
            <a:off x="819150" y="3771900"/>
            <a:ext cx="18478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500"/>
              <a:buFont typeface="Arial"/>
              <a:buNone/>
            </a:pPr>
            <a:r>
              <a:rPr lang="en-US" sz="1500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Gerente de mantenimiento</a:t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2762250" y="3771900"/>
            <a:ext cx="3429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Tener visibilidad operacional y financiera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343650" y="3771900"/>
            <a:ext cx="5029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Revisar KPIs, downtime, costos, recurrencias y reportes.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685800" y="4352925"/>
            <a:ext cx="1083945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4"/>
          <p:cNvSpPr/>
          <p:nvPr/>
        </p:nvSpPr>
        <p:spPr>
          <a:xfrm>
            <a:off x="819150" y="4476750"/>
            <a:ext cx="18478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500"/>
              <a:buFont typeface="Arial"/>
              <a:buNone/>
            </a:pPr>
            <a:r>
              <a:rPr lang="en-US" sz="1500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2762250" y="4476750"/>
            <a:ext cx="3429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Configurar y controlar la plataforma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343650" y="4476750"/>
            <a:ext cx="5029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 usuarios, roles, permisos y auditoría.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03" name="Google Shape;103;p4"/>
          <p:cNvCxnSpPr/>
          <p:nvPr/>
        </p:nvCxnSpPr>
        <p:spPr>
          <a:xfrm>
            <a:off x="685800" y="5057775"/>
            <a:ext cx="1083945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4"/>
          <p:cNvSpPr/>
          <p:nvPr/>
        </p:nvSpPr>
        <p:spPr>
          <a:xfrm>
            <a:off x="819150" y="5181600"/>
            <a:ext cx="18478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500"/>
              <a:buFont typeface="Arial"/>
              <a:buNone/>
            </a:pPr>
            <a:r>
              <a:rPr lang="en-US" sz="1500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Visualizador o auditor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762250" y="5181600"/>
            <a:ext cx="3429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Consultar sin modificar información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343650" y="5181600"/>
            <a:ext cx="5029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Revisar historial, trazabilidad, dashboard y reportes.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07" name="Google Shape;107;p4"/>
          <p:cNvCxnSpPr/>
          <p:nvPr/>
        </p:nvCxnSpPr>
        <p:spPr>
          <a:xfrm>
            <a:off x="685800" y="5762625"/>
            <a:ext cx="1083945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8" name="Google Shape;108;p4"/>
          <p:cNvSpPr/>
          <p:nvPr/>
        </p:nvSpPr>
        <p:spPr>
          <a:xfrm>
            <a:off x="685800" y="5934075"/>
            <a:ext cx="952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125"/>
              <a:buFont typeface="Arial"/>
              <a:buNone/>
            </a:pPr>
            <a:r>
              <a:rPr lang="en-US" sz="1125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FOCO MVP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1762125" y="5905500"/>
            <a:ext cx="8858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725"/>
              <a:buFont typeface="Arial"/>
              <a:buNone/>
            </a:pPr>
            <a:r>
              <a:rPr lang="en-US" sz="1725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Supervisor + técnico: crear, asignar, resolver y documentar una OT.</a:t>
            </a:r>
            <a:endParaRPr/>
          </a:p>
        </p:txBody>
      </p:sp>
      <p:cxnSp>
        <p:nvCxnSpPr>
          <p:cNvPr id="110" name="Google Shape;110;p4"/>
          <p:cNvCxnSpPr/>
          <p:nvPr/>
        </p:nvCxnSpPr>
        <p:spPr>
          <a:xfrm>
            <a:off x="666750" y="65246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4"/>
          <p:cNvSpPr/>
          <p:nvPr/>
        </p:nvSpPr>
        <p:spPr>
          <a:xfrm>
            <a:off x="666750" y="658177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8F"/>
              </a:buClr>
              <a:buSzPts val="975"/>
              <a:buFont typeface="Arial"/>
              <a:buNone/>
            </a:pPr>
            <a:r>
              <a:rPr lang="en-US" sz="975" b="0" i="0">
                <a:solidFill>
                  <a:srgbClr val="8A918F"/>
                </a:solidFill>
                <a:latin typeface="Arial"/>
                <a:ea typeface="Arial"/>
                <a:cs typeface="Arial"/>
                <a:sym typeface="Arial"/>
              </a:rPr>
              <a:t>Propuesta de proyecto · Fase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66750" y="304800"/>
            <a:ext cx="4095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657078"/>
                </a:solidFill>
                <a:latin typeface="Arial"/>
                <a:ea typeface="Arial"/>
                <a:cs typeface="Arial"/>
                <a:sym typeface="Arial"/>
              </a:rPr>
              <a:t>BARB · PROPUESTA APT</a:t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11144250" y="30480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cxnSp>
        <p:nvCxnSpPr>
          <p:cNvPr id="120" name="Google Shape;120;p5"/>
          <p:cNvCxnSpPr/>
          <p:nvPr/>
        </p:nvCxnSpPr>
        <p:spPr>
          <a:xfrm>
            <a:off x="666750" y="6191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5"/>
          <p:cNvSpPr/>
          <p:nvPr/>
        </p:nvSpPr>
        <p:spPr>
          <a:xfrm>
            <a:off x="666750" y="809625"/>
            <a:ext cx="10572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3192"/>
              <a:buFont typeface="Play"/>
              <a:buNone/>
            </a:pPr>
            <a:r>
              <a:rPr lang="en-US" sz="3193" b="1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ALCANCE DEL MVP</a:t>
            </a:r>
            <a:endParaRPr sz="3193" b="1">
              <a:solidFill>
                <a:srgbClr val="222629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3192"/>
              <a:buFont typeface="Play"/>
              <a:buNone/>
            </a:pPr>
            <a:endParaRPr sz="3193" b="1">
              <a:solidFill>
                <a:srgbClr val="222629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685800" y="2266950"/>
            <a:ext cx="3238500" cy="290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22" marR="0" lvl="0" indent="-12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Autenticación y acceso por roles</a:t>
            </a:r>
            <a:endParaRPr/>
          </a:p>
          <a:p>
            <a:pPr marL="22" marR="0" lvl="0" indent="-12" algn="l" rtl="0">
              <a:lnSpc>
                <a:spcPct val="102000"/>
              </a:lnSpc>
              <a:spcBef>
                <a:spcPts val="13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Gestión básica de activos</a:t>
            </a:r>
            <a:endParaRPr/>
          </a:p>
          <a:p>
            <a:pPr marL="22" marR="0" lvl="0" indent="-12" algn="l" rtl="0">
              <a:lnSpc>
                <a:spcPct val="102000"/>
              </a:lnSpc>
              <a:spcBef>
                <a:spcPts val="13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Crear y asignar órdenes de trabajo</a:t>
            </a:r>
            <a:endParaRPr/>
          </a:p>
          <a:p>
            <a:pPr marL="22" marR="0" lvl="0" indent="-12" algn="l" rtl="0">
              <a:lnSpc>
                <a:spcPct val="102000"/>
              </a:lnSpc>
              <a:spcBef>
                <a:spcPts val="13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Cambios de estado controlados</a:t>
            </a:r>
            <a:endParaRPr/>
          </a:p>
          <a:p>
            <a:pPr marL="22" marR="0" lvl="0" indent="-12" algn="l" rtl="0">
              <a:lnSpc>
                <a:spcPct val="102000"/>
              </a:lnSpc>
              <a:spcBef>
                <a:spcPts val="13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Horas, downtime, comentarios y repuestos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4520587" y="2224163"/>
            <a:ext cx="3238500" cy="29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22" lvl="0" indent="-11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50"/>
              <a:buFont typeface="Arial"/>
              <a:buNone/>
            </a:pPr>
            <a:r>
              <a:rPr lang="en-US" sz="1650">
                <a:solidFill>
                  <a:schemeClr val="dk2"/>
                </a:solidFill>
              </a:rPr>
              <a:t>Evidencia fotográfica o documental</a:t>
            </a:r>
            <a:endParaRPr>
              <a:solidFill>
                <a:schemeClr val="dk1"/>
              </a:solidFill>
            </a:endParaRPr>
          </a:p>
          <a:p>
            <a:pPr marL="22" lvl="0" indent="-11" algn="l" rtl="0">
              <a:lnSpc>
                <a:spcPct val="102000"/>
              </a:lnSpc>
              <a:spcBef>
                <a:spcPts val="13"/>
              </a:spcBef>
              <a:spcAft>
                <a:spcPts val="0"/>
              </a:spcAft>
              <a:buClr>
                <a:schemeClr val="dk2"/>
              </a:buClr>
              <a:buSzPts val="1650"/>
              <a:buFont typeface="Arial"/>
              <a:buNone/>
            </a:pPr>
            <a:r>
              <a:rPr lang="en-US" sz="1650">
                <a:solidFill>
                  <a:schemeClr val="dk2"/>
                </a:solidFill>
              </a:rPr>
              <a:t>Almacenamiento persistente</a:t>
            </a:r>
            <a:endParaRPr>
              <a:solidFill>
                <a:schemeClr val="dk1"/>
              </a:solidFill>
            </a:endParaRPr>
          </a:p>
          <a:p>
            <a:pPr marL="22" lvl="0" indent="-11" algn="l" rtl="0">
              <a:lnSpc>
                <a:spcPct val="102000"/>
              </a:lnSpc>
              <a:spcBef>
                <a:spcPts val="13"/>
              </a:spcBef>
              <a:spcAft>
                <a:spcPts val="0"/>
              </a:spcAft>
              <a:buClr>
                <a:schemeClr val="dk2"/>
              </a:buClr>
              <a:buSzPts val="1650"/>
              <a:buFont typeface="Arial"/>
              <a:buNone/>
            </a:pPr>
            <a:r>
              <a:rPr lang="en-US" sz="1650">
                <a:solidFill>
                  <a:schemeClr val="dk2"/>
                </a:solidFill>
              </a:rPr>
              <a:t>Alertas de OT crítica o vencida</a:t>
            </a:r>
            <a:endParaRPr>
              <a:solidFill>
                <a:schemeClr val="dk1"/>
              </a:solidFill>
            </a:endParaRPr>
          </a:p>
          <a:p>
            <a:pPr marL="22" lvl="0" indent="-11" algn="l" rtl="0">
              <a:lnSpc>
                <a:spcPct val="102000"/>
              </a:lnSpc>
              <a:spcBef>
                <a:spcPts val="13"/>
              </a:spcBef>
              <a:spcAft>
                <a:spcPts val="0"/>
              </a:spcAft>
              <a:buClr>
                <a:schemeClr val="dk2"/>
              </a:buClr>
              <a:buSzPts val="1650"/>
              <a:buFont typeface="Arial"/>
              <a:buNone/>
            </a:pPr>
            <a:r>
              <a:rPr lang="en-US" sz="1650">
                <a:solidFill>
                  <a:schemeClr val="dk2"/>
                </a:solidFill>
              </a:rPr>
              <a:t>Dashboard con indicadores esenciales</a:t>
            </a:r>
            <a:endParaRPr>
              <a:solidFill>
                <a:schemeClr val="dk1"/>
              </a:solidFill>
            </a:endParaRPr>
          </a:p>
          <a:p>
            <a:pPr marL="22" lvl="0" indent="-11" algn="l" rtl="0">
              <a:lnSpc>
                <a:spcPct val="102000"/>
              </a:lnSpc>
              <a:spcBef>
                <a:spcPts val="13"/>
              </a:spcBef>
              <a:spcAft>
                <a:spcPts val="0"/>
              </a:spcAft>
              <a:buClr>
                <a:schemeClr val="dk2"/>
              </a:buClr>
              <a:buSzPts val="1650"/>
              <a:buFont typeface="Arial"/>
              <a:buNone/>
            </a:pPr>
            <a:r>
              <a:rPr lang="en-US" sz="1650">
                <a:solidFill>
                  <a:schemeClr val="dk2"/>
                </a:solidFill>
              </a:rPr>
              <a:t>Pruebas automatizadas de flujos críticos</a:t>
            </a:r>
            <a:endParaRPr>
              <a:solidFill>
                <a:schemeClr val="dk1"/>
              </a:solidFill>
            </a:endParaRPr>
          </a:p>
          <a:p>
            <a:pPr marL="22" marR="0" lvl="0" indent="-12" algn="l" rtl="0">
              <a:lnSpc>
                <a:spcPct val="102000"/>
              </a:lnSpc>
              <a:spcBef>
                <a:spcPts val="13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Arial"/>
              <a:buNone/>
            </a:pPr>
            <a:endParaRPr sz="1650">
              <a:solidFill>
                <a:srgbClr val="222629"/>
              </a:solidFill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85800" y="5505450"/>
            <a:ext cx="10839450" cy="666750"/>
          </a:xfrm>
          <a:prstGeom prst="rect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14400" y="5686425"/>
            <a:ext cx="10382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44"/>
              <a:buFont typeface="Play"/>
              <a:buNone/>
            </a:pPr>
            <a:r>
              <a:rPr lang="en-US" sz="1845" b="1" i="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Prometer menos, validar mejor: construir primero la gestión trazable de órdenes de trabajo.</a:t>
            </a:r>
            <a:endParaRPr/>
          </a:p>
        </p:txBody>
      </p:sp>
      <p:cxnSp>
        <p:nvCxnSpPr>
          <p:cNvPr id="126" name="Google Shape;126;p5"/>
          <p:cNvCxnSpPr/>
          <p:nvPr/>
        </p:nvCxnSpPr>
        <p:spPr>
          <a:xfrm>
            <a:off x="666750" y="65246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" name="Google Shape;127;p5"/>
          <p:cNvSpPr/>
          <p:nvPr/>
        </p:nvSpPr>
        <p:spPr>
          <a:xfrm>
            <a:off x="666750" y="658177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8F"/>
              </a:buClr>
              <a:buSzPts val="975"/>
              <a:buFont typeface="Arial"/>
              <a:buNone/>
            </a:pPr>
            <a:r>
              <a:rPr lang="en-US" sz="975" b="0" i="0">
                <a:solidFill>
                  <a:srgbClr val="8A918F"/>
                </a:solidFill>
                <a:latin typeface="Arial"/>
                <a:ea typeface="Arial"/>
                <a:cs typeface="Arial"/>
                <a:sym typeface="Arial"/>
              </a:rPr>
              <a:t>Propuesta de proyecto · Fase 1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209400" y="1747763"/>
            <a:ext cx="476400" cy="476400"/>
          </a:xfrm>
          <a:prstGeom prst="ellipse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09400" y="1823963"/>
            <a:ext cx="476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4147323" y="1662113"/>
            <a:ext cx="476400" cy="476400"/>
          </a:xfrm>
          <a:prstGeom prst="ellipse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147323" y="1738313"/>
            <a:ext cx="476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8037729" y="1728725"/>
            <a:ext cx="476400" cy="476400"/>
          </a:xfrm>
          <a:prstGeom prst="ellipse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037729" y="1804925"/>
            <a:ext cx="4764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8499393" y="2180100"/>
            <a:ext cx="3000000" cy="25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" lvl="0" indent="-11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2"/>
                </a:solidFill>
              </a:rPr>
              <a:t>Evidencia fotográfica o documental</a:t>
            </a:r>
            <a:endParaRPr>
              <a:solidFill>
                <a:schemeClr val="dk1"/>
              </a:solidFill>
            </a:endParaRPr>
          </a:p>
          <a:p>
            <a:pPr marL="22" lvl="0" indent="-11" algn="l" rtl="0">
              <a:lnSpc>
                <a:spcPct val="102000"/>
              </a:lnSpc>
              <a:spcBef>
                <a:spcPts val="13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2"/>
                </a:solidFill>
              </a:rPr>
              <a:t>Almacenamiento persistente</a:t>
            </a:r>
            <a:endParaRPr>
              <a:solidFill>
                <a:schemeClr val="dk1"/>
              </a:solidFill>
            </a:endParaRPr>
          </a:p>
          <a:p>
            <a:pPr marL="22" lvl="0" indent="-11" algn="l" rtl="0">
              <a:lnSpc>
                <a:spcPct val="102000"/>
              </a:lnSpc>
              <a:spcBef>
                <a:spcPts val="13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2"/>
                </a:solidFill>
              </a:rPr>
              <a:t>Alertas de OT crítica o vencida</a:t>
            </a:r>
            <a:endParaRPr>
              <a:solidFill>
                <a:schemeClr val="dk1"/>
              </a:solidFill>
            </a:endParaRPr>
          </a:p>
          <a:p>
            <a:pPr marL="22" lvl="0" indent="-11" algn="l" rtl="0">
              <a:lnSpc>
                <a:spcPct val="102000"/>
              </a:lnSpc>
              <a:spcBef>
                <a:spcPts val="13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2"/>
                </a:solidFill>
              </a:rPr>
              <a:t>Dashboard con indicadores esenciales</a:t>
            </a:r>
            <a:endParaRPr>
              <a:solidFill>
                <a:schemeClr val="dk1"/>
              </a:solidFill>
            </a:endParaRPr>
          </a:p>
          <a:p>
            <a:pPr marL="22" lvl="0" indent="-11" algn="l" rtl="0">
              <a:lnSpc>
                <a:spcPct val="102000"/>
              </a:lnSpc>
              <a:spcBef>
                <a:spcPts val="13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dk2"/>
                </a:solidFill>
              </a:rPr>
              <a:t>Pruebas automatizadas de flujos críticos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66750" y="304800"/>
            <a:ext cx="4095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657078"/>
                </a:solidFill>
                <a:latin typeface="Arial"/>
                <a:ea typeface="Arial"/>
                <a:cs typeface="Arial"/>
                <a:sym typeface="Arial"/>
              </a:rPr>
              <a:t>BARB · PROPUESTA APT</a:t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11144250" y="30480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cxnSp>
        <p:nvCxnSpPr>
          <p:cNvPr id="143" name="Google Shape;143;p6"/>
          <p:cNvCxnSpPr/>
          <p:nvPr/>
        </p:nvCxnSpPr>
        <p:spPr>
          <a:xfrm>
            <a:off x="666750" y="6191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4" name="Google Shape;144;p6"/>
          <p:cNvSpPr/>
          <p:nvPr/>
        </p:nvSpPr>
        <p:spPr>
          <a:xfrm>
            <a:off x="666750" y="809625"/>
            <a:ext cx="10572750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3462"/>
              <a:buFont typeface="Play"/>
              <a:buNone/>
            </a:pPr>
            <a:r>
              <a:rPr lang="en-US" sz="3463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El valor aparece cuando la OT fluye de punta a punta</a:t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857250" y="2095500"/>
            <a:ext cx="476250" cy="476250"/>
          </a:xfrm>
          <a:prstGeom prst="ellipse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57250" y="2171700"/>
            <a:ext cx="476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619125" y="2714625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Play"/>
              <a:buNone/>
            </a:pPr>
            <a:r>
              <a:rPr lang="en-US" sz="16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Detectar necesidad</a:t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619125" y="324802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350"/>
              <a:buFont typeface="Arial"/>
              <a:buNone/>
            </a:pPr>
            <a:r>
              <a:rPr lang="en-US" sz="13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619500" y="2095500"/>
            <a:ext cx="476250" cy="476250"/>
          </a:xfrm>
          <a:prstGeom prst="ellipse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3619500" y="2171700"/>
            <a:ext cx="476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3381375" y="2714625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Play"/>
              <a:buNone/>
            </a:pPr>
            <a:r>
              <a:rPr lang="en-US" sz="16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Crear OT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3381375" y="324802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350"/>
              <a:buFont typeface="Arial"/>
              <a:buNone/>
            </a:pPr>
            <a:r>
              <a:rPr lang="en-US" sz="13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Prioridad + SLA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381750" y="2095500"/>
            <a:ext cx="476250" cy="476250"/>
          </a:xfrm>
          <a:prstGeom prst="ellipse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381750" y="2171700"/>
            <a:ext cx="476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143625" y="2714625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Play"/>
              <a:buNone/>
            </a:pPr>
            <a:r>
              <a:rPr lang="en-US" sz="16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Asignar técnico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6143625" y="324802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350"/>
              <a:buFont typeface="Arial"/>
              <a:buNone/>
            </a:pPr>
            <a:r>
              <a:rPr lang="en-US" sz="13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Responsable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9144000" y="2095500"/>
            <a:ext cx="476250" cy="476250"/>
          </a:xfrm>
          <a:prstGeom prst="ellipse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9144000" y="2171700"/>
            <a:ext cx="476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8905875" y="2714625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Play"/>
              <a:buNone/>
            </a:pPr>
            <a:r>
              <a:rPr lang="en-US" sz="16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Iniciar trabajo</a:t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8905875" y="324802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350"/>
              <a:buFont typeface="Arial"/>
              <a:buNone/>
            </a:pPr>
            <a:r>
              <a:rPr lang="en-US" sz="13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Técnico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9144000" y="4095750"/>
            <a:ext cx="476250" cy="476250"/>
          </a:xfrm>
          <a:prstGeom prst="ellipse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9144000" y="4171950"/>
            <a:ext cx="476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8905875" y="4638675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Play"/>
              <a:buNone/>
            </a:pPr>
            <a:r>
              <a:rPr lang="en-US" sz="16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Registrar ejecución</a:t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8905875" y="517207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350"/>
              <a:buFont typeface="Arial"/>
              <a:buNone/>
            </a:pPr>
            <a:r>
              <a:rPr lang="en-US" sz="13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Tiempo + repuestos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381750" y="4095750"/>
            <a:ext cx="476250" cy="476250"/>
          </a:xfrm>
          <a:prstGeom prst="ellipse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381750" y="4171950"/>
            <a:ext cx="476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143625" y="4638675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Play"/>
              <a:buNone/>
            </a:pPr>
            <a:r>
              <a:rPr lang="en-US" sz="16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Adjuntar evidencia</a:t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6143625" y="517207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350"/>
              <a:buFont typeface="Arial"/>
              <a:buNone/>
            </a:pPr>
            <a:r>
              <a:rPr lang="en-US" sz="13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Fotos + notas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619500" y="4095750"/>
            <a:ext cx="476250" cy="476250"/>
          </a:xfrm>
          <a:prstGeom prst="ellipse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619500" y="4171950"/>
            <a:ext cx="476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3381375" y="4638675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Play"/>
              <a:buNone/>
            </a:pPr>
            <a:r>
              <a:rPr lang="en-US" sz="16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Completar y cerrar</a:t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3381375" y="517207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350"/>
              <a:buFont typeface="Arial"/>
              <a:buNone/>
            </a:pPr>
            <a:r>
              <a:rPr lang="en-US" sz="13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Resolución validada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57250" y="4095750"/>
            <a:ext cx="476250" cy="476250"/>
          </a:xfrm>
          <a:prstGeom prst="ellipse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57250" y="4171950"/>
            <a:ext cx="476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Arial"/>
              <a:buNone/>
            </a:pPr>
            <a:r>
              <a:rPr lang="en-US" sz="157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19125" y="4638675"/>
            <a:ext cx="20955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Play"/>
              <a:buNone/>
            </a:pPr>
            <a:r>
              <a:rPr lang="en-US" sz="16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Actualizar KPIs</a:t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619125" y="517207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350"/>
              <a:buFont typeface="Arial"/>
              <a:buNone/>
            </a:pPr>
            <a:r>
              <a:rPr lang="en-US" sz="135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Costos + fallas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77" name="Google Shape;177;p6"/>
          <p:cNvCxnSpPr>
            <a:stCxn id="145" idx="6"/>
            <a:endCxn id="149" idx="2"/>
          </p:cNvCxnSpPr>
          <p:nvPr/>
        </p:nvCxnSpPr>
        <p:spPr>
          <a:xfrm>
            <a:off x="1333500" y="2333625"/>
            <a:ext cx="2286000" cy="0"/>
          </a:xfrm>
          <a:prstGeom prst="straightConnector1">
            <a:avLst/>
          </a:prstGeom>
          <a:noFill/>
          <a:ln w="19050" cap="flat" cmpd="sng">
            <a:solidFill>
              <a:srgbClr val="F36C2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78" name="Google Shape;178;p6"/>
          <p:cNvCxnSpPr>
            <a:stCxn id="149" idx="6"/>
            <a:endCxn id="153" idx="2"/>
          </p:cNvCxnSpPr>
          <p:nvPr/>
        </p:nvCxnSpPr>
        <p:spPr>
          <a:xfrm>
            <a:off x="4095750" y="2333625"/>
            <a:ext cx="2286000" cy="0"/>
          </a:xfrm>
          <a:prstGeom prst="straightConnector1">
            <a:avLst/>
          </a:prstGeom>
          <a:noFill/>
          <a:ln w="19050" cap="flat" cmpd="sng">
            <a:solidFill>
              <a:srgbClr val="F36C2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79" name="Google Shape;179;p6"/>
          <p:cNvCxnSpPr>
            <a:stCxn id="153" idx="6"/>
            <a:endCxn id="157" idx="2"/>
          </p:cNvCxnSpPr>
          <p:nvPr/>
        </p:nvCxnSpPr>
        <p:spPr>
          <a:xfrm>
            <a:off x="6858000" y="2333625"/>
            <a:ext cx="2286000" cy="0"/>
          </a:xfrm>
          <a:prstGeom prst="straightConnector1">
            <a:avLst/>
          </a:prstGeom>
          <a:noFill/>
          <a:ln w="19050" cap="flat" cmpd="sng">
            <a:solidFill>
              <a:srgbClr val="F36C2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0" name="Google Shape;180;p6"/>
          <p:cNvCxnSpPr>
            <a:stCxn id="157" idx="4"/>
            <a:endCxn id="161" idx="0"/>
          </p:cNvCxnSpPr>
          <p:nvPr/>
        </p:nvCxnSpPr>
        <p:spPr>
          <a:xfrm>
            <a:off x="9382125" y="2571750"/>
            <a:ext cx="0" cy="1524000"/>
          </a:xfrm>
          <a:prstGeom prst="straightConnector1">
            <a:avLst/>
          </a:prstGeom>
          <a:noFill/>
          <a:ln w="19050" cap="flat" cmpd="sng">
            <a:solidFill>
              <a:srgbClr val="F36C2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1" name="Google Shape;181;p6"/>
          <p:cNvCxnSpPr>
            <a:stCxn id="161" idx="2"/>
            <a:endCxn id="165" idx="6"/>
          </p:cNvCxnSpPr>
          <p:nvPr/>
        </p:nvCxnSpPr>
        <p:spPr>
          <a:xfrm rot="10800000">
            <a:off x="6858000" y="4333875"/>
            <a:ext cx="2286000" cy="0"/>
          </a:xfrm>
          <a:prstGeom prst="straightConnector1">
            <a:avLst/>
          </a:prstGeom>
          <a:noFill/>
          <a:ln w="19050" cap="flat" cmpd="sng">
            <a:solidFill>
              <a:srgbClr val="F36C2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2" name="Google Shape;182;p6"/>
          <p:cNvCxnSpPr>
            <a:stCxn id="165" idx="2"/>
            <a:endCxn id="169" idx="6"/>
          </p:cNvCxnSpPr>
          <p:nvPr/>
        </p:nvCxnSpPr>
        <p:spPr>
          <a:xfrm rot="10800000">
            <a:off x="4095750" y="4333875"/>
            <a:ext cx="2286000" cy="0"/>
          </a:xfrm>
          <a:prstGeom prst="straightConnector1">
            <a:avLst/>
          </a:prstGeom>
          <a:noFill/>
          <a:ln w="19050" cap="flat" cmpd="sng">
            <a:solidFill>
              <a:srgbClr val="F36C2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183" name="Google Shape;183;p6"/>
          <p:cNvCxnSpPr>
            <a:stCxn id="169" idx="2"/>
            <a:endCxn id="173" idx="6"/>
          </p:cNvCxnSpPr>
          <p:nvPr/>
        </p:nvCxnSpPr>
        <p:spPr>
          <a:xfrm rot="10800000">
            <a:off x="1333500" y="4333875"/>
            <a:ext cx="2286000" cy="0"/>
          </a:xfrm>
          <a:prstGeom prst="straightConnector1">
            <a:avLst/>
          </a:prstGeom>
          <a:noFill/>
          <a:ln w="19050" cap="flat" cmpd="sng">
            <a:solidFill>
              <a:srgbClr val="F36C2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84" name="Google Shape;184;p6"/>
          <p:cNvSpPr/>
          <p:nvPr/>
        </p:nvSpPr>
        <p:spPr>
          <a:xfrm>
            <a:off x="685800" y="5781675"/>
            <a:ext cx="10839450" cy="457200"/>
          </a:xfrm>
          <a:prstGeom prst="rect">
            <a:avLst/>
          </a:prstGeom>
          <a:solidFill>
            <a:srgbClr val="FBE2D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857250" y="5915025"/>
            <a:ext cx="762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125"/>
              <a:buFont typeface="Arial"/>
              <a:buNone/>
            </a:pPr>
            <a:r>
              <a:rPr lang="en-US" sz="1125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ALERTA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1714500" y="5876925"/>
            <a:ext cx="94297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496"/>
              <a:buFont typeface="Arial"/>
              <a:buNone/>
            </a:pPr>
            <a:r>
              <a:rPr lang="en-US" sz="1497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Si la OT es crítica o supera su SLA, BARB envía una notificación y habilita escalamiento.</a:t>
            </a:r>
            <a:endParaRPr/>
          </a:p>
        </p:txBody>
      </p:sp>
      <p:cxnSp>
        <p:nvCxnSpPr>
          <p:cNvPr id="187" name="Google Shape;187;p6"/>
          <p:cNvCxnSpPr/>
          <p:nvPr/>
        </p:nvCxnSpPr>
        <p:spPr>
          <a:xfrm>
            <a:off x="666750" y="65246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6"/>
          <p:cNvSpPr/>
          <p:nvPr/>
        </p:nvSpPr>
        <p:spPr>
          <a:xfrm>
            <a:off x="666750" y="658177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8F"/>
              </a:buClr>
              <a:buSzPts val="975"/>
              <a:buFont typeface="Arial"/>
              <a:buNone/>
            </a:pPr>
            <a:r>
              <a:rPr lang="en-US" sz="975" b="0" i="0">
                <a:solidFill>
                  <a:srgbClr val="8A918F"/>
                </a:solidFill>
                <a:latin typeface="Arial"/>
                <a:ea typeface="Arial"/>
                <a:cs typeface="Arial"/>
                <a:sym typeface="Arial"/>
              </a:rPr>
              <a:t>Propuesta de proyecto · Fase 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66750" y="304800"/>
            <a:ext cx="4095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657078"/>
                </a:solidFill>
                <a:latin typeface="Arial"/>
                <a:ea typeface="Arial"/>
                <a:cs typeface="Arial"/>
                <a:sym typeface="Arial"/>
              </a:rPr>
              <a:t>BARB · PROPUESTA APT</a:t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11144250" y="30480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cxnSp>
        <p:nvCxnSpPr>
          <p:cNvPr id="197" name="Google Shape;197;p7"/>
          <p:cNvCxnSpPr/>
          <p:nvPr/>
        </p:nvCxnSpPr>
        <p:spPr>
          <a:xfrm>
            <a:off x="666750" y="6191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8" name="Google Shape;198;p7"/>
          <p:cNvSpPr/>
          <p:nvPr/>
        </p:nvSpPr>
        <p:spPr>
          <a:xfrm>
            <a:off x="666750" y="809625"/>
            <a:ext cx="105727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3600"/>
              <a:buFont typeface="Play"/>
              <a:buNone/>
            </a:pPr>
            <a:r>
              <a:rPr lang="en-US" sz="360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Roles claros, trabajo compartido</a:t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685800" y="1495425"/>
            <a:ext cx="10382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75"/>
              <a:buFont typeface="Arial"/>
              <a:buNone/>
            </a:pPr>
            <a:r>
              <a:rPr lang="en-US" sz="157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Especialización sin silos: todos participan en planificación, revisión y aceptación.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85800" y="1885950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INTEGRANTE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190875" y="1885950"/>
            <a:ext cx="26193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ROL PRINCIPAL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5953125" y="1885950"/>
            <a:ext cx="5429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RESPONSABILIDAD</a:t>
            </a:r>
            <a:endParaRPr/>
          </a:p>
        </p:txBody>
      </p:sp>
      <p:cxnSp>
        <p:nvCxnSpPr>
          <p:cNvPr id="203" name="Google Shape;203;p7"/>
          <p:cNvCxnSpPr/>
          <p:nvPr/>
        </p:nvCxnSpPr>
        <p:spPr>
          <a:xfrm>
            <a:off x="685800" y="2171700"/>
            <a:ext cx="10839450" cy="0"/>
          </a:xfrm>
          <a:prstGeom prst="straightConnector1">
            <a:avLst/>
          </a:prstGeom>
          <a:noFill/>
          <a:ln w="19050" cap="flat" cmpd="sng">
            <a:solidFill>
              <a:srgbClr val="22262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4" name="Google Shape;204;p7"/>
          <p:cNvSpPr/>
          <p:nvPr/>
        </p:nvSpPr>
        <p:spPr>
          <a:xfrm>
            <a:off x="685800" y="2400300"/>
            <a:ext cx="2362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500"/>
              <a:buFont typeface="Arial"/>
              <a:buNone/>
            </a:pPr>
            <a:r>
              <a:rPr lang="en-US" sz="1500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René A. Rojas Robles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3190875" y="2400300"/>
            <a:ext cx="2619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Frontend y documentación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953125" y="240030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Interfaz, Figma, consumo de API, UX, manuales y evidencias.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07" name="Google Shape;207;p7"/>
          <p:cNvCxnSpPr/>
          <p:nvPr/>
        </p:nvCxnSpPr>
        <p:spPr>
          <a:xfrm>
            <a:off x="685800" y="2868083"/>
            <a:ext cx="1083945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8" name="Google Shape;208;p7"/>
          <p:cNvSpPr/>
          <p:nvPr/>
        </p:nvSpPr>
        <p:spPr>
          <a:xfrm>
            <a:off x="685800" y="3033179"/>
            <a:ext cx="2362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500"/>
              <a:buFont typeface="Arial"/>
              <a:buNone/>
            </a:pPr>
            <a:r>
              <a:rPr lang="en-US" sz="1500" b="1" i="0" dirty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Samuel Mathias</a:t>
            </a:r>
            <a:endParaRPr dirty="0"/>
          </a:p>
        </p:txBody>
      </p:sp>
      <p:sp>
        <p:nvSpPr>
          <p:cNvPr id="209" name="Google Shape;209;p7"/>
          <p:cNvSpPr/>
          <p:nvPr/>
        </p:nvSpPr>
        <p:spPr>
          <a:xfrm>
            <a:off x="3190875" y="3033179"/>
            <a:ext cx="2619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 Master y negocio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953125" y="3033179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Jira, reuniones, acuerdos, riesgos y enlace con Alloxentric.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11" name="Google Shape;211;p7"/>
          <p:cNvCxnSpPr/>
          <p:nvPr/>
        </p:nvCxnSpPr>
        <p:spPr>
          <a:xfrm>
            <a:off x="685800" y="3594100"/>
            <a:ext cx="1083945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2" name="Google Shape;212;p7"/>
          <p:cNvSpPr/>
          <p:nvPr/>
        </p:nvSpPr>
        <p:spPr>
          <a:xfrm>
            <a:off x="685800" y="3767665"/>
            <a:ext cx="2362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 b="1" dirty="0">
                <a:solidFill>
                  <a:schemeClr val="dk2"/>
                </a:solidFill>
              </a:rPr>
              <a:t>Juan Pablo Valdebenito</a:t>
            </a:r>
            <a:endParaRPr dirty="0"/>
          </a:p>
        </p:txBody>
      </p:sp>
      <p:sp>
        <p:nvSpPr>
          <p:cNvPr id="213" name="Google Shape;213;p7"/>
          <p:cNvSpPr/>
          <p:nvPr/>
        </p:nvSpPr>
        <p:spPr>
          <a:xfrm>
            <a:off x="3190875" y="3767665"/>
            <a:ext cx="2619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Arquitecto de software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953125" y="3767665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Arquitectura, datos, API, seguridad, integración y decisiones técnicas.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15" name="Google Shape;215;p7"/>
          <p:cNvCxnSpPr/>
          <p:nvPr/>
        </p:nvCxnSpPr>
        <p:spPr>
          <a:xfrm>
            <a:off x="677333" y="4286252"/>
            <a:ext cx="1083945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6" name="Google Shape;216;p7"/>
          <p:cNvSpPr/>
          <p:nvPr/>
        </p:nvSpPr>
        <p:spPr>
          <a:xfrm>
            <a:off x="685800" y="4468283"/>
            <a:ext cx="2362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 b="1" dirty="0">
                <a:solidFill>
                  <a:schemeClr val="dk2"/>
                </a:solidFill>
              </a:rPr>
              <a:t>Javier </a:t>
            </a:r>
            <a:r>
              <a:rPr lang="en-US" sz="1500" b="1" dirty="0" err="1">
                <a:solidFill>
                  <a:schemeClr val="dk2"/>
                </a:solidFill>
              </a:rPr>
              <a:t>Gacitúa</a:t>
            </a:r>
            <a:endParaRPr sz="1500" b="1" dirty="0">
              <a:solidFill>
                <a:srgbClr val="222629"/>
              </a:solidFill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3190875" y="4468283"/>
            <a:ext cx="2619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 y pruebas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953125" y="4468283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FastAPI, base de datos, lógica, endpoints y pruebas.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19" name="Google Shape;219;p7"/>
          <p:cNvCxnSpPr/>
          <p:nvPr/>
        </p:nvCxnSpPr>
        <p:spPr>
          <a:xfrm>
            <a:off x="685800" y="5579535"/>
            <a:ext cx="108394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0" name="Google Shape;220;p7"/>
          <p:cNvSpPr/>
          <p:nvPr/>
        </p:nvSpPr>
        <p:spPr>
          <a:xfrm>
            <a:off x="685800" y="5789085"/>
            <a:ext cx="166687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125"/>
              <a:buFont typeface="Arial"/>
              <a:buNone/>
            </a:pPr>
            <a:r>
              <a:rPr lang="en-US" sz="1125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FORMA DE TRABAJO</a:t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85800" y="6093885"/>
            <a:ext cx="108394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447"/>
              <a:buFont typeface="Arial"/>
              <a:buNone/>
            </a:pPr>
            <a:r>
              <a:rPr lang="en-US" sz="1447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Backlog Jira  →  Sprint Planning  →  Desarrollo  →  Code Review  →  Pruebas  →  Demo / Feedback  →  Retrospectiva</a:t>
            </a:r>
            <a:endParaRPr/>
          </a:p>
        </p:txBody>
      </p:sp>
      <p:cxnSp>
        <p:nvCxnSpPr>
          <p:cNvPr id="222" name="Google Shape;222;p7"/>
          <p:cNvCxnSpPr/>
          <p:nvPr/>
        </p:nvCxnSpPr>
        <p:spPr>
          <a:xfrm>
            <a:off x="666750" y="65246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3" name="Google Shape;223;p7"/>
          <p:cNvSpPr/>
          <p:nvPr/>
        </p:nvSpPr>
        <p:spPr>
          <a:xfrm>
            <a:off x="666750" y="658177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8F"/>
              </a:buClr>
              <a:buSzPts val="975"/>
              <a:buFont typeface="Arial"/>
              <a:buNone/>
            </a:pPr>
            <a:r>
              <a:rPr lang="en-US" sz="975" b="0" i="0">
                <a:solidFill>
                  <a:srgbClr val="8A918F"/>
                </a:solidFill>
                <a:latin typeface="Arial"/>
                <a:ea typeface="Arial"/>
                <a:cs typeface="Arial"/>
                <a:sym typeface="Arial"/>
              </a:rPr>
              <a:t>Propuesta de proyecto · Fase 1</a:t>
            </a:r>
            <a:endParaRPr/>
          </a:p>
        </p:txBody>
      </p:sp>
      <p:cxnSp>
        <p:nvCxnSpPr>
          <p:cNvPr id="2" name="Google Shape;215;p7">
            <a:extLst>
              <a:ext uri="{FF2B5EF4-FFF2-40B4-BE49-F238E27FC236}">
                <a16:creationId xmlns:a16="http://schemas.microsoft.com/office/drawing/2014/main" id="{0E0AD5FC-59D8-DAA1-FB08-FBAC671FED41}"/>
              </a:ext>
            </a:extLst>
          </p:cNvPr>
          <p:cNvCxnSpPr/>
          <p:nvPr/>
        </p:nvCxnSpPr>
        <p:spPr>
          <a:xfrm>
            <a:off x="761997" y="4946652"/>
            <a:ext cx="1083945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216;p7">
            <a:extLst>
              <a:ext uri="{FF2B5EF4-FFF2-40B4-BE49-F238E27FC236}">
                <a16:creationId xmlns:a16="http://schemas.microsoft.com/office/drawing/2014/main" id="{080BB11C-52B5-C21B-F7BF-75F0F88573F4}"/>
              </a:ext>
            </a:extLst>
          </p:cNvPr>
          <p:cNvSpPr/>
          <p:nvPr/>
        </p:nvSpPr>
        <p:spPr>
          <a:xfrm>
            <a:off x="702730" y="5010150"/>
            <a:ext cx="2362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</a:pPr>
            <a:r>
              <a:rPr lang="en-US" sz="1500" b="1">
                <a:solidFill>
                  <a:schemeClr val="dk2"/>
                </a:solidFill>
              </a:rPr>
              <a:t>Karina Alvarez</a:t>
            </a:r>
            <a:endParaRPr sz="1500" b="1" dirty="0">
              <a:solidFill>
                <a:srgbClr val="222629"/>
              </a:solidFill>
            </a:endParaRPr>
          </a:p>
        </p:txBody>
      </p:sp>
      <p:sp>
        <p:nvSpPr>
          <p:cNvPr id="6" name="Google Shape;217;p7">
            <a:extLst>
              <a:ext uri="{FF2B5EF4-FFF2-40B4-BE49-F238E27FC236}">
                <a16:creationId xmlns:a16="http://schemas.microsoft.com/office/drawing/2014/main" id="{48FFF3E7-8C61-2B1A-74DD-2E5948BB0273}"/>
              </a:ext>
            </a:extLst>
          </p:cNvPr>
          <p:cNvSpPr/>
          <p:nvPr/>
        </p:nvSpPr>
        <p:spPr>
          <a:xfrm>
            <a:off x="3207805" y="5010150"/>
            <a:ext cx="2619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 Owner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" name="Google Shape;218;p7">
            <a:extLst>
              <a:ext uri="{FF2B5EF4-FFF2-40B4-BE49-F238E27FC236}">
                <a16:creationId xmlns:a16="http://schemas.microsoft.com/office/drawing/2014/main" id="{F14F7937-DFCE-40DA-4964-7EE4CBC1216B}"/>
              </a:ext>
            </a:extLst>
          </p:cNvPr>
          <p:cNvSpPr/>
          <p:nvPr/>
        </p:nvSpPr>
        <p:spPr>
          <a:xfrm>
            <a:off x="5970055" y="50101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Entendimiento</a:t>
            </a:r>
            <a:r>
              <a:rPr lang="en-US" sz="1500" b="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del </a:t>
            </a:r>
            <a:r>
              <a:rPr lang="en-US" sz="1500" b="0" i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negocio</a:t>
            </a:r>
            <a:r>
              <a:rPr lang="en-US" sz="1500" b="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500" b="0" i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nivel</a:t>
            </a:r>
            <a:r>
              <a:rPr lang="en-US" sz="1500" b="0" i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66750" y="304800"/>
            <a:ext cx="4095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BARB · PROPUESTA APT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11144250" y="30480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cxnSp>
        <p:nvCxnSpPr>
          <p:cNvPr id="232" name="Google Shape;232;p8"/>
          <p:cNvCxnSpPr/>
          <p:nvPr/>
        </p:nvCxnSpPr>
        <p:spPr>
          <a:xfrm>
            <a:off x="666750" y="6191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p8"/>
          <p:cNvSpPr/>
          <p:nvPr/>
        </p:nvSpPr>
        <p:spPr>
          <a:xfrm>
            <a:off x="666750" y="809625"/>
            <a:ext cx="105727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3432"/>
              <a:buFont typeface="Play"/>
              <a:buNone/>
            </a:pPr>
            <a:r>
              <a:rPr lang="en-US" sz="3433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Arquitectura simple para probar el flujo crítico</a:t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685800" y="1495425"/>
            <a:ext cx="10382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75"/>
              <a:buFont typeface="Arial"/>
              <a:buNone/>
            </a:pPr>
            <a:r>
              <a:rPr lang="en-US" sz="157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Capas claras, almacenamiento persistente y alertas automatizadas.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762500" y="1809750"/>
            <a:ext cx="2667000" cy="45720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4762500" y="1914525"/>
            <a:ext cx="26670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8"/>
              <a:buFont typeface="Arial"/>
              <a:buNone/>
            </a:pPr>
            <a:r>
              <a:rPr lang="en-US" sz="1268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USUARIOS · supervisor · técnico</a:t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3714750" y="2571750"/>
            <a:ext cx="4762500" cy="590550"/>
          </a:xfrm>
          <a:prstGeom prst="rect">
            <a:avLst/>
          </a:prstGeom>
          <a:solidFill>
            <a:srgbClr val="FBF8F2"/>
          </a:solidFill>
          <a:ln w="19050" cap="flat" cmpd="sng">
            <a:solidFill>
              <a:srgbClr val="2226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905250" y="2743200"/>
            <a:ext cx="4381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85000"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435"/>
              <a:buFont typeface="Arial"/>
              <a:buNone/>
            </a:pPr>
            <a:r>
              <a:rPr lang="en-US" sz="1436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FRONTEND WEB  ·  Vue 3 + TypeScript + Vite + Tailwind</a:t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3143250" y="3581400"/>
            <a:ext cx="5905500" cy="800100"/>
          </a:xfrm>
          <a:prstGeom prst="rect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3429000" y="3714750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Arial"/>
              <a:buNone/>
            </a:pPr>
            <a:r>
              <a:rPr lang="en-US" sz="172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  ·  FastAPI + Python</a:t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3429000" y="4076700"/>
            <a:ext cx="5334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Autenticación · activos · OTs · alertas · auditoría · dashboard</a:t>
            </a:r>
            <a:endParaRPr/>
          </a:p>
        </p:txBody>
      </p:sp>
      <p:cxnSp>
        <p:nvCxnSpPr>
          <p:cNvPr id="242" name="Google Shape;242;p8"/>
          <p:cNvCxnSpPr>
            <a:stCxn id="235" idx="2"/>
            <a:endCxn id="237" idx="0"/>
          </p:cNvCxnSpPr>
          <p:nvPr/>
        </p:nvCxnSpPr>
        <p:spPr>
          <a:xfrm>
            <a:off x="6096000" y="2266950"/>
            <a:ext cx="0" cy="304800"/>
          </a:xfrm>
          <a:prstGeom prst="straightConnector1">
            <a:avLst/>
          </a:prstGeom>
          <a:noFill/>
          <a:ln w="19050" cap="flat" cmpd="sng">
            <a:solidFill>
              <a:srgbClr val="F36C2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43" name="Google Shape;243;p8"/>
          <p:cNvCxnSpPr>
            <a:stCxn id="237" idx="2"/>
            <a:endCxn id="239" idx="0"/>
          </p:cNvCxnSpPr>
          <p:nvPr/>
        </p:nvCxnSpPr>
        <p:spPr>
          <a:xfrm>
            <a:off x="6096000" y="3162300"/>
            <a:ext cx="0" cy="419100"/>
          </a:xfrm>
          <a:prstGeom prst="straightConnector1">
            <a:avLst/>
          </a:prstGeom>
          <a:noFill/>
          <a:ln w="19050" cap="flat" cmpd="sng">
            <a:solidFill>
              <a:srgbClr val="F36C21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244" name="Google Shape;244;p8"/>
          <p:cNvSpPr/>
          <p:nvPr/>
        </p:nvSpPr>
        <p:spPr>
          <a:xfrm>
            <a:off x="685800" y="5191125"/>
            <a:ext cx="2362200" cy="666750"/>
          </a:xfrm>
          <a:prstGeom prst="rect">
            <a:avLst/>
          </a:prstGeom>
          <a:solidFill>
            <a:srgbClr val="FBF8F2"/>
          </a:solidFill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800100" y="5314950"/>
            <a:ext cx="21336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425"/>
              <a:buFont typeface="Arial"/>
              <a:buNone/>
            </a:pPr>
            <a:r>
              <a:rPr lang="en-US" sz="1425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800100" y="5572125"/>
            <a:ext cx="2133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Datos y auditoría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47" name="Google Shape;247;p8"/>
          <p:cNvCxnSpPr>
            <a:stCxn id="239" idx="2"/>
            <a:endCxn id="244" idx="0"/>
          </p:cNvCxnSpPr>
          <p:nvPr/>
        </p:nvCxnSpPr>
        <p:spPr>
          <a:xfrm rot="5400000">
            <a:off x="3576600" y="2671800"/>
            <a:ext cx="809700" cy="4229100"/>
          </a:xfrm>
          <a:prstGeom prst="bentConnector4">
            <a:avLst>
              <a:gd name="adj1" fmla="val 0"/>
              <a:gd name="adj2" fmla="val 0"/>
            </a:avLst>
          </a:prstGeom>
          <a:noFill/>
          <a:ln w="14275" cap="flat" cmpd="sng">
            <a:solidFill>
              <a:srgbClr val="657078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248" name="Google Shape;248;p8"/>
          <p:cNvSpPr/>
          <p:nvPr/>
        </p:nvSpPr>
        <p:spPr>
          <a:xfrm>
            <a:off x="3409950" y="5191125"/>
            <a:ext cx="2362200" cy="666750"/>
          </a:xfrm>
          <a:prstGeom prst="rect">
            <a:avLst/>
          </a:prstGeom>
          <a:solidFill>
            <a:srgbClr val="FBF8F2"/>
          </a:solidFill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524250" y="5314950"/>
            <a:ext cx="21336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425"/>
              <a:buFont typeface="Arial"/>
              <a:buNone/>
            </a:pPr>
            <a:r>
              <a:rPr lang="en-US" sz="1425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Object Storage</a:t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3524250" y="5572125"/>
            <a:ext cx="2133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Fotos y PDFs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51" name="Google Shape;251;p8"/>
          <p:cNvCxnSpPr>
            <a:stCxn id="239" idx="2"/>
            <a:endCxn id="248" idx="0"/>
          </p:cNvCxnSpPr>
          <p:nvPr/>
        </p:nvCxnSpPr>
        <p:spPr>
          <a:xfrm rot="5400000">
            <a:off x="4938750" y="4033950"/>
            <a:ext cx="809700" cy="1504800"/>
          </a:xfrm>
          <a:prstGeom prst="bentConnector4">
            <a:avLst>
              <a:gd name="adj1" fmla="val 0"/>
              <a:gd name="adj2" fmla="val 0"/>
            </a:avLst>
          </a:prstGeom>
          <a:noFill/>
          <a:ln w="14275" cap="flat" cmpd="sng">
            <a:solidFill>
              <a:srgbClr val="657078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252" name="Google Shape;252;p8"/>
          <p:cNvSpPr/>
          <p:nvPr/>
        </p:nvSpPr>
        <p:spPr>
          <a:xfrm>
            <a:off x="6134100" y="5191125"/>
            <a:ext cx="2362200" cy="666750"/>
          </a:xfrm>
          <a:prstGeom prst="rect">
            <a:avLst/>
          </a:prstGeom>
          <a:solidFill>
            <a:srgbClr val="FBF8F2"/>
          </a:solidFill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6248400" y="5314950"/>
            <a:ext cx="21336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425"/>
              <a:buFont typeface="Arial"/>
              <a:buNone/>
            </a:pPr>
            <a:r>
              <a:rPr lang="en-US" sz="1425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Worker</a:t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6248400" y="5572125"/>
            <a:ext cx="2133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SLA y tareas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55" name="Google Shape;255;p8"/>
          <p:cNvCxnSpPr>
            <a:stCxn id="239" idx="2"/>
            <a:endCxn id="252" idx="0"/>
          </p:cNvCxnSpPr>
          <p:nvPr/>
        </p:nvCxnSpPr>
        <p:spPr>
          <a:xfrm rot="-5400000" flipH="1">
            <a:off x="6300750" y="4176750"/>
            <a:ext cx="809700" cy="1219200"/>
          </a:xfrm>
          <a:prstGeom prst="bentConnector4">
            <a:avLst>
              <a:gd name="adj1" fmla="val 0"/>
              <a:gd name="adj2" fmla="val 0"/>
            </a:avLst>
          </a:prstGeom>
          <a:noFill/>
          <a:ln w="14275" cap="flat" cmpd="sng">
            <a:solidFill>
              <a:srgbClr val="657078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256" name="Google Shape;256;p8"/>
          <p:cNvSpPr/>
          <p:nvPr/>
        </p:nvSpPr>
        <p:spPr>
          <a:xfrm>
            <a:off x="8858250" y="5191125"/>
            <a:ext cx="2362200" cy="666750"/>
          </a:xfrm>
          <a:prstGeom prst="rect">
            <a:avLst/>
          </a:prstGeom>
          <a:solidFill>
            <a:srgbClr val="FBF8F2"/>
          </a:solidFill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8972550" y="5314950"/>
            <a:ext cx="21336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425"/>
              <a:buFont typeface="Arial"/>
              <a:buNone/>
            </a:pPr>
            <a:r>
              <a:rPr lang="en-US" sz="1425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8972550" y="5572125"/>
            <a:ext cx="21336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Notificaciones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59" name="Google Shape;259;p8"/>
          <p:cNvCxnSpPr>
            <a:stCxn id="239" idx="2"/>
            <a:endCxn id="256" idx="0"/>
          </p:cNvCxnSpPr>
          <p:nvPr/>
        </p:nvCxnSpPr>
        <p:spPr>
          <a:xfrm rot="-5400000" flipH="1">
            <a:off x="7662900" y="2814600"/>
            <a:ext cx="809700" cy="3943500"/>
          </a:xfrm>
          <a:prstGeom prst="bentConnector4">
            <a:avLst>
              <a:gd name="adj1" fmla="val 0"/>
              <a:gd name="adj2" fmla="val 0"/>
            </a:avLst>
          </a:prstGeom>
          <a:noFill/>
          <a:ln w="14275" cap="flat" cmpd="sng">
            <a:solidFill>
              <a:srgbClr val="657078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260" name="Google Shape;260;p8"/>
          <p:cNvSpPr/>
          <p:nvPr/>
        </p:nvSpPr>
        <p:spPr>
          <a:xfrm>
            <a:off x="685800" y="6115050"/>
            <a:ext cx="838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CALIDAD  ·  pytest + Vitest + Playwright     GESTIÓN  ·  Jira + Git/GitHub + Figma/Miro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8858250" y="6115050"/>
            <a:ext cx="2667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109"/>
              <a:buFont typeface="Arial"/>
              <a:buNone/>
            </a:pPr>
            <a:r>
              <a:rPr lang="en-US" sz="1110" b="0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Stack sujeto a validación con Alloxentric.</a:t>
            </a:r>
            <a:endParaRPr/>
          </a:p>
        </p:txBody>
      </p:sp>
      <p:cxnSp>
        <p:nvCxnSpPr>
          <p:cNvPr id="262" name="Google Shape;262;p8"/>
          <p:cNvCxnSpPr/>
          <p:nvPr/>
        </p:nvCxnSpPr>
        <p:spPr>
          <a:xfrm>
            <a:off x="666750" y="65246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3" name="Google Shape;263;p8"/>
          <p:cNvSpPr/>
          <p:nvPr/>
        </p:nvSpPr>
        <p:spPr>
          <a:xfrm>
            <a:off x="666750" y="658177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8F"/>
              </a:buClr>
              <a:buSzPts val="975"/>
              <a:buFont typeface="Arial"/>
              <a:buNone/>
            </a:pPr>
            <a:r>
              <a:rPr lang="en-US" sz="97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Propuesta de proyecto · Fase 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66750" y="304800"/>
            <a:ext cx="4095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BARB · PROPUESTA APT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1144250" y="30480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cxnSp>
        <p:nvCxnSpPr>
          <p:cNvPr id="272" name="Google Shape;272;p9"/>
          <p:cNvCxnSpPr/>
          <p:nvPr/>
        </p:nvCxnSpPr>
        <p:spPr>
          <a:xfrm>
            <a:off x="666750" y="6191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3" name="Google Shape;273;p9"/>
          <p:cNvSpPr/>
          <p:nvPr/>
        </p:nvSpPr>
        <p:spPr>
          <a:xfrm>
            <a:off x="666750" y="809625"/>
            <a:ext cx="105727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3189"/>
              <a:buFont typeface="Play"/>
              <a:buNone/>
            </a:pPr>
            <a:r>
              <a:rPr lang="en-US" sz="3189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La primera evidencia visual será un wireflow validable en Figma</a:t>
            </a:r>
            <a:endParaRPr/>
          </a:p>
        </p:txBody>
      </p:sp>
      <p:sp>
        <p:nvSpPr>
          <p:cNvPr id="274" name="Google Shape;274;p9"/>
          <p:cNvSpPr/>
          <p:nvPr/>
        </p:nvSpPr>
        <p:spPr>
          <a:xfrm>
            <a:off x="685800" y="1495425"/>
            <a:ext cx="10382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75"/>
              <a:buFont typeface="Arial"/>
              <a:buNone/>
            </a:pPr>
            <a:r>
              <a:rPr lang="en-US" sz="157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simula un producto terminado: define pantallas, acciones y criterios de aceptación.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85800" y="2047875"/>
            <a:ext cx="419100" cy="41910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685800" y="2133600"/>
            <a:ext cx="419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Arial"/>
              <a:buNone/>
            </a:pPr>
            <a:r>
              <a:rPr lang="en-US" sz="142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685800" y="2686050"/>
            <a:ext cx="2286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950"/>
              <a:buFont typeface="Play"/>
              <a:buNone/>
            </a:pPr>
            <a:r>
              <a:rPr lang="en-US" sz="19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Login</a:t>
            </a:r>
            <a:endParaRPr/>
          </a:p>
        </p:txBody>
      </p:sp>
      <p:cxnSp>
        <p:nvCxnSpPr>
          <p:cNvPr id="278" name="Google Shape;278;p9"/>
          <p:cNvCxnSpPr/>
          <p:nvPr/>
        </p:nvCxnSpPr>
        <p:spPr>
          <a:xfrm>
            <a:off x="685800" y="3390900"/>
            <a:ext cx="2286000" cy="0"/>
          </a:xfrm>
          <a:prstGeom prst="straightConnector1">
            <a:avLst/>
          </a:prstGeom>
          <a:noFill/>
          <a:ln w="28575" cap="flat" cmpd="sng">
            <a:solidFill>
              <a:srgbClr val="F36C2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9" name="Google Shape;279;p9"/>
          <p:cNvSpPr/>
          <p:nvPr/>
        </p:nvSpPr>
        <p:spPr>
          <a:xfrm>
            <a:off x="685800" y="3600450"/>
            <a:ext cx="23336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18" marR="0" lvl="0" indent="-1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425"/>
              <a:buFont typeface="Arial"/>
              <a:buNone/>
            </a:pPr>
            <a:r>
              <a:rPr lang="en-US" sz="14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Correo + contraseña</a:t>
            </a:r>
            <a:endParaRPr>
              <a:solidFill>
                <a:schemeClr val="dk1"/>
              </a:solidFill>
            </a:endParaRPr>
          </a:p>
          <a:p>
            <a:pPr marL="18" marR="0" lvl="0" indent="-10" algn="l" rtl="0">
              <a:lnSpc>
                <a:spcPct val="102000"/>
              </a:lnSpc>
              <a:spcBef>
                <a:spcPts val="10"/>
              </a:spcBef>
              <a:spcAft>
                <a:spcPts val="0"/>
              </a:spcAft>
              <a:buClr>
                <a:srgbClr val="657078"/>
              </a:buClr>
              <a:buSzPts val="1425"/>
              <a:buFont typeface="Arial"/>
              <a:buNone/>
            </a:pPr>
            <a:r>
              <a:rPr lang="en-US" sz="14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Acceso por rol</a:t>
            </a:r>
            <a:endParaRPr>
              <a:solidFill>
                <a:schemeClr val="dk1"/>
              </a:solidFill>
            </a:endParaRPr>
          </a:p>
          <a:p>
            <a:pPr marL="18" marR="0" lvl="0" indent="-10" algn="l" rtl="0">
              <a:lnSpc>
                <a:spcPct val="102000"/>
              </a:lnSpc>
              <a:spcBef>
                <a:spcPts val="10"/>
              </a:spcBef>
              <a:spcAft>
                <a:spcPts val="0"/>
              </a:spcAft>
              <a:buClr>
                <a:srgbClr val="657078"/>
              </a:buClr>
              <a:buSzPts val="1425"/>
              <a:buFont typeface="Arial"/>
              <a:buNone/>
            </a:pPr>
            <a:r>
              <a:rPr lang="en-US" sz="14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Identidad BARB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409950" y="2047875"/>
            <a:ext cx="419100" cy="419100"/>
          </a:xfrm>
          <a:prstGeom prst="rect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3409950" y="2133600"/>
            <a:ext cx="419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Arial"/>
              <a:buNone/>
            </a:pPr>
            <a:r>
              <a:rPr lang="en-US" sz="142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3409950" y="2686050"/>
            <a:ext cx="2286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950"/>
              <a:buFont typeface="Play"/>
              <a:buNone/>
            </a:pPr>
            <a:r>
              <a:rPr lang="en-US" sz="19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Dashboard supervisor</a:t>
            </a:r>
            <a:endParaRPr/>
          </a:p>
        </p:txBody>
      </p:sp>
      <p:cxnSp>
        <p:nvCxnSpPr>
          <p:cNvPr id="283" name="Google Shape;283;p9"/>
          <p:cNvCxnSpPr/>
          <p:nvPr/>
        </p:nvCxnSpPr>
        <p:spPr>
          <a:xfrm>
            <a:off x="3409950" y="3390900"/>
            <a:ext cx="2286000" cy="0"/>
          </a:xfrm>
          <a:prstGeom prst="straightConnector1">
            <a:avLst/>
          </a:prstGeom>
          <a:noFill/>
          <a:ln w="28575" cap="flat" cmpd="sng">
            <a:solidFill>
              <a:srgbClr val="22262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4" name="Google Shape;284;p9"/>
          <p:cNvSpPr/>
          <p:nvPr/>
        </p:nvSpPr>
        <p:spPr>
          <a:xfrm>
            <a:off x="3409950" y="3600450"/>
            <a:ext cx="23336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18" marR="0" lvl="0" indent="-1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425"/>
              <a:buFont typeface="Arial"/>
              <a:buNone/>
            </a:pPr>
            <a:r>
              <a:rPr lang="en-US" sz="14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OTs abiertas / vencidas</a:t>
            </a:r>
            <a:endParaRPr>
              <a:solidFill>
                <a:schemeClr val="dk1"/>
              </a:solidFill>
            </a:endParaRPr>
          </a:p>
          <a:p>
            <a:pPr marL="18" marR="0" lvl="0" indent="-10" algn="l" rtl="0">
              <a:lnSpc>
                <a:spcPct val="102000"/>
              </a:lnSpc>
              <a:spcBef>
                <a:spcPts val="10"/>
              </a:spcBef>
              <a:spcAft>
                <a:spcPts val="0"/>
              </a:spcAft>
              <a:buClr>
                <a:srgbClr val="657078"/>
              </a:buClr>
              <a:buSzPts val="1425"/>
              <a:buFont typeface="Arial"/>
              <a:buNone/>
            </a:pPr>
            <a:r>
              <a:rPr lang="en-US" sz="14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Críticas + downtime</a:t>
            </a:r>
            <a:endParaRPr>
              <a:solidFill>
                <a:schemeClr val="dk1"/>
              </a:solidFill>
            </a:endParaRPr>
          </a:p>
          <a:p>
            <a:pPr marL="18" marR="0" lvl="0" indent="-10" algn="l" rtl="0">
              <a:lnSpc>
                <a:spcPct val="102000"/>
              </a:lnSpc>
              <a:spcBef>
                <a:spcPts val="10"/>
              </a:spcBef>
              <a:spcAft>
                <a:spcPts val="0"/>
              </a:spcAft>
              <a:buClr>
                <a:srgbClr val="657078"/>
              </a:buClr>
              <a:buSzPts val="1425"/>
              <a:buFont typeface="Arial"/>
              <a:buNone/>
            </a:pPr>
            <a:r>
              <a:rPr lang="en-US" sz="14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Acción: crear OT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134100" y="2047875"/>
            <a:ext cx="419100" cy="419100"/>
          </a:xfrm>
          <a:prstGeom prst="rect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134100" y="2133600"/>
            <a:ext cx="419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Arial"/>
              <a:buNone/>
            </a:pPr>
            <a:r>
              <a:rPr lang="en-US" sz="142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6134100" y="2686050"/>
            <a:ext cx="2286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950"/>
              <a:buFont typeface="Play"/>
              <a:buNone/>
            </a:pPr>
            <a:r>
              <a:rPr lang="en-US" sz="19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Crear orden de trabajo</a:t>
            </a:r>
            <a:endParaRPr/>
          </a:p>
        </p:txBody>
      </p:sp>
      <p:cxnSp>
        <p:nvCxnSpPr>
          <p:cNvPr id="288" name="Google Shape;288;p9"/>
          <p:cNvCxnSpPr/>
          <p:nvPr/>
        </p:nvCxnSpPr>
        <p:spPr>
          <a:xfrm>
            <a:off x="6134100" y="3390900"/>
            <a:ext cx="2286000" cy="0"/>
          </a:xfrm>
          <a:prstGeom prst="straightConnector1">
            <a:avLst/>
          </a:prstGeom>
          <a:noFill/>
          <a:ln w="28575" cap="flat" cmpd="sng">
            <a:solidFill>
              <a:srgbClr val="22262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9" name="Google Shape;289;p9"/>
          <p:cNvSpPr/>
          <p:nvPr/>
        </p:nvSpPr>
        <p:spPr>
          <a:xfrm>
            <a:off x="6134100" y="3600450"/>
            <a:ext cx="23336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18" marR="0" lvl="0" indent="-1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425"/>
              <a:buFont typeface="Arial"/>
              <a:buNone/>
            </a:pPr>
            <a:r>
              <a:rPr lang="en-US" sz="14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Activo + prioridad</a:t>
            </a:r>
            <a:endParaRPr>
              <a:solidFill>
                <a:schemeClr val="dk1"/>
              </a:solidFill>
            </a:endParaRPr>
          </a:p>
          <a:p>
            <a:pPr marL="18" marR="0" lvl="0" indent="-10" algn="l" rtl="0">
              <a:lnSpc>
                <a:spcPct val="102000"/>
              </a:lnSpc>
              <a:spcBef>
                <a:spcPts val="10"/>
              </a:spcBef>
              <a:spcAft>
                <a:spcPts val="0"/>
              </a:spcAft>
              <a:buClr>
                <a:srgbClr val="657078"/>
              </a:buClr>
              <a:buSzPts val="1425"/>
              <a:buFont typeface="Arial"/>
              <a:buNone/>
            </a:pPr>
            <a:r>
              <a:rPr lang="en-US" sz="14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Técnico + fecha/SLA</a:t>
            </a:r>
            <a:endParaRPr>
              <a:solidFill>
                <a:schemeClr val="dk1"/>
              </a:solidFill>
            </a:endParaRPr>
          </a:p>
          <a:p>
            <a:pPr marL="18" marR="0" lvl="0" indent="-10" algn="l" rtl="0">
              <a:lnSpc>
                <a:spcPct val="102000"/>
              </a:lnSpc>
              <a:spcBef>
                <a:spcPts val="10"/>
              </a:spcBef>
              <a:spcAft>
                <a:spcPts val="0"/>
              </a:spcAft>
              <a:buClr>
                <a:srgbClr val="657078"/>
              </a:buClr>
              <a:buSzPts val="1425"/>
              <a:buFont typeface="Arial"/>
              <a:buNone/>
            </a:pPr>
            <a:r>
              <a:rPr lang="en-US" sz="14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Acción: crear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8858250" y="2047875"/>
            <a:ext cx="419100" cy="419100"/>
          </a:xfrm>
          <a:prstGeom prst="rect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8858250" y="2133600"/>
            <a:ext cx="419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Arial"/>
              <a:buNone/>
            </a:pPr>
            <a:r>
              <a:rPr lang="en-US" sz="1425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8858250" y="2686050"/>
            <a:ext cx="2286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950"/>
              <a:buFont typeface="Play"/>
              <a:buNone/>
            </a:pPr>
            <a:r>
              <a:rPr lang="en-US" sz="19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Detalle OT técnico</a:t>
            </a:r>
            <a:endParaRPr/>
          </a:p>
        </p:txBody>
      </p:sp>
      <p:cxnSp>
        <p:nvCxnSpPr>
          <p:cNvPr id="293" name="Google Shape;293;p9"/>
          <p:cNvCxnSpPr/>
          <p:nvPr/>
        </p:nvCxnSpPr>
        <p:spPr>
          <a:xfrm>
            <a:off x="8858250" y="3390900"/>
            <a:ext cx="2286000" cy="0"/>
          </a:xfrm>
          <a:prstGeom prst="straightConnector1">
            <a:avLst/>
          </a:prstGeom>
          <a:noFill/>
          <a:ln w="28575" cap="flat" cmpd="sng">
            <a:solidFill>
              <a:srgbClr val="22262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4" name="Google Shape;294;p9"/>
          <p:cNvSpPr/>
          <p:nvPr/>
        </p:nvSpPr>
        <p:spPr>
          <a:xfrm>
            <a:off x="8858250" y="3600450"/>
            <a:ext cx="2333625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18" marR="0" lvl="0" indent="-1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425"/>
              <a:buFont typeface="Arial"/>
              <a:buNone/>
            </a:pPr>
            <a:r>
              <a:rPr lang="en-US" sz="14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Estado + activo</a:t>
            </a:r>
            <a:endParaRPr>
              <a:solidFill>
                <a:schemeClr val="dk1"/>
              </a:solidFill>
            </a:endParaRPr>
          </a:p>
          <a:p>
            <a:pPr marL="18" marR="0" lvl="0" indent="-10" algn="l" rtl="0">
              <a:lnSpc>
                <a:spcPct val="102000"/>
              </a:lnSpc>
              <a:spcBef>
                <a:spcPts val="10"/>
              </a:spcBef>
              <a:spcAft>
                <a:spcPts val="0"/>
              </a:spcAft>
              <a:buClr>
                <a:srgbClr val="657078"/>
              </a:buClr>
              <a:buSzPts val="1425"/>
              <a:buFont typeface="Arial"/>
              <a:buNone/>
            </a:pPr>
            <a:r>
              <a:rPr lang="en-US" sz="14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Horas + repuestos + foto</a:t>
            </a:r>
            <a:endParaRPr>
              <a:solidFill>
                <a:schemeClr val="dk1"/>
              </a:solidFill>
            </a:endParaRPr>
          </a:p>
          <a:p>
            <a:pPr marL="18" marR="0" lvl="0" indent="-10" algn="l" rtl="0">
              <a:lnSpc>
                <a:spcPct val="102000"/>
              </a:lnSpc>
              <a:spcBef>
                <a:spcPts val="10"/>
              </a:spcBef>
              <a:spcAft>
                <a:spcPts val="0"/>
              </a:spcAft>
              <a:buClr>
                <a:srgbClr val="657078"/>
              </a:buClr>
              <a:buSzPts val="1425"/>
              <a:buFont typeface="Arial"/>
              <a:buNone/>
            </a:pPr>
            <a:r>
              <a:rPr lang="en-US" sz="142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Acción: completar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95" name="Google Shape;295;p9"/>
          <p:cNvCxnSpPr>
            <a:stCxn id="275" idx="3"/>
            <a:endCxn id="280" idx="1"/>
          </p:cNvCxnSpPr>
          <p:nvPr/>
        </p:nvCxnSpPr>
        <p:spPr>
          <a:xfrm>
            <a:off x="1104900" y="2257425"/>
            <a:ext cx="2305200" cy="0"/>
          </a:xfrm>
          <a:prstGeom prst="straightConnector1">
            <a:avLst/>
          </a:prstGeom>
          <a:noFill/>
          <a:ln w="19050" cap="flat" cmpd="sng">
            <a:solidFill>
              <a:srgbClr val="F36C2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96" name="Google Shape;296;p9"/>
          <p:cNvCxnSpPr>
            <a:stCxn id="280" idx="3"/>
            <a:endCxn id="285" idx="1"/>
          </p:cNvCxnSpPr>
          <p:nvPr/>
        </p:nvCxnSpPr>
        <p:spPr>
          <a:xfrm>
            <a:off x="3829050" y="2257425"/>
            <a:ext cx="2305200" cy="0"/>
          </a:xfrm>
          <a:prstGeom prst="straightConnector1">
            <a:avLst/>
          </a:prstGeom>
          <a:noFill/>
          <a:ln w="19050" cap="flat" cmpd="sng">
            <a:solidFill>
              <a:srgbClr val="F36C2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97" name="Google Shape;297;p9"/>
          <p:cNvCxnSpPr>
            <a:stCxn id="285" idx="3"/>
            <a:endCxn id="290" idx="1"/>
          </p:cNvCxnSpPr>
          <p:nvPr/>
        </p:nvCxnSpPr>
        <p:spPr>
          <a:xfrm>
            <a:off x="6553200" y="2257425"/>
            <a:ext cx="2305200" cy="0"/>
          </a:xfrm>
          <a:prstGeom prst="straightConnector1">
            <a:avLst/>
          </a:prstGeom>
          <a:noFill/>
          <a:ln w="19050" cap="flat" cmpd="sng">
            <a:solidFill>
              <a:srgbClr val="F36C21"/>
            </a:solidFill>
            <a:prstDash val="solid"/>
            <a:round/>
            <a:headEnd type="none" w="sm" len="sm"/>
            <a:tailEnd type="triangle" w="sm" len="sm"/>
          </a:ln>
        </p:spPr>
      </p:cxnSp>
      <p:cxnSp>
        <p:nvCxnSpPr>
          <p:cNvPr id="298" name="Google Shape;298;p9"/>
          <p:cNvCxnSpPr/>
          <p:nvPr/>
        </p:nvCxnSpPr>
        <p:spPr>
          <a:xfrm>
            <a:off x="685800" y="5334000"/>
            <a:ext cx="10839450" cy="0"/>
          </a:xfrm>
          <a:prstGeom prst="straightConnector1">
            <a:avLst/>
          </a:prstGeom>
          <a:noFill/>
          <a:ln w="9525" cap="flat" cmpd="sng">
            <a:solidFill>
              <a:srgbClr val="F36C2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9" name="Google Shape;299;p9"/>
          <p:cNvSpPr/>
          <p:nvPr/>
        </p:nvSpPr>
        <p:spPr>
          <a:xfrm>
            <a:off x="685800" y="5572125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75"/>
              <a:buFont typeface="Arial"/>
              <a:buNone/>
            </a:pPr>
            <a:r>
              <a:rPr lang="en-US" sz="1275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FIGMA</a:t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1619250" y="5553075"/>
            <a:ext cx="4095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433"/>
              <a:buFont typeface="Arial"/>
              <a:buNone/>
            </a:pPr>
            <a:r>
              <a:rPr lang="en-US" sz="1433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Pantallas, componentes y prototipo navegable.</a:t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6286500" y="557212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75"/>
              <a:buFont typeface="Arial"/>
              <a:buNone/>
            </a:pPr>
            <a:r>
              <a:rPr lang="en-US" sz="1275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MIRO</a:t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7096125" y="5553075"/>
            <a:ext cx="3714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422"/>
              <a:buFont typeface="Arial"/>
              <a:buNone/>
            </a:pPr>
            <a:r>
              <a:rPr lang="en-US" sz="1423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Flujo de negocio, journey e impacto.</a:t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685800" y="6048375"/>
            <a:ext cx="100012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650"/>
              <a:buFont typeface="Arial"/>
              <a:buNone/>
            </a:pPr>
            <a:r>
              <a:rPr lang="en-US" sz="1650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Validar con supervisor y técnico durante los sprints.</a:t>
            </a:r>
            <a:endParaRPr/>
          </a:p>
        </p:txBody>
      </p:sp>
      <p:cxnSp>
        <p:nvCxnSpPr>
          <p:cNvPr id="304" name="Google Shape;304;p9"/>
          <p:cNvCxnSpPr/>
          <p:nvPr/>
        </p:nvCxnSpPr>
        <p:spPr>
          <a:xfrm>
            <a:off x="666750" y="65246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F36C2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5" name="Google Shape;305;p9"/>
          <p:cNvSpPr/>
          <p:nvPr/>
        </p:nvSpPr>
        <p:spPr>
          <a:xfrm>
            <a:off x="666750" y="658177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8F"/>
              </a:buClr>
              <a:buSzPts val="975"/>
              <a:buFont typeface="Arial"/>
              <a:buNone/>
            </a:pPr>
            <a:r>
              <a:rPr lang="en-US" sz="975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Propuesta de proyecto · Fase 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666750" y="304800"/>
            <a:ext cx="4095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657078"/>
                </a:solidFill>
                <a:latin typeface="Arial"/>
                <a:ea typeface="Arial"/>
                <a:cs typeface="Arial"/>
                <a:sym typeface="Arial"/>
              </a:rPr>
              <a:t>BARB · PROPUESTA APT</a:t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11144250" y="30480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cxnSp>
        <p:nvCxnSpPr>
          <p:cNvPr id="314" name="Google Shape;314;p10"/>
          <p:cNvCxnSpPr/>
          <p:nvPr/>
        </p:nvCxnSpPr>
        <p:spPr>
          <a:xfrm>
            <a:off x="666750" y="6191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5" name="Google Shape;315;p10"/>
          <p:cNvSpPr/>
          <p:nvPr/>
        </p:nvSpPr>
        <p:spPr>
          <a:xfrm>
            <a:off x="666750" y="809625"/>
            <a:ext cx="10572750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3192"/>
              <a:buFont typeface="Play"/>
              <a:buNone/>
            </a:pPr>
            <a:r>
              <a:rPr lang="en-US" sz="3193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Semana 8: flujo punta a punta; semanas 9–10: calidad y defensa</a:t>
            </a:r>
            <a:endParaRPr/>
          </a:p>
        </p:txBody>
      </p:sp>
      <p:cxnSp>
        <p:nvCxnSpPr>
          <p:cNvPr id="316" name="Google Shape;316;p10"/>
          <p:cNvCxnSpPr/>
          <p:nvPr/>
        </p:nvCxnSpPr>
        <p:spPr>
          <a:xfrm>
            <a:off x="914400" y="2686050"/>
            <a:ext cx="9906000" cy="0"/>
          </a:xfrm>
          <a:prstGeom prst="straightConnector1">
            <a:avLst/>
          </a:prstGeom>
          <a:noFill/>
          <a:ln w="28575" cap="flat" cmpd="sng">
            <a:solidFill>
              <a:srgbClr val="22262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7" name="Google Shape;317;p10"/>
          <p:cNvSpPr/>
          <p:nvPr/>
        </p:nvSpPr>
        <p:spPr>
          <a:xfrm>
            <a:off x="685800" y="2457450"/>
            <a:ext cx="457200" cy="457200"/>
          </a:xfrm>
          <a:prstGeom prst="ellipse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85800" y="2543175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n-US" sz="13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685800" y="18097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SEMANAS 1–2</a:t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685800" y="3143250"/>
            <a:ext cx="2238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868"/>
              <a:buFont typeface="Play"/>
              <a:buNone/>
            </a:pPr>
            <a:r>
              <a:rPr lang="en-US" sz="1868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Definición y diseño</a:t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685800" y="3829050"/>
            <a:ext cx="223837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rgbClr val="657078"/>
                </a:solidFill>
                <a:latin typeface="Arial"/>
                <a:ea typeface="Arial"/>
                <a:cs typeface="Arial"/>
                <a:sym typeface="Arial"/>
              </a:rPr>
              <a:t>Alcance MVP, Jira, Figma, arquitectura y modelo de datos.</a:t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3390900" y="2457450"/>
            <a:ext cx="457200" cy="457200"/>
          </a:xfrm>
          <a:prstGeom prst="ellipse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3390900" y="2543175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n-US" sz="13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3390900" y="18097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SEMANAS 3–4</a:t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3390900" y="3143250"/>
            <a:ext cx="2238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950"/>
              <a:buFont typeface="Play"/>
              <a:buNone/>
            </a:pPr>
            <a:r>
              <a:rPr lang="en-US" sz="1950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Base funcional</a:t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3390900" y="3829050"/>
            <a:ext cx="223837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rgbClr val="657078"/>
                </a:solidFill>
                <a:latin typeface="Arial"/>
                <a:ea typeface="Arial"/>
                <a:cs typeface="Arial"/>
                <a:sym typeface="Arial"/>
              </a:rPr>
              <a:t>Login, roles, activos y creación de OT.</a:t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6096000" y="2457450"/>
            <a:ext cx="457200" cy="457200"/>
          </a:xfrm>
          <a:prstGeom prst="ellipse">
            <a:avLst/>
          </a:prstGeom>
          <a:solidFill>
            <a:srgbClr val="22262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6096000" y="2543175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n-US" sz="13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6096000" y="18097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SEMANAS 5–7</a:t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6096000" y="3143250"/>
            <a:ext cx="2238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868"/>
              <a:buFont typeface="Play"/>
              <a:buNone/>
            </a:pPr>
            <a:r>
              <a:rPr lang="en-US" sz="1868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Núcleo operacional</a:t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6096000" y="3829050"/>
            <a:ext cx="223837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rgbClr val="657078"/>
                </a:solidFill>
                <a:latin typeface="Arial"/>
                <a:ea typeface="Arial"/>
                <a:cs typeface="Arial"/>
                <a:sym typeface="Arial"/>
              </a:rPr>
              <a:t>Asignación, ciclo OT, registros, repuestos, evidencias y alertas.</a:t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8801100" y="2457450"/>
            <a:ext cx="457200" cy="457200"/>
          </a:xfrm>
          <a:prstGeom prst="ellipse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8801100" y="2543175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n-US" sz="135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8801100" y="180975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SEMANAS 8–10</a:t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8801100" y="3143250"/>
            <a:ext cx="2238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868"/>
              <a:buFont typeface="Play"/>
              <a:buNone/>
            </a:pPr>
            <a:r>
              <a:rPr lang="en-US" sz="1868" b="1" i="0">
                <a:solidFill>
                  <a:srgbClr val="222629"/>
                </a:solidFill>
                <a:latin typeface="Play"/>
                <a:ea typeface="Play"/>
                <a:cs typeface="Play"/>
                <a:sym typeface="Play"/>
              </a:rPr>
              <a:t>Integración y entrega</a:t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8801100" y="3829050"/>
            <a:ext cx="223837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500"/>
              <a:buFont typeface="Arial"/>
              <a:buNone/>
            </a:pPr>
            <a:r>
              <a:rPr lang="en-US" sz="1500" b="0" i="0">
                <a:solidFill>
                  <a:srgbClr val="657078"/>
                </a:solidFill>
                <a:latin typeface="Arial"/>
                <a:ea typeface="Arial"/>
                <a:cs typeface="Arial"/>
                <a:sym typeface="Arial"/>
              </a:rPr>
              <a:t>Dashboard, pruebas, despliegue, documentación y demo final.</a:t>
            </a:r>
            <a:endParaRPr/>
          </a:p>
        </p:txBody>
      </p:sp>
      <p:cxnSp>
        <p:nvCxnSpPr>
          <p:cNvPr id="337" name="Google Shape;337;p10"/>
          <p:cNvCxnSpPr/>
          <p:nvPr/>
        </p:nvCxnSpPr>
        <p:spPr>
          <a:xfrm>
            <a:off x="685800" y="5143500"/>
            <a:ext cx="1083945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8" name="Google Shape;338;p10"/>
          <p:cNvSpPr/>
          <p:nvPr/>
        </p:nvSpPr>
        <p:spPr>
          <a:xfrm>
            <a:off x="685800" y="5381625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C21"/>
              </a:buClr>
              <a:buSzPts val="1200"/>
              <a:buFont typeface="Arial"/>
              <a:buNone/>
            </a:pPr>
            <a:r>
              <a:rPr lang="en-US" sz="1200" b="1" i="0">
                <a:solidFill>
                  <a:srgbClr val="F36C21"/>
                </a:solidFill>
                <a:latin typeface="Arial"/>
                <a:ea typeface="Arial"/>
                <a:cs typeface="Arial"/>
                <a:sym typeface="Arial"/>
              </a:rPr>
              <a:t>RIESGOS A CONTROLAR</a:t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685800" y="5715000"/>
            <a:ext cx="904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425"/>
              <a:buFont typeface="Arial"/>
              <a:buNone/>
            </a:pPr>
            <a:r>
              <a:rPr lang="en-US" sz="1425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1600200" y="5715000"/>
            <a:ext cx="2381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194"/>
              <a:buFont typeface="Arial"/>
              <a:buNone/>
            </a:pPr>
            <a:r>
              <a:rPr lang="en-US" sz="1195" b="0" i="0">
                <a:solidFill>
                  <a:srgbClr val="657078"/>
                </a:solidFill>
                <a:latin typeface="Arial"/>
                <a:ea typeface="Arial"/>
                <a:cs typeface="Arial"/>
                <a:sym typeface="Arial"/>
              </a:rPr>
              <a:t>Backlog priorizado y frontera MVP.</a:t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4095750" y="57150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401"/>
              <a:buFont typeface="Arial"/>
              <a:buNone/>
            </a:pPr>
            <a:r>
              <a:rPr lang="en-US" sz="1402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Visibilidad</a:t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5191125" y="5715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318"/>
              <a:buFont typeface="Arial"/>
              <a:buNone/>
            </a:pPr>
            <a:r>
              <a:rPr lang="en-US" sz="1319" b="0" i="0">
                <a:solidFill>
                  <a:srgbClr val="657078"/>
                </a:solidFill>
                <a:latin typeface="Arial"/>
                <a:ea typeface="Arial"/>
                <a:cs typeface="Arial"/>
                <a:sym typeface="Arial"/>
              </a:rPr>
              <a:t>Wireflow Figma desde Fase 1.</a:t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7667625" y="57150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29"/>
              </a:buClr>
              <a:buSzPts val="1406"/>
              <a:buFont typeface="Arial"/>
              <a:buNone/>
            </a:pPr>
            <a:r>
              <a:rPr lang="en-US" sz="1407" b="1" i="0">
                <a:solidFill>
                  <a:srgbClr val="222629"/>
                </a:solidFill>
                <a:latin typeface="Arial"/>
                <a:ea typeface="Arial"/>
                <a:cs typeface="Arial"/>
                <a:sym typeface="Arial"/>
              </a:rPr>
              <a:t>Persistencia</a:t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8782050" y="5715000"/>
            <a:ext cx="27146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7078"/>
              </a:buClr>
              <a:buSzPts val="1308"/>
              <a:buFont typeface="Arial"/>
              <a:buNone/>
            </a:pPr>
            <a:r>
              <a:rPr lang="en-US" sz="1309" b="0" i="0">
                <a:solidFill>
                  <a:srgbClr val="657078"/>
                </a:solidFill>
                <a:latin typeface="Arial"/>
                <a:ea typeface="Arial"/>
                <a:cs typeface="Arial"/>
                <a:sym typeface="Arial"/>
              </a:rPr>
              <a:t>Storage, alertas y pruebas tempranas.</a:t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685800" y="6143625"/>
            <a:ext cx="10839450" cy="323850"/>
          </a:xfrm>
          <a:prstGeom prst="rect">
            <a:avLst/>
          </a:prstGeom>
          <a:solidFill>
            <a:srgbClr val="F36C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876300" y="6191250"/>
            <a:ext cx="10429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BARB transforma información dispersa en un flujo digital, trazable y medible.</a:t>
            </a:r>
            <a:endParaRPr/>
          </a:p>
        </p:txBody>
      </p:sp>
      <p:cxnSp>
        <p:nvCxnSpPr>
          <p:cNvPr id="347" name="Google Shape;347;p10"/>
          <p:cNvCxnSpPr/>
          <p:nvPr/>
        </p:nvCxnSpPr>
        <p:spPr>
          <a:xfrm>
            <a:off x="666750" y="6524625"/>
            <a:ext cx="10858500" cy="0"/>
          </a:xfrm>
          <a:prstGeom prst="straightConnector1">
            <a:avLst/>
          </a:prstGeom>
          <a:noFill/>
          <a:ln w="9525" cap="flat" cmpd="sng">
            <a:solidFill>
              <a:srgbClr val="CFC7B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8" name="Google Shape;348;p10"/>
          <p:cNvSpPr/>
          <p:nvPr/>
        </p:nvSpPr>
        <p:spPr>
          <a:xfrm>
            <a:off x="666750" y="6581775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18F"/>
              </a:buClr>
              <a:buSzPts val="975"/>
              <a:buFont typeface="Arial"/>
              <a:buNone/>
            </a:pPr>
            <a:r>
              <a:rPr lang="en-US" sz="975" b="0" i="0">
                <a:solidFill>
                  <a:srgbClr val="8A918F"/>
                </a:solidFill>
                <a:latin typeface="Arial"/>
                <a:ea typeface="Arial"/>
                <a:cs typeface="Arial"/>
                <a:sym typeface="Arial"/>
              </a:rPr>
              <a:t>Objetivo: demo funcional del flujo crítico y evidencia de calidad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RB Industrial Claro">
  <a:themeElements>
    <a:clrScheme name="BARB Industrial Claro">
      <a:dk1>
        <a:srgbClr val="000000"/>
      </a:dk1>
      <a:lt1>
        <a:srgbClr val="FFFFFF"/>
      </a:lt1>
      <a:dk2>
        <a:srgbClr val="222629"/>
      </a:dk2>
      <a:lt2>
        <a:srgbClr val="E8E1D7"/>
      </a:lt2>
      <a:accent1>
        <a:srgbClr val="F36C21"/>
      </a:accent1>
      <a:accent2>
        <a:srgbClr val="657078"/>
      </a:accent2>
      <a:accent3>
        <a:srgbClr val="A4451D"/>
      </a:accent3>
      <a:accent4>
        <a:srgbClr val="6C776F"/>
      </a:accent4>
      <a:accent5>
        <a:srgbClr val="A7A098"/>
      </a:accent5>
      <a:accent6>
        <a:srgbClr val="C55A11"/>
      </a:accent6>
      <a:hlink>
        <a:srgbClr val="F36C21"/>
      </a:hlink>
      <a:folHlink>
        <a:srgbClr val="A4451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1065</Words>
  <Application>Microsoft Office PowerPoint</Application>
  <PresentationFormat>Panorámica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Calibri</vt:lpstr>
      <vt:lpstr>Play</vt:lpstr>
      <vt:lpstr>Arial</vt:lpstr>
      <vt:lpstr>BARB Industrial Claro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René A. Rojas Robles</dc:creator>
  <cp:lastModifiedBy>René A. Rojas Robles</cp:lastModifiedBy>
  <cp:revision>1</cp:revision>
  <dcterms:created xsi:type="dcterms:W3CDTF">2026-09-04T17:29:07Z</dcterms:created>
  <dcterms:modified xsi:type="dcterms:W3CDTF">2026-09-05T00:12:35Z</dcterms:modified>
</cp:coreProperties>
</file>