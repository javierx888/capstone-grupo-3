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5.xml" ContentType="application/vnd.openxmlformats-officedocument.presentationml.slide+xml"/>
  <Override PartName="/ppt/notesSlides/notesSlide5.xml" ContentType="application/vnd.openxmlformats-officedocument.presentationml.notes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ldImg"/>
          </p:nvPr>
        </p:nvSpPr>
        <p:spPr>
          <a:xfrm>
            <a:off x="533520" y="764280"/>
            <a:ext cx="6704640" cy="3771360"/>
          </a:xfrm>
          <a:prstGeom prst="rect">
            <a:avLst/>
          </a:prstGeom>
          <a:noFill/>
          <a:ln w="0">
            <a:noFill/>
          </a:ln>
        </p:spPr>
        <p:txBody>
          <a:bodyPr lIns="0" tIns="0" rIns="0" bIns="0" anchor="ctr">
            <a:noAutofit/>
          </a:bodyPr>
          <a:p>
            <a:pPr algn="ctr" defTabSz="914400">
              <a:lnSpc>
                <a:spcPct val="90000"/>
              </a:lnSpc>
            </a:pPr>
            <a:r>
              <a:rPr lang="es-CL" sz="6000" b="0" u="none" strike="noStrike">
                <a:solidFill>
                  <a:schemeClr val="dk1"/>
                </a:solidFill>
                <a:effectLst/>
                <a:uFillTx/>
                <a:latin typeface="Calibri Light"/>
              </a:rPr>
              <a:t>Pulse para desplazar la diapositiva</a:t>
            </a:r>
            <a:endParaRPr lang="es-CL" sz="6000" b="0" u="none" strike="noStrike">
              <a:solidFill>
                <a:schemeClr val="dk1"/>
              </a:solidFill>
              <a:effectLst/>
              <a:uFillTx/>
              <a:latin typeface="Calibri Light"/>
            </a:endParaRPr>
          </a:p>
        </p:txBody>
      </p:sp>
      <p:sp>
        <p:nvSpPr>
          <p:cNvPr id="61"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s-CL" sz="2000" b="0" u="none" strike="noStrike">
                <a:solidFill>
                  <a:srgbClr val="000000"/>
                </a:solidFill>
                <a:effectLst/>
                <a:uFillTx/>
                <a:latin typeface="Arial"/>
              </a:rPr>
              <a:t>Pulse para editar el formato de las notas</a:t>
            </a:r>
            <a:endParaRPr lang="es-CL" sz="2000" b="0" u="none" strike="noStrike">
              <a:solidFill>
                <a:srgbClr val="000000"/>
              </a:solidFill>
              <a:effectLst/>
              <a:uFillTx/>
              <a:latin typeface="Arial"/>
            </a:endParaRPr>
          </a:p>
        </p:txBody>
      </p:sp>
      <p:sp>
        <p:nvSpPr>
          <p:cNvPr id="62"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s-CL" sz="1400" b="0" u="none" strike="noStrike">
                <a:solidFill>
                  <a:srgbClr val="000000"/>
                </a:solidFill>
                <a:effectLst/>
                <a:uFillTx/>
                <a:latin typeface="Times New Roman"/>
              </a:rPr>
              <a:t>&lt;cabecera&gt;</a:t>
            </a:r>
            <a:endParaRPr lang="es-CL" sz="1400" b="0" u="none" strike="noStrike">
              <a:solidFill>
                <a:srgbClr val="000000"/>
              </a:solidFill>
              <a:effectLst/>
              <a:uFillTx/>
              <a:latin typeface="Times New Roman"/>
            </a:endParaRPr>
          </a:p>
        </p:txBody>
      </p:sp>
      <p:sp>
        <p:nvSpPr>
          <p:cNvPr id="63"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s-CL" sz="1400" b="0" u="none" strike="noStrike">
                <a:solidFill>
                  <a:srgbClr val="000000"/>
                </a:solidFill>
                <a:effectLst/>
                <a:uFillTx/>
                <a:latin typeface="Times New Roman"/>
              </a:defRPr>
            </a:lvl1pPr>
          </a:lstStyle>
          <a:p>
            <a:pPr indent="0" algn="r">
              <a:buNone/>
            </a:pPr>
            <a:r>
              <a:rPr lang="es-CL" sz="1400" b="0" u="none" strike="noStrike">
                <a:solidFill>
                  <a:srgbClr val="000000"/>
                </a:solidFill>
                <a:effectLst/>
                <a:uFillTx/>
                <a:latin typeface="Times New Roman"/>
              </a:rPr>
              <a:t>&lt;fecha/hora&gt;</a:t>
            </a:r>
            <a:endParaRPr lang="es-CL" sz="1400" b="0" u="none" strike="noStrike">
              <a:solidFill>
                <a:srgbClr val="000000"/>
              </a:solidFill>
              <a:effectLst/>
              <a:uFillTx/>
              <a:latin typeface="Times New Roman"/>
            </a:endParaRPr>
          </a:p>
        </p:txBody>
      </p:sp>
      <p:sp>
        <p:nvSpPr>
          <p:cNvPr id="64"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s-CL" sz="1400" b="0" u="none" strike="noStrike">
                <a:solidFill>
                  <a:srgbClr val="000000"/>
                </a:solidFill>
                <a:effectLst/>
                <a:uFillTx/>
                <a:latin typeface="Times New Roman"/>
              </a:defRPr>
            </a:lvl1pPr>
          </a:lstStyle>
          <a:p>
            <a:pPr indent="0" algn="l">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65"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s-CL" sz="1400" b="0" u="none" strike="noStrike">
                <a:solidFill>
                  <a:srgbClr val="000000"/>
                </a:solidFill>
                <a:effectLst/>
                <a:uFillTx/>
                <a:latin typeface="Times New Roman"/>
              </a:defRPr>
            </a:lvl1pPr>
          </a:lstStyle>
          <a:p>
            <a:pPr indent="0" algn="r">
              <a:buNone/>
            </a:pPr>
            <a:fld id="{FB544864-23F5-4CE7-8C2B-BCCB79AB32B1}" type="slidenum">
              <a:rPr lang="es-CL" sz="1400" b="0" u="none" strike="noStrike">
                <a:solidFill>
                  <a:srgbClr val="000000"/>
                </a:solidFill>
                <a:effectLst/>
                <a:uFillTx/>
                <a:latin typeface="Times New Roman"/>
              </a:rPr>
              <a:t>&lt;número&gt;</a:t>
            </a:fld>
            <a:endParaRPr lang="es-CL"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7" name="PlaceHolder 1"/>
          <p:cNvSpPr>
            <a:spLocks noGrp="1"/>
          </p:cNvSpPr>
          <p:nvPr>
            <p:ph type="sldImg"/>
          </p:nvPr>
        </p:nvSpPr>
        <p:spPr>
          <a:xfrm>
            <a:off x="685800" y="1143000"/>
            <a:ext cx="5486040" cy="3085920"/>
          </a:xfrm>
          <a:prstGeom prst="rect">
            <a:avLst/>
          </a:prstGeom>
          <a:ln w="0">
            <a:noFill/>
          </a:ln>
        </p:spPr>
      </p:sp>
      <p:sp>
        <p:nvSpPr>
          <p:cNvPr id="45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Las limitaciones provienen de docs/MULTIEMPRESA.md y docs/NOTIFICACIONES.md, y se verificaron contra el código.</a:t>
            </a:r>
            <a:endParaRPr lang="es-CL" sz="2000" b="0" u="none" strike="noStrike">
              <a:solidFill>
                <a:srgbClr val="000000"/>
              </a:solidFill>
              <a:effectLst/>
              <a:uFillTx/>
              <a:latin typeface="Arial"/>
            </a:endParaRPr>
          </a:p>
        </p:txBody>
      </p:sp>
      <p:sp>
        <p:nvSpPr>
          <p:cNvPr id="459" name="PlaceHolder 3"/>
          <p:cNvSpPr>
            <a:spLocks noGrp="1"/>
          </p:cNvSpPr>
          <p:nvPr>
            <p:ph type="sldNum" idx="3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984B7AA0-1776-4FEB-88E3-DCD424402C87}"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0" name="PlaceHolder 1"/>
          <p:cNvSpPr>
            <a:spLocks noGrp="1"/>
          </p:cNvSpPr>
          <p:nvPr>
            <p:ph type="sldImg"/>
          </p:nvPr>
        </p:nvSpPr>
        <p:spPr>
          <a:xfrm>
            <a:off x="685800" y="1143000"/>
            <a:ext cx="5486040" cy="3085920"/>
          </a:xfrm>
          <a:prstGeom prst="rect">
            <a:avLst/>
          </a:prstGeom>
          <a:ln w="0">
            <a:noFill/>
          </a:ln>
        </p:spPr>
      </p:sp>
      <p:sp>
        <p:nvSpPr>
          <p:cNvPr id="46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Resumen de la arquitectura: Angular 22 + Tailwind en el frontend, FastAPI + psycopg3 (SQL directo, sin ORM) en el backend, PostgreSQL y Supabase Storage para los datos, LangChain para el LLM.</a:t>
            </a:r>
            <a:endParaRPr lang="es-CL" sz="2000" b="0" u="none" strike="noStrike">
              <a:solidFill>
                <a:srgbClr val="000000"/>
              </a:solidFill>
              <a:effectLst/>
              <a:uFillTx/>
              <a:latin typeface="Arial"/>
            </a:endParaRPr>
          </a:p>
        </p:txBody>
      </p:sp>
      <p:sp>
        <p:nvSpPr>
          <p:cNvPr id="462" name="PlaceHolder 3"/>
          <p:cNvSpPr>
            <a:spLocks noGrp="1"/>
          </p:cNvSpPr>
          <p:nvPr>
            <p:ph type="sldNum" idx="3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683AACD3-F984-4EE7-A300-C3BE6C3A3AFC}"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3" name="PlaceHolder 1"/>
          <p:cNvSpPr>
            <a:spLocks noGrp="1"/>
          </p:cNvSpPr>
          <p:nvPr>
            <p:ph type="sldImg"/>
          </p:nvPr>
        </p:nvSpPr>
        <p:spPr>
          <a:xfrm>
            <a:off x="685800" y="1143000"/>
            <a:ext cx="5486040" cy="3085920"/>
          </a:xfrm>
          <a:prstGeom prst="rect">
            <a:avLst/>
          </a:prstGeom>
          <a:ln w="0">
            <a:noFill/>
          </a:ln>
        </p:spPr>
      </p:sp>
      <p:sp>
        <p:nvSpPr>
          <p:cNvPr id="46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Resumen de la arquitectura: Angular 22 + Tailwind en el frontend, FastAPI + psycopg3 (SQL directo, sin ORM) en el backend, PostgreSQL y Supabase Storage para los datos, LangChain para el LLM.</a:t>
            </a:r>
            <a:endParaRPr lang="es-CL" sz="2000" b="0" u="none" strike="noStrike">
              <a:solidFill>
                <a:srgbClr val="000000"/>
              </a:solidFill>
              <a:effectLst/>
              <a:uFillTx/>
              <a:latin typeface="Arial"/>
            </a:endParaRPr>
          </a:p>
        </p:txBody>
      </p:sp>
      <p:sp>
        <p:nvSpPr>
          <p:cNvPr id="465" name="PlaceHolder 3"/>
          <p:cNvSpPr>
            <a:spLocks noGrp="1"/>
          </p:cNvSpPr>
          <p:nvPr>
            <p:ph type="sldNum" idx="3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B09521F8-2731-4E67-9DF2-C1DE09EA8148}"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PlaceHolder 1"/>
          <p:cNvSpPr>
            <a:spLocks noGrp="1"/>
          </p:cNvSpPr>
          <p:nvPr>
            <p:ph type="sldImg"/>
          </p:nvPr>
        </p:nvSpPr>
        <p:spPr>
          <a:xfrm>
            <a:off x="685800" y="1143000"/>
            <a:ext cx="5486040" cy="3085920"/>
          </a:xfrm>
          <a:prstGeom prst="rect">
            <a:avLst/>
          </a:prstGeom>
          <a:ln w="0">
            <a:noFill/>
          </a:ln>
        </p:spPr>
      </p:sp>
      <p:sp>
        <p:nvSpPr>
          <p:cNvPr id="46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backend/src/barb/routers/users.py y core/permissions.py; frontend features/usuarios. El super_usuario es la contraparte comercial de BARB: no pertenece a ninguna empresa y solo crea gerentes.</a:t>
            </a:r>
            <a:endParaRPr lang="es-CL" sz="2000" b="0" u="none" strike="noStrike">
              <a:solidFill>
                <a:srgbClr val="000000"/>
              </a:solidFill>
              <a:effectLst/>
              <a:uFillTx/>
              <a:latin typeface="Arial"/>
            </a:endParaRPr>
          </a:p>
        </p:txBody>
      </p:sp>
      <p:sp>
        <p:nvSpPr>
          <p:cNvPr id="46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D7A302A1-6B68-4112-AED5-BDC0425CA4B8}"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9" name="PlaceHolder 1"/>
          <p:cNvSpPr>
            <a:spLocks noGrp="1"/>
          </p:cNvSpPr>
          <p:nvPr>
            <p:ph type="sldImg"/>
          </p:nvPr>
        </p:nvSpPr>
        <p:spPr>
          <a:xfrm>
            <a:off x="685800" y="1143000"/>
            <a:ext cx="5486040" cy="3085920"/>
          </a:xfrm>
          <a:prstGeom prst="rect">
            <a:avLst/>
          </a:prstGeom>
          <a:ln w="0">
            <a:noFill/>
          </a:ln>
        </p:spPr>
      </p:sp>
      <p:sp>
        <p:nvSpPr>
          <p:cNvPr id="47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RUTAS y ACCIONES en backend/src/barb/core/permissions.py. El rol se consulta en la base de datos en cada solicitud.</a:t>
            </a:r>
            <a:endParaRPr lang="es-CL" sz="2000" b="0" u="none" strike="noStrike">
              <a:solidFill>
                <a:srgbClr val="000000"/>
              </a:solidFill>
              <a:effectLst/>
              <a:uFillTx/>
              <a:latin typeface="Arial"/>
            </a:endParaRPr>
          </a:p>
        </p:txBody>
      </p:sp>
      <p:sp>
        <p:nvSpPr>
          <p:cNvPr id="47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EA9CBA94-143A-4728-A5B5-3C8042055F23}"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685800" y="1143000"/>
            <a:ext cx="5486040" cy="3085920"/>
          </a:xfrm>
          <a:prstGeom prst="rect">
            <a:avLst/>
          </a:prstGeom>
          <a:ln w="0">
            <a:noFill/>
          </a:ln>
        </p:spPr>
      </p:sp>
      <p:sp>
        <p:nvSpPr>
          <p:cNvPr id="47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core/work_order_states.py y routers/work_orders.py. Las transiciones permitidas ya vienen filtradas por rol en cada OT (allowed_transitions).</a:t>
            </a:r>
            <a:endParaRPr lang="es-CL" sz="2000" b="0" u="none" strike="noStrike">
              <a:solidFill>
                <a:srgbClr val="000000"/>
              </a:solidFill>
              <a:effectLst/>
              <a:uFillTx/>
              <a:latin typeface="Arial"/>
            </a:endParaRPr>
          </a:p>
        </p:txBody>
      </p:sp>
      <p:sp>
        <p:nvSpPr>
          <p:cNvPr id="47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8CA1BBFC-E0FA-47BD-A98C-806087D44F21}"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sldImg"/>
          </p:nvPr>
        </p:nvSpPr>
        <p:spPr>
          <a:xfrm>
            <a:off x="685800" y="1143000"/>
            <a:ext cx="5486040" cy="3085920"/>
          </a:xfrm>
          <a:prstGeom prst="rect">
            <a:avLst/>
          </a:prstGeom>
          <a:ln w="0">
            <a:noFill/>
          </a:ln>
        </p:spPr>
      </p:sp>
      <p:sp>
        <p:nvSpPr>
          <p:cNvPr id="47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Dashboard: routers/stats.py + features/dashboard. Correo: docs/NOTIFICACIONES.md. Tiempo real: routers/realtime.py. El frontend actual no tiene pantalla de notificaciones ni consume el canal SSE de OTs.</a:t>
            </a:r>
            <a:endParaRPr lang="es-CL" sz="2000" b="0" u="none" strike="noStrike">
              <a:solidFill>
                <a:srgbClr val="000000"/>
              </a:solidFill>
              <a:effectLst/>
              <a:uFillTx/>
              <a:latin typeface="Arial"/>
            </a:endParaRPr>
          </a:p>
        </p:txBody>
      </p:sp>
      <p:sp>
        <p:nvSpPr>
          <p:cNvPr id="47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C3686A74-CEB7-4329-B237-1F89DB3C56FC}"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sldImg"/>
          </p:nvPr>
        </p:nvSpPr>
        <p:spPr>
          <a:xfrm>
            <a:off x="685800" y="1143000"/>
            <a:ext cx="5486040" cy="3085920"/>
          </a:xfrm>
          <a:prstGeom prst="rect">
            <a:avLst/>
          </a:prstGeom>
          <a:ln w="0">
            <a:noFill/>
          </a:ln>
        </p:spPr>
      </p:sp>
      <p:sp>
        <p:nvSpPr>
          <p:cNvPr id="47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routers/topology.py, features/topology y docs/TOPOLOGIA.md. El diagrama es un ejemplo ilustrativo, no datos reales.</a:t>
            </a:r>
            <a:endParaRPr lang="es-CL" sz="2000" b="0" u="none" strike="noStrike">
              <a:solidFill>
                <a:srgbClr val="000000"/>
              </a:solidFill>
              <a:effectLst/>
              <a:uFillTx/>
              <a:latin typeface="Arial"/>
            </a:endParaRPr>
          </a:p>
        </p:txBody>
      </p:sp>
      <p:sp>
        <p:nvSpPr>
          <p:cNvPr id="48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00E67D98-DBC7-43C3-B124-43FC3BC5D553}"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sldImg"/>
          </p:nvPr>
        </p:nvSpPr>
        <p:spPr>
          <a:xfrm>
            <a:off x="685800" y="1143000"/>
            <a:ext cx="5486040" cy="3085920"/>
          </a:xfrm>
          <a:prstGeom prst="rect">
            <a:avLst/>
          </a:prstGeom>
          <a:ln w="0">
            <a:noFill/>
          </a:ln>
        </p:spPr>
      </p:sp>
      <p:sp>
        <p:nvSpPr>
          <p:cNvPr id="48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routers/documents.py y services/document_service.py. La recuperación es por texto completo de PostgreSQL (tsvector 'spanish' con índice GIN), no por embeddings.</a:t>
            </a:r>
            <a:endParaRPr lang="es-CL" sz="2000" b="0" u="none" strike="noStrike">
              <a:solidFill>
                <a:srgbClr val="000000"/>
              </a:solidFill>
              <a:effectLst/>
              <a:uFillTx/>
              <a:latin typeface="Arial"/>
            </a:endParaRPr>
          </a:p>
        </p:txBody>
      </p:sp>
      <p:sp>
        <p:nvSpPr>
          <p:cNvPr id="48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50705AC6-7334-4C14-9325-47444D2C1B5D}"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sldImg"/>
          </p:nvPr>
        </p:nvSpPr>
        <p:spPr>
          <a:xfrm>
            <a:off x="685800" y="1143000"/>
            <a:ext cx="5486040" cy="3085920"/>
          </a:xfrm>
          <a:prstGeom prst="rect">
            <a:avLst/>
          </a:prstGeom>
          <a:ln w="0">
            <a:noFill/>
          </a:ln>
        </p:spPr>
      </p:sp>
      <p:sp>
        <p:nvSpPr>
          <p:cNvPr id="48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p>
            <a:pPr indent="0" algn="l">
              <a:lnSpc>
                <a:spcPct val="100000"/>
              </a:lnSpc>
              <a:buNone/>
            </a:pPr>
            <a:r>
              <a:rPr lang="es-CL" sz="2000" b="0" u="none" strike="noStrike">
                <a:solidFill>
                  <a:srgbClr val="000000"/>
                </a:solidFill>
                <a:effectLst/>
                <a:uFillTx/>
                <a:latin typeface="Arial"/>
              </a:rPr>
              <a:t>Fuente: routers/chat.py y services/llm_service.py. Si no hay fragmentos relevantes no se llama al LLM. El endpoint multimodal existe en el backend, pero el frontend aún no lo usa.</a:t>
            </a:r>
            <a:endParaRPr lang="es-CL" sz="2000" b="0" u="none" strike="noStrike">
              <a:solidFill>
                <a:srgbClr val="000000"/>
              </a:solidFill>
              <a:effectLst/>
              <a:uFillTx/>
              <a:latin typeface="Arial"/>
            </a:endParaRPr>
          </a:p>
        </p:txBody>
      </p:sp>
      <p:sp>
        <p:nvSpPr>
          <p:cNvPr id="48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s-CL" sz="1200" b="0" u="none" strike="noStrike">
                <a:solidFill>
                  <a:srgbClr val="000000"/>
                </a:solidFill>
                <a:effectLst/>
                <a:uFillTx/>
                <a:latin typeface="Times New Roman"/>
              </a:defRPr>
            </a:lvl1pPr>
          </a:lstStyle>
          <a:p>
            <a:pPr indent="0" algn="r">
              <a:lnSpc>
                <a:spcPct val="100000"/>
              </a:lnSpc>
              <a:buNone/>
            </a:pPr>
            <a:fld id="{72A086D5-A556-4094-BDB5-850389EAE53D}" type="slidenum">
              <a:rPr lang="es-CL" sz="1200" b="0" u="none" strike="noStrike">
                <a:solidFill>
                  <a:srgbClr val="000000"/>
                </a:solidFill>
                <a:effectLst/>
                <a:uFillTx/>
                <a:latin typeface="Times New Roman"/>
              </a:rPr>
              <a:t>&lt;número&gt;</a:t>
            </a:fld>
            <a:endParaRPr lang="es-CL"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iapositiva de título">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es-ES" sz="6000" b="0" u="none" strike="noStrike">
                <a:solidFill>
                  <a:schemeClr val="dk1"/>
                </a:solidFill>
                <a:effectLst/>
                <a:uFillTx/>
                <a:latin typeface="Calibri Light"/>
              </a:defRPr>
            </a:lvl1pPr>
          </a:lstStyle>
          <a:p>
            <a:pPr indent="0" algn="ctr" defTabSz="914400">
              <a:lnSpc>
                <a:spcPct val="90000"/>
              </a:lnSpc>
              <a:buNone/>
            </a:pPr>
            <a:r>
              <a:rPr lang="es-ES" sz="6000" b="0" u="none" strike="noStrike">
                <a:solidFill>
                  <a:schemeClr val="dk1"/>
                </a:solidFill>
                <a:effectLst/>
                <a:uFillTx/>
                <a:latin typeface="Calibri Light"/>
              </a:rPr>
              <a:t>Haga clic para modificar el </a:t>
            </a:r>
            <a:r>
              <a:rPr lang="es-ES" sz="6000" b="0" u="none" strike="noStrike">
                <a:solidFill>
                  <a:schemeClr val="dk1"/>
                </a:solidFill>
                <a:effectLst/>
                <a:uFillTx/>
                <a:latin typeface="Calibri Light"/>
              </a:rPr>
              <a:t>estilo de título del patrón</a:t>
            </a:r>
            <a:endParaRPr lang="es-CL" sz="6000" b="0" u="none" strike="noStrike">
              <a:solidFill>
                <a:schemeClr val="dk1"/>
              </a:solidFill>
              <a:effectLst/>
              <a:uFillTx/>
              <a:latin typeface="Calibri Light"/>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 </a:t>
            </a:r>
            <a:endParaRPr lang="es-CL"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 </a:t>
            </a:r>
            <a:endParaRPr lang="es-CL"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575CB308-8DC3-493F-B13B-2EBDBC224C44}" type="slidenum">
              <a:rPr lang="es-CL" sz="1200" b="0" u="none" strike="noStrike">
                <a:solidFill>
                  <a:schemeClr val="dk1">
                    <a:tint val="75000"/>
                  </a:schemeClr>
                </a:solidFill>
                <a:effectLst/>
                <a:uFillTx/>
                <a:latin typeface="Calibri"/>
              </a:rPr>
              <a:t>9</a:t>
            </a:fld>
            <a:endParaRPr lang="es-CL"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CL"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CL"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CL"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CL"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CL"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CL"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s-CL" sz="2800" b="0" u="none" strike="noStrike">
                <a:solidFill>
                  <a:schemeClr val="dk1"/>
                </a:solidFill>
                <a:effectLst/>
                <a:uFillTx/>
                <a:latin typeface="Calibri"/>
              </a:rPr>
              <a:t>Pulse para editar el formato de texto del esquema</a:t>
            </a:r>
            <a:endParaRPr lang="es-CL" sz="2800" b="0" u="none" strike="noStrike">
              <a:solidFill>
                <a:schemeClr val="dk1"/>
              </a:solidFill>
              <a:effectLst/>
              <a:uFillTx/>
              <a:latin typeface="Calibri"/>
            </a:endParaRPr>
          </a:p>
          <a:p>
            <a:pPr marL="864000" lvl="1" indent="-324000" algn="l" defTabSz="914400">
              <a:lnSpc>
                <a:spcPct val="90000"/>
              </a:lnSpc>
              <a:spcBef>
                <a:spcPts val="499"/>
              </a:spcBef>
              <a:buClr>
                <a:srgbClr val="000000"/>
              </a:buClr>
              <a:buSzPct val="75000"/>
              <a:buFont typeface="Symbol" charset="2"/>
              <a:buChar char=""/>
            </a:pPr>
            <a:r>
              <a:rPr lang="es-CL" sz="2400" b="0" u="none" strike="noStrike">
                <a:solidFill>
                  <a:schemeClr val="dk1"/>
                </a:solidFill>
                <a:effectLst/>
                <a:uFillTx/>
                <a:latin typeface="Calibri"/>
              </a:rPr>
              <a:t>Segundo nivel del esquema</a:t>
            </a:r>
            <a:endParaRPr lang="es-CL" sz="2400" b="0" u="none" strike="noStrike">
              <a:solidFill>
                <a:schemeClr val="dk1"/>
              </a:solidFill>
              <a:effectLst/>
              <a:uFillTx/>
              <a:latin typeface="Calibri"/>
            </a:endParaRPr>
          </a:p>
          <a:p>
            <a:pPr marL="1296000" lvl="2" indent="-288000" algn="l" defTabSz="914400">
              <a:lnSpc>
                <a:spcPct val="90000"/>
              </a:lnSpc>
              <a:spcBef>
                <a:spcPts val="499"/>
              </a:spcBef>
              <a:buClr>
                <a:srgbClr val="000000"/>
              </a:buClr>
              <a:buSzPct val="45000"/>
              <a:buFont typeface="Wingdings" charset="2"/>
              <a:buChar char=""/>
            </a:pPr>
            <a:r>
              <a:rPr lang="es-CL" sz="2000" b="0" u="none" strike="noStrike">
                <a:solidFill>
                  <a:schemeClr val="dk1"/>
                </a:solidFill>
                <a:effectLst/>
                <a:uFillTx/>
                <a:latin typeface="Calibri"/>
              </a:rPr>
              <a:t>Tercer nivel del esquema</a:t>
            </a:r>
            <a:endParaRPr lang="es-CL" sz="2000" b="0" u="none" strike="noStrike">
              <a:solidFill>
                <a:schemeClr val="dk1"/>
              </a:solidFill>
              <a:effectLst/>
              <a:uFillTx/>
              <a:latin typeface="Calibri"/>
            </a:endParaRPr>
          </a:p>
          <a:p>
            <a:pPr marL="1728000" lvl="3" indent="-216000" algn="l" defTabSz="914400">
              <a:lnSpc>
                <a:spcPct val="90000"/>
              </a:lnSpc>
              <a:spcBef>
                <a:spcPts val="499"/>
              </a:spcBef>
              <a:buClr>
                <a:srgbClr val="000000"/>
              </a:buClr>
              <a:buSzPct val="75000"/>
              <a:buFont typeface="Symbol" charset="2"/>
              <a:buChar char=""/>
            </a:pPr>
            <a:r>
              <a:rPr lang="es-CL" sz="1800" b="0" u="none" strike="noStrike">
                <a:solidFill>
                  <a:schemeClr val="dk1"/>
                </a:solidFill>
                <a:effectLst/>
                <a:uFillTx/>
                <a:latin typeface="Calibri"/>
              </a:rPr>
              <a:t>Cuarto nivel del esquema</a:t>
            </a:r>
            <a:endParaRPr lang="es-CL" sz="1800" b="0" u="none" strike="noStrike">
              <a:solidFill>
                <a:schemeClr val="dk1"/>
              </a:solidFill>
              <a:effectLst/>
              <a:uFillTx/>
              <a:latin typeface="Calibri"/>
            </a:endParaRPr>
          </a:p>
          <a:p>
            <a:pPr marL="2160000" lvl="4" indent="-216000" algn="l" defTabSz="914400">
              <a:lnSpc>
                <a:spcPct val="90000"/>
              </a:lnSpc>
              <a:spcBef>
                <a:spcPts val="499"/>
              </a:spcBef>
              <a:buClr>
                <a:srgbClr val="000000"/>
              </a:buClr>
              <a:buSzPct val="45000"/>
              <a:buFont typeface="Wingdings" charset="2"/>
              <a:buChar char=""/>
            </a:pPr>
            <a:r>
              <a:rPr lang="es-CL" sz="1800" b="0" u="none" strike="noStrike">
                <a:solidFill>
                  <a:schemeClr val="dk1"/>
                </a:solidFill>
                <a:effectLst/>
                <a:uFillTx/>
                <a:latin typeface="Calibri"/>
              </a:rPr>
              <a:t>Quinto nivel del esquema</a:t>
            </a:r>
            <a:endParaRPr lang="es-CL" sz="1800" b="0" u="none" strike="noStrike">
              <a:solidFill>
                <a:schemeClr val="dk1"/>
              </a:solidFill>
              <a:effectLst/>
              <a:uFillTx/>
              <a:latin typeface="Calibri"/>
            </a:endParaRPr>
          </a:p>
          <a:p>
            <a:pPr marL="2592000" lvl="5"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Sexto nivel del esquema</a:t>
            </a:r>
            <a:endParaRPr lang="es-CL" sz="2000" b="0" u="none" strike="noStrike">
              <a:solidFill>
                <a:schemeClr val="dk1"/>
              </a:solidFill>
              <a:effectLst/>
              <a:uFillTx/>
              <a:latin typeface="Calibri"/>
            </a:endParaRPr>
          </a:p>
          <a:p>
            <a:pPr marL="3024000" lvl="6" indent="-216000" algn="l" defTabSz="914400">
              <a:lnSpc>
                <a:spcPct val="90000"/>
              </a:lnSpc>
              <a:spcBef>
                <a:spcPts val="283"/>
              </a:spcBef>
              <a:buClr>
                <a:srgbClr val="000000"/>
              </a:buClr>
              <a:buSzPct val="45000"/>
              <a:buFont typeface="Wingdings" charset="2"/>
              <a:buChar char=""/>
            </a:pPr>
            <a:r>
              <a:rPr lang="es-CL" sz="2000" b="0" u="none" strike="noStrike">
                <a:solidFill>
                  <a:schemeClr val="dk1"/>
                </a:solidFill>
                <a:effectLst/>
                <a:uFillTx/>
                <a:latin typeface="Calibri"/>
              </a:rPr>
              <a:t>Séptimo nivel del esquema</a:t>
            </a:r>
            <a:endParaRPr lang="es-CL" sz="2000" b="0" u="none" strike="noStrike">
              <a:solidFill>
                <a:schemeClr val="dk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ítulo y texto vertical">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t>
            </a:r>
            <a:r>
              <a:rPr lang="es-ES" sz="4400" b="0" u="none" strike="noStrike">
                <a:solidFill>
                  <a:schemeClr val="dk1"/>
                </a:solidFill>
                <a:effectLst/>
                <a:uFillTx/>
                <a:latin typeface="Calibri Light"/>
              </a:rPr>
              <a:t>a </a:t>
            </a:r>
            <a:r>
              <a:rPr lang="es-ES" sz="4400" b="0" u="none" strike="noStrike">
                <a:solidFill>
                  <a:schemeClr val="dk1"/>
                </a:solidFill>
                <a:effectLst/>
                <a:uFillTx/>
                <a:latin typeface="Calibri Light"/>
              </a:rPr>
              <a:t>clic </a:t>
            </a:r>
            <a:r>
              <a:rPr lang="es-ES" sz="4400" b="0" u="none" strike="noStrike">
                <a:solidFill>
                  <a:schemeClr val="dk1"/>
                </a:solidFill>
                <a:effectLst/>
                <a:uFillTx/>
                <a:latin typeface="Calibri Light"/>
              </a:rPr>
              <a:t>para </a:t>
            </a:r>
            <a:r>
              <a:rPr lang="es-ES" sz="4400" b="0" u="none" strike="noStrike">
                <a:solidFill>
                  <a:schemeClr val="dk1"/>
                </a:solidFill>
                <a:effectLst/>
                <a:uFillTx/>
                <a:latin typeface="Calibri Light"/>
              </a:rPr>
              <a:t>mod</a:t>
            </a:r>
            <a:r>
              <a:rPr lang="es-ES" sz="4400" b="0" u="none" strike="noStrike">
                <a:solidFill>
                  <a:schemeClr val="dk1"/>
                </a:solidFill>
                <a:effectLst/>
                <a:uFillTx/>
                <a:latin typeface="Calibri Light"/>
              </a:rPr>
              <a:t>ifica</a:t>
            </a:r>
            <a:r>
              <a:rPr lang="es-ES" sz="4400" b="0" u="none" strike="noStrike">
                <a:solidFill>
                  <a:schemeClr val="dk1"/>
                </a:solidFill>
                <a:effectLst/>
                <a:uFillTx/>
                <a:latin typeface="Calibri Light"/>
              </a:rPr>
              <a:t>r el </a:t>
            </a:r>
            <a:r>
              <a:rPr lang="es-ES" sz="4400" b="0" u="none" strike="noStrike">
                <a:solidFill>
                  <a:schemeClr val="dk1"/>
                </a:solidFill>
                <a:effectLst/>
                <a:uFillTx/>
                <a:latin typeface="Calibri Light"/>
              </a:rPr>
              <a:t>estil</a:t>
            </a:r>
            <a:r>
              <a:rPr lang="es-ES" sz="4400" b="0" u="none" strike="noStrike">
                <a:solidFill>
                  <a:schemeClr val="dk1"/>
                </a:solidFill>
                <a:effectLst/>
                <a:uFillTx/>
                <a:latin typeface="Calibri Light"/>
              </a:rPr>
              <a:t>o de </a:t>
            </a:r>
            <a:r>
              <a:rPr lang="es-ES" sz="4400" b="0" u="none" strike="noStrike">
                <a:solidFill>
                  <a:schemeClr val="dk1"/>
                </a:solidFill>
                <a:effectLst/>
                <a:uFillTx/>
                <a:latin typeface="Calibri Light"/>
              </a:rPr>
              <a:t>títul</a:t>
            </a:r>
            <a:r>
              <a:rPr lang="es-ES" sz="4400" b="0" u="none" strike="noStrike">
                <a:solidFill>
                  <a:schemeClr val="dk1"/>
                </a:solidFill>
                <a:effectLst/>
                <a:uFillTx/>
                <a:latin typeface="Calibri Light"/>
              </a:rPr>
              <a:t>o </a:t>
            </a:r>
            <a:r>
              <a:rPr lang="es-ES" sz="4400" b="0" u="none" strike="noStrike">
                <a:solidFill>
                  <a:schemeClr val="dk1"/>
                </a:solidFill>
                <a:effectLst/>
                <a:uFillTx/>
                <a:latin typeface="Calibri Light"/>
              </a:rPr>
              <a:t>del </a:t>
            </a:r>
            <a:r>
              <a:rPr lang="es-ES" sz="4400" b="0" u="none" strike="noStrike">
                <a:solidFill>
                  <a:schemeClr val="dk1"/>
                </a:solidFill>
                <a:effectLst/>
                <a:uFillTx/>
                <a:latin typeface="Calibri Light"/>
              </a:rPr>
              <a:t>patr</a:t>
            </a:r>
            <a:r>
              <a:rPr lang="es-ES" sz="4400" b="0" u="none" strike="noStrike">
                <a:solidFill>
                  <a:schemeClr val="dk1"/>
                </a:solidFill>
                <a:effectLst/>
                <a:uFillTx/>
                <a:latin typeface="Calibri Light"/>
              </a:rPr>
              <a:t>ón</a:t>
            </a:r>
            <a:endParaRPr lang="es-CL" sz="4400" b="0" u="none" strike="noStrike">
              <a:solidFill>
                <a:schemeClr val="dk1"/>
              </a:solidFill>
              <a:effectLst/>
              <a:uFillTx/>
              <a:latin typeface="Calibri Light"/>
            </a:endParaRPr>
          </a:p>
        </p:txBody>
      </p:sp>
      <p:sp>
        <p:nvSpPr>
          <p:cNvPr id="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9" name="PlaceHolder 3"/>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10" name="PlaceHolder 4"/>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11" name="PlaceHolder 5"/>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37EB4F6D-ED0B-497A-AEC6-C9BDD40FE31F}"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Título vertical y texto">
    <p:bg>
      <p:bgPr>
        <a:solidFill>
          <a:srgbClr val="FFFFFF"/>
        </a:solidFill>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8724960" y="365040"/>
            <a:ext cx="2628720" cy="5811480"/>
          </a:xfrm>
          <a:prstGeom prst="rect">
            <a:avLst/>
          </a:prstGeom>
          <a:noFill/>
          <a:ln w="0">
            <a:noFill/>
          </a:ln>
        </p:spPr>
        <p:txBody>
          <a:bodyPr lIns="91440" tIns="45720" rIns="91440" bIns="45720" anchor="ctr" vert="eaVert">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t>
            </a:r>
            <a:r>
              <a:rPr lang="es-ES" sz="4400" b="0" u="none" strike="noStrike">
                <a:solidFill>
                  <a:schemeClr val="dk1"/>
                </a:solidFill>
                <a:effectLst/>
                <a:uFillTx/>
                <a:latin typeface="Calibri Light"/>
              </a:rPr>
              <a:t>a</a:t>
            </a:r>
            <a:r>
              <a:rPr lang="es-ES" sz="4400" b="0" u="none" strike="noStrike">
                <a:solidFill>
                  <a:schemeClr val="dk1"/>
                </a:solidFill>
                <a:effectLst/>
                <a:uFillTx/>
                <a:latin typeface="Calibri Light"/>
              </a:rPr>
              <a:t>g</a:t>
            </a:r>
            <a:r>
              <a:rPr lang="es-ES" sz="4400" b="0" u="none" strike="noStrike">
                <a:solidFill>
                  <a:schemeClr val="dk1"/>
                </a:solidFill>
                <a:effectLst/>
                <a:uFillTx/>
                <a:latin typeface="Calibri Light"/>
              </a:rPr>
              <a:t>a </a:t>
            </a:r>
            <a:r>
              <a:rPr lang="es-ES" sz="4400" b="0" u="none" strike="noStrike">
                <a:solidFill>
                  <a:schemeClr val="dk1"/>
                </a:solidFill>
                <a:effectLst/>
                <a:uFillTx/>
                <a:latin typeface="Calibri Light"/>
              </a:rPr>
              <a:t>c</a:t>
            </a:r>
            <a:r>
              <a:rPr lang="es-ES" sz="4400" b="0" u="none" strike="noStrike">
                <a:solidFill>
                  <a:schemeClr val="dk1"/>
                </a:solidFill>
                <a:effectLst/>
                <a:uFillTx/>
                <a:latin typeface="Calibri Light"/>
              </a:rPr>
              <a:t>li</a:t>
            </a:r>
            <a:r>
              <a:rPr lang="es-ES" sz="4400" b="0" u="none" strike="noStrike">
                <a:solidFill>
                  <a:schemeClr val="dk1"/>
                </a:solidFill>
                <a:effectLst/>
                <a:uFillTx/>
                <a:latin typeface="Calibri Light"/>
              </a:rPr>
              <a:t>c </a:t>
            </a:r>
            <a:r>
              <a:rPr lang="es-ES" sz="4400" b="0" u="none" strike="noStrike">
                <a:solidFill>
                  <a:schemeClr val="dk1"/>
                </a:solidFill>
                <a:effectLst/>
                <a:uFillTx/>
                <a:latin typeface="Calibri Light"/>
              </a:rPr>
              <a:t>p</a:t>
            </a:r>
            <a:r>
              <a:rPr lang="es-ES" sz="4400" b="0" u="none" strike="noStrike">
                <a:solidFill>
                  <a:schemeClr val="dk1"/>
                </a:solidFill>
                <a:effectLst/>
                <a:uFillTx/>
                <a:latin typeface="Calibri Light"/>
              </a:rPr>
              <a:t>a</a:t>
            </a:r>
            <a:r>
              <a:rPr lang="es-ES" sz="4400" b="0" u="none" strike="noStrike">
                <a:solidFill>
                  <a:schemeClr val="dk1"/>
                </a:solidFill>
                <a:effectLst/>
                <a:uFillTx/>
                <a:latin typeface="Calibri Light"/>
              </a:rPr>
              <a:t>r</a:t>
            </a:r>
            <a:r>
              <a:rPr lang="es-ES" sz="4400" b="0" u="none" strike="noStrike">
                <a:solidFill>
                  <a:schemeClr val="dk1"/>
                </a:solidFill>
                <a:effectLst/>
                <a:uFillTx/>
                <a:latin typeface="Calibri Light"/>
              </a:rPr>
              <a:t>a </a:t>
            </a:r>
            <a:r>
              <a:rPr lang="es-ES" sz="4400" b="0" u="none" strike="noStrike">
                <a:solidFill>
                  <a:schemeClr val="dk1"/>
                </a:solidFill>
                <a:effectLst/>
                <a:uFillTx/>
                <a:latin typeface="Calibri Light"/>
              </a:rPr>
              <a:t>m</a:t>
            </a:r>
            <a:r>
              <a:rPr lang="es-ES" sz="4400" b="0" u="none" strike="noStrike">
                <a:solidFill>
                  <a:schemeClr val="dk1"/>
                </a:solidFill>
                <a:effectLst/>
                <a:uFillTx/>
                <a:latin typeface="Calibri Light"/>
              </a:rPr>
              <a:t>o</a:t>
            </a:r>
            <a:r>
              <a:rPr lang="es-ES" sz="4400" b="0" u="none" strike="noStrike">
                <a:solidFill>
                  <a:schemeClr val="dk1"/>
                </a:solidFill>
                <a:effectLst/>
                <a:uFillTx/>
                <a:latin typeface="Calibri Light"/>
              </a:rPr>
              <a:t>d</a:t>
            </a:r>
            <a:r>
              <a:rPr lang="es-ES" sz="4400" b="0" u="none" strike="noStrike">
                <a:solidFill>
                  <a:schemeClr val="dk1"/>
                </a:solidFill>
                <a:effectLst/>
                <a:uFillTx/>
                <a:latin typeface="Calibri Light"/>
              </a:rPr>
              <a:t>if</a:t>
            </a:r>
            <a:r>
              <a:rPr lang="es-ES" sz="4400" b="0" u="none" strike="noStrike">
                <a:solidFill>
                  <a:schemeClr val="dk1"/>
                </a:solidFill>
                <a:effectLst/>
                <a:uFillTx/>
                <a:latin typeface="Calibri Light"/>
              </a:rPr>
              <a:t>i</a:t>
            </a:r>
            <a:r>
              <a:rPr lang="es-ES" sz="4400" b="0" u="none" strike="noStrike">
                <a:solidFill>
                  <a:schemeClr val="dk1"/>
                </a:solidFill>
                <a:effectLst/>
                <a:uFillTx/>
                <a:latin typeface="Calibri Light"/>
              </a:rPr>
              <a:t>c</a:t>
            </a:r>
            <a:r>
              <a:rPr lang="es-ES" sz="4400" b="0" u="none" strike="noStrike">
                <a:solidFill>
                  <a:schemeClr val="dk1"/>
                </a:solidFill>
                <a:effectLst/>
                <a:uFillTx/>
                <a:latin typeface="Calibri Light"/>
              </a:rPr>
              <a:t>a</a:t>
            </a:r>
            <a:r>
              <a:rPr lang="es-ES" sz="4400" b="0" u="none" strike="noStrike">
                <a:solidFill>
                  <a:schemeClr val="dk1"/>
                </a:solidFill>
                <a:effectLst/>
                <a:uFillTx/>
                <a:latin typeface="Calibri Light"/>
              </a:rPr>
              <a:t>r </a:t>
            </a:r>
            <a:r>
              <a:rPr lang="es-ES" sz="4400" b="0" u="none" strike="noStrike">
                <a:solidFill>
                  <a:schemeClr val="dk1"/>
                </a:solidFill>
                <a:effectLst/>
                <a:uFillTx/>
                <a:latin typeface="Calibri Light"/>
              </a:rPr>
              <a:t>e</a:t>
            </a:r>
            <a:r>
              <a:rPr lang="es-ES" sz="4400" b="0" u="none" strike="noStrike">
                <a:solidFill>
                  <a:schemeClr val="dk1"/>
                </a:solidFill>
                <a:effectLst/>
                <a:uFillTx/>
                <a:latin typeface="Calibri Light"/>
              </a:rPr>
              <a:t>l </a:t>
            </a:r>
            <a:r>
              <a:rPr lang="es-ES" sz="4400" b="0" u="none" strike="noStrike">
                <a:solidFill>
                  <a:schemeClr val="dk1"/>
                </a:solidFill>
                <a:effectLst/>
                <a:uFillTx/>
                <a:latin typeface="Calibri Light"/>
              </a:rPr>
              <a:t>e</a:t>
            </a:r>
            <a:r>
              <a:rPr lang="es-ES" sz="4400" b="0" u="none" strike="noStrike">
                <a:solidFill>
                  <a:schemeClr val="dk1"/>
                </a:solidFill>
                <a:effectLst/>
                <a:uFillTx/>
                <a:latin typeface="Calibri Light"/>
              </a:rPr>
              <a:t>s</a:t>
            </a:r>
            <a:r>
              <a:rPr lang="es-ES" sz="4400" b="0" u="none" strike="noStrike">
                <a:solidFill>
                  <a:schemeClr val="dk1"/>
                </a:solidFill>
                <a:effectLst/>
                <a:uFillTx/>
                <a:latin typeface="Calibri Light"/>
              </a:rPr>
              <a:t>ti</a:t>
            </a:r>
            <a:r>
              <a:rPr lang="es-ES" sz="4400" b="0" u="none" strike="noStrike">
                <a:solidFill>
                  <a:schemeClr val="dk1"/>
                </a:solidFill>
                <a:effectLst/>
                <a:uFillTx/>
                <a:latin typeface="Calibri Light"/>
              </a:rPr>
              <a:t>l</a:t>
            </a:r>
            <a:r>
              <a:rPr lang="es-ES" sz="4400" b="0" u="none" strike="noStrike">
                <a:solidFill>
                  <a:schemeClr val="dk1"/>
                </a:solidFill>
                <a:effectLst/>
                <a:uFillTx/>
                <a:latin typeface="Calibri Light"/>
              </a:rPr>
              <a:t>o </a:t>
            </a:r>
            <a:r>
              <a:rPr lang="es-ES" sz="4400" b="0" u="none" strike="noStrike">
                <a:solidFill>
                  <a:schemeClr val="dk1"/>
                </a:solidFill>
                <a:effectLst/>
                <a:uFillTx/>
                <a:latin typeface="Calibri Light"/>
              </a:rPr>
              <a:t>d</a:t>
            </a:r>
            <a:r>
              <a:rPr lang="es-ES" sz="4400" b="0" u="none" strike="noStrike">
                <a:solidFill>
                  <a:schemeClr val="dk1"/>
                </a:solidFill>
                <a:effectLst/>
                <a:uFillTx/>
                <a:latin typeface="Calibri Light"/>
              </a:rPr>
              <a:t>e </a:t>
            </a:r>
            <a:r>
              <a:rPr lang="es-ES" sz="4400" b="0" u="none" strike="noStrike">
                <a:solidFill>
                  <a:schemeClr val="dk1"/>
                </a:solidFill>
                <a:effectLst/>
                <a:uFillTx/>
                <a:latin typeface="Calibri Light"/>
              </a:rPr>
              <a:t>tí</a:t>
            </a:r>
            <a:r>
              <a:rPr lang="es-ES" sz="4400" b="0" u="none" strike="noStrike">
                <a:solidFill>
                  <a:schemeClr val="dk1"/>
                </a:solidFill>
                <a:effectLst/>
                <a:uFillTx/>
                <a:latin typeface="Calibri Light"/>
              </a:rPr>
              <a:t>t</a:t>
            </a:r>
            <a:r>
              <a:rPr lang="es-ES" sz="4400" b="0" u="none" strike="noStrike">
                <a:solidFill>
                  <a:schemeClr val="dk1"/>
                </a:solidFill>
                <a:effectLst/>
                <a:uFillTx/>
                <a:latin typeface="Calibri Light"/>
              </a:rPr>
              <a:t>u</a:t>
            </a:r>
            <a:r>
              <a:rPr lang="es-ES" sz="4400" b="0" u="none" strike="noStrike">
                <a:solidFill>
                  <a:schemeClr val="dk1"/>
                </a:solidFill>
                <a:effectLst/>
                <a:uFillTx/>
                <a:latin typeface="Calibri Light"/>
              </a:rPr>
              <a:t>l</a:t>
            </a:r>
            <a:r>
              <a:rPr lang="es-ES" sz="4400" b="0" u="none" strike="noStrike">
                <a:solidFill>
                  <a:schemeClr val="dk1"/>
                </a:solidFill>
                <a:effectLst/>
                <a:uFillTx/>
                <a:latin typeface="Calibri Light"/>
              </a:rPr>
              <a:t>o </a:t>
            </a:r>
            <a:r>
              <a:rPr lang="es-ES" sz="4400" b="0" u="none" strike="noStrike">
                <a:solidFill>
                  <a:schemeClr val="dk1"/>
                </a:solidFill>
                <a:effectLst/>
                <a:uFillTx/>
                <a:latin typeface="Calibri Light"/>
              </a:rPr>
              <a:t>d</a:t>
            </a:r>
            <a:r>
              <a:rPr lang="es-ES" sz="4400" b="0" u="none" strike="noStrike">
                <a:solidFill>
                  <a:schemeClr val="dk1"/>
                </a:solidFill>
                <a:effectLst/>
                <a:uFillTx/>
                <a:latin typeface="Calibri Light"/>
              </a:rPr>
              <a:t>e</a:t>
            </a:r>
            <a:r>
              <a:rPr lang="es-ES" sz="4400" b="0" u="none" strike="noStrike">
                <a:solidFill>
                  <a:schemeClr val="dk1"/>
                </a:solidFill>
                <a:effectLst/>
                <a:uFillTx/>
                <a:latin typeface="Calibri Light"/>
              </a:rPr>
              <a:t>l </a:t>
            </a:r>
            <a:r>
              <a:rPr lang="es-ES" sz="4400" b="0" u="none" strike="noStrike">
                <a:solidFill>
                  <a:schemeClr val="dk1"/>
                </a:solidFill>
                <a:effectLst/>
                <a:uFillTx/>
                <a:latin typeface="Calibri Light"/>
              </a:rPr>
              <a:t>p</a:t>
            </a:r>
            <a:r>
              <a:rPr lang="es-ES" sz="4400" b="0" u="none" strike="noStrike">
                <a:solidFill>
                  <a:schemeClr val="dk1"/>
                </a:solidFill>
                <a:effectLst/>
                <a:uFillTx/>
                <a:latin typeface="Calibri Light"/>
              </a:rPr>
              <a:t>a</a:t>
            </a:r>
            <a:r>
              <a:rPr lang="es-ES" sz="4400" b="0" u="none" strike="noStrike">
                <a:solidFill>
                  <a:schemeClr val="dk1"/>
                </a:solidFill>
                <a:effectLst/>
                <a:uFillTx/>
                <a:latin typeface="Calibri Light"/>
              </a:rPr>
              <a:t>tr</a:t>
            </a:r>
            <a:r>
              <a:rPr lang="es-ES" sz="4400" b="0" u="none" strike="noStrike">
                <a:solidFill>
                  <a:schemeClr val="dk1"/>
                </a:solidFill>
                <a:effectLst/>
                <a:uFillTx/>
                <a:latin typeface="Calibri Light"/>
              </a:rPr>
              <a:t>ó</a:t>
            </a:r>
            <a:r>
              <a:rPr lang="es-ES" sz="4400" b="0" u="none" strike="noStrike">
                <a:solidFill>
                  <a:schemeClr val="dk1"/>
                </a:solidFill>
                <a:effectLst/>
                <a:uFillTx/>
                <a:latin typeface="Calibri Light"/>
              </a:rPr>
              <a:t>n</a:t>
            </a:r>
            <a:endParaRPr lang="es-CL" sz="4400" b="0" u="none" strike="noStrike">
              <a:solidFill>
                <a:schemeClr val="dk1"/>
              </a:solidFill>
              <a:effectLst/>
              <a:uFillTx/>
              <a:latin typeface="Calibri Light"/>
            </a:endParaRPr>
          </a:p>
        </p:txBody>
      </p:sp>
      <p:sp>
        <p:nvSpPr>
          <p:cNvPr id="13" name="PlaceHolder 2"/>
          <p:cNvSpPr>
            <a:spLocks noGrp="1"/>
          </p:cNvSpPr>
          <p:nvPr>
            <p:ph type="body"/>
          </p:nvPr>
        </p:nvSpPr>
        <p:spPr>
          <a:xfrm>
            <a:off x="838080" y="365040"/>
            <a:ext cx="7733880" cy="5811480"/>
          </a:xfrm>
          <a:prstGeom prst="rect">
            <a:avLst/>
          </a:prstGeom>
          <a:noFill/>
          <a:ln w="0">
            <a:noFill/>
          </a:ln>
        </p:spPr>
        <p:txBody>
          <a:bodyPr lIns="91440" tIns="45720" rIns="91440" bIns="45720" anchor="t" vert="eaVe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14"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15"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16"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09B9A68F-FC65-44FE-A849-286B6916472D}"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ítulo y objetos">
    <p:bg>
      <p:bgPr>
        <a:solidFill>
          <a:srgbClr val="FFFFFF"/>
        </a:solidFill>
      </p:bgPr>
    </p:bg>
    <p:spTree>
      <p:nvGrpSpPr>
        <p:cNvPr id="1" name=""/>
        <p:cNvGrpSpPr/>
        <p:nvPr/>
      </p:nvGrpSpPr>
      <p:grpSpPr>
        <a:xfrm>
          <a:off x="0" y="0"/>
          <a:ext cx="0" cy="0"/>
          <a:chOff x="0" y="0"/>
          <a:chExt cx="0" cy="0"/>
        </a:xfrm>
      </p:grpSpPr>
      <p:sp>
        <p:nvSpPr>
          <p:cNvPr id="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t>
            </a:r>
            <a:r>
              <a:rPr lang="es-ES" sz="4400" b="0" u="none" strike="noStrike">
                <a:solidFill>
                  <a:schemeClr val="dk1"/>
                </a:solidFill>
                <a:effectLst/>
                <a:uFillTx/>
                <a:latin typeface="Calibri Light"/>
              </a:rPr>
              <a:t>a </a:t>
            </a:r>
            <a:r>
              <a:rPr lang="es-ES" sz="4400" b="0" u="none" strike="noStrike">
                <a:solidFill>
                  <a:schemeClr val="dk1"/>
                </a:solidFill>
                <a:effectLst/>
                <a:uFillTx/>
                <a:latin typeface="Calibri Light"/>
              </a:rPr>
              <a:t>clic </a:t>
            </a:r>
            <a:r>
              <a:rPr lang="es-ES" sz="4400" b="0" u="none" strike="noStrike">
                <a:solidFill>
                  <a:schemeClr val="dk1"/>
                </a:solidFill>
                <a:effectLst/>
                <a:uFillTx/>
                <a:latin typeface="Calibri Light"/>
              </a:rPr>
              <a:t>para </a:t>
            </a:r>
            <a:r>
              <a:rPr lang="es-ES" sz="4400" b="0" u="none" strike="noStrike">
                <a:solidFill>
                  <a:schemeClr val="dk1"/>
                </a:solidFill>
                <a:effectLst/>
                <a:uFillTx/>
                <a:latin typeface="Calibri Light"/>
              </a:rPr>
              <a:t>mod</a:t>
            </a:r>
            <a:r>
              <a:rPr lang="es-ES" sz="4400" b="0" u="none" strike="noStrike">
                <a:solidFill>
                  <a:schemeClr val="dk1"/>
                </a:solidFill>
                <a:effectLst/>
                <a:uFillTx/>
                <a:latin typeface="Calibri Light"/>
              </a:rPr>
              <a:t>ifica</a:t>
            </a:r>
            <a:r>
              <a:rPr lang="es-ES" sz="4400" b="0" u="none" strike="noStrike">
                <a:solidFill>
                  <a:schemeClr val="dk1"/>
                </a:solidFill>
                <a:effectLst/>
                <a:uFillTx/>
                <a:latin typeface="Calibri Light"/>
              </a:rPr>
              <a:t>r el </a:t>
            </a:r>
            <a:r>
              <a:rPr lang="es-ES" sz="4400" b="0" u="none" strike="noStrike">
                <a:solidFill>
                  <a:schemeClr val="dk1"/>
                </a:solidFill>
                <a:effectLst/>
                <a:uFillTx/>
                <a:latin typeface="Calibri Light"/>
              </a:rPr>
              <a:t>estil</a:t>
            </a:r>
            <a:r>
              <a:rPr lang="es-ES" sz="4400" b="0" u="none" strike="noStrike">
                <a:solidFill>
                  <a:schemeClr val="dk1"/>
                </a:solidFill>
                <a:effectLst/>
                <a:uFillTx/>
                <a:latin typeface="Calibri Light"/>
              </a:rPr>
              <a:t>o de </a:t>
            </a:r>
            <a:r>
              <a:rPr lang="es-ES" sz="4400" b="0" u="none" strike="noStrike">
                <a:solidFill>
                  <a:schemeClr val="dk1"/>
                </a:solidFill>
                <a:effectLst/>
                <a:uFillTx/>
                <a:latin typeface="Calibri Light"/>
              </a:rPr>
              <a:t>títul</a:t>
            </a:r>
            <a:r>
              <a:rPr lang="es-ES" sz="4400" b="0" u="none" strike="noStrike">
                <a:solidFill>
                  <a:schemeClr val="dk1"/>
                </a:solidFill>
                <a:effectLst/>
                <a:uFillTx/>
                <a:latin typeface="Calibri Light"/>
              </a:rPr>
              <a:t>o </a:t>
            </a:r>
            <a:r>
              <a:rPr lang="es-ES" sz="4400" b="0" u="none" strike="noStrike">
                <a:solidFill>
                  <a:schemeClr val="dk1"/>
                </a:solidFill>
                <a:effectLst/>
                <a:uFillTx/>
                <a:latin typeface="Calibri Light"/>
              </a:rPr>
              <a:t>del </a:t>
            </a:r>
            <a:r>
              <a:rPr lang="es-ES" sz="4400" b="0" u="none" strike="noStrike">
                <a:solidFill>
                  <a:schemeClr val="dk1"/>
                </a:solidFill>
                <a:effectLst/>
                <a:uFillTx/>
                <a:latin typeface="Calibri Light"/>
              </a:rPr>
              <a:t>patr</a:t>
            </a:r>
            <a:r>
              <a:rPr lang="es-ES" sz="4400" b="0" u="none" strike="noStrike">
                <a:solidFill>
                  <a:schemeClr val="dk1"/>
                </a:solidFill>
                <a:effectLst/>
                <a:uFillTx/>
                <a:latin typeface="Calibri Light"/>
              </a:rPr>
              <a:t>ón</a:t>
            </a:r>
            <a:endParaRPr lang="es-CL" sz="4400" b="0" u="none" strike="noStrike">
              <a:solidFill>
                <a:schemeClr val="dk1"/>
              </a:solidFill>
              <a:effectLst/>
              <a:uFillTx/>
              <a:latin typeface="Calibri Light"/>
            </a:endParaRPr>
          </a:p>
        </p:txBody>
      </p:sp>
      <p:sp>
        <p:nvSpPr>
          <p:cNvPr id="18"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19"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20"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21"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FDD6485F-E573-4C8B-BBEA-BA29E089166E}"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cabezado de sección">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es-ES" sz="6000" b="0" u="none" strike="noStrike">
                <a:solidFill>
                  <a:schemeClr val="dk1"/>
                </a:solidFill>
                <a:effectLst/>
                <a:uFillTx/>
                <a:latin typeface="Calibri Light"/>
              </a:defRPr>
            </a:lvl1pPr>
          </a:lstStyle>
          <a:p>
            <a:pPr indent="0" algn="l" defTabSz="914400">
              <a:lnSpc>
                <a:spcPct val="90000"/>
              </a:lnSpc>
              <a:buNone/>
            </a:pPr>
            <a:r>
              <a:rPr lang="es-ES" sz="6000" b="0" u="none" strike="noStrike">
                <a:solidFill>
                  <a:schemeClr val="dk1"/>
                </a:solidFill>
                <a:effectLst/>
                <a:uFillTx/>
                <a:latin typeface="Calibri Light"/>
              </a:rPr>
              <a:t>Ha</a:t>
            </a:r>
            <a:r>
              <a:rPr lang="es-ES" sz="6000" b="0" u="none" strike="noStrike">
                <a:solidFill>
                  <a:schemeClr val="dk1"/>
                </a:solidFill>
                <a:effectLst/>
                <a:uFillTx/>
                <a:latin typeface="Calibri Light"/>
              </a:rPr>
              <a:t>ga </a:t>
            </a:r>
            <a:r>
              <a:rPr lang="es-ES" sz="6000" b="0" u="none" strike="noStrike">
                <a:solidFill>
                  <a:schemeClr val="dk1"/>
                </a:solidFill>
                <a:effectLst/>
                <a:uFillTx/>
                <a:latin typeface="Calibri Light"/>
              </a:rPr>
              <a:t>clic </a:t>
            </a:r>
            <a:r>
              <a:rPr lang="es-ES" sz="6000" b="0" u="none" strike="noStrike">
                <a:solidFill>
                  <a:schemeClr val="dk1"/>
                </a:solidFill>
                <a:effectLst/>
                <a:uFillTx/>
                <a:latin typeface="Calibri Light"/>
              </a:rPr>
              <a:t>par</a:t>
            </a:r>
            <a:r>
              <a:rPr lang="es-ES" sz="6000" b="0" u="none" strike="noStrike">
                <a:solidFill>
                  <a:schemeClr val="dk1"/>
                </a:solidFill>
                <a:effectLst/>
                <a:uFillTx/>
                <a:latin typeface="Calibri Light"/>
              </a:rPr>
              <a:t>a </a:t>
            </a:r>
            <a:r>
              <a:rPr lang="es-ES" sz="6000" b="0" u="none" strike="noStrike">
                <a:solidFill>
                  <a:schemeClr val="dk1"/>
                </a:solidFill>
                <a:effectLst/>
                <a:uFillTx/>
                <a:latin typeface="Calibri Light"/>
              </a:rPr>
              <a:t>mo</a:t>
            </a:r>
            <a:r>
              <a:rPr lang="es-ES" sz="6000" b="0" u="none" strike="noStrike">
                <a:solidFill>
                  <a:schemeClr val="dk1"/>
                </a:solidFill>
                <a:effectLst/>
                <a:uFillTx/>
                <a:latin typeface="Calibri Light"/>
              </a:rPr>
              <a:t>difi</a:t>
            </a:r>
            <a:r>
              <a:rPr lang="es-ES" sz="6000" b="0" u="none" strike="noStrike">
                <a:solidFill>
                  <a:schemeClr val="dk1"/>
                </a:solidFill>
                <a:effectLst/>
                <a:uFillTx/>
                <a:latin typeface="Calibri Light"/>
              </a:rPr>
              <a:t>car </a:t>
            </a:r>
            <a:r>
              <a:rPr lang="es-ES" sz="6000" b="0" u="none" strike="noStrike">
                <a:solidFill>
                  <a:schemeClr val="dk1"/>
                </a:solidFill>
                <a:effectLst/>
                <a:uFillTx/>
                <a:latin typeface="Calibri Light"/>
              </a:rPr>
              <a:t>el </a:t>
            </a:r>
            <a:r>
              <a:rPr lang="es-ES" sz="6000" b="0" u="none" strike="noStrike">
                <a:solidFill>
                  <a:schemeClr val="dk1"/>
                </a:solidFill>
                <a:effectLst/>
                <a:uFillTx/>
                <a:latin typeface="Calibri Light"/>
              </a:rPr>
              <a:t>est</a:t>
            </a:r>
            <a:r>
              <a:rPr lang="es-ES" sz="6000" b="0" u="none" strike="noStrike">
                <a:solidFill>
                  <a:schemeClr val="dk1"/>
                </a:solidFill>
                <a:effectLst/>
                <a:uFillTx/>
                <a:latin typeface="Calibri Light"/>
              </a:rPr>
              <a:t>ilo </a:t>
            </a:r>
            <a:r>
              <a:rPr lang="es-ES" sz="6000" b="0" u="none" strike="noStrike">
                <a:solidFill>
                  <a:schemeClr val="dk1"/>
                </a:solidFill>
                <a:effectLst/>
                <a:uFillTx/>
                <a:latin typeface="Calibri Light"/>
              </a:rPr>
              <a:t>de </a:t>
            </a:r>
            <a:r>
              <a:rPr lang="es-ES" sz="6000" b="0" u="none" strike="noStrike">
                <a:solidFill>
                  <a:schemeClr val="dk1"/>
                </a:solidFill>
                <a:effectLst/>
                <a:uFillTx/>
                <a:latin typeface="Calibri Light"/>
              </a:rPr>
              <a:t>tít</a:t>
            </a:r>
            <a:r>
              <a:rPr lang="es-ES" sz="6000" b="0" u="none" strike="noStrike">
                <a:solidFill>
                  <a:schemeClr val="dk1"/>
                </a:solidFill>
                <a:effectLst/>
                <a:uFillTx/>
                <a:latin typeface="Calibri Light"/>
              </a:rPr>
              <a:t>ulo </a:t>
            </a:r>
            <a:r>
              <a:rPr lang="es-ES" sz="6000" b="0" u="none" strike="noStrike">
                <a:solidFill>
                  <a:schemeClr val="dk1"/>
                </a:solidFill>
                <a:effectLst/>
                <a:uFillTx/>
                <a:latin typeface="Calibri Light"/>
              </a:rPr>
              <a:t>del </a:t>
            </a:r>
            <a:r>
              <a:rPr lang="es-ES" sz="6000" b="0" u="none" strike="noStrike">
                <a:solidFill>
                  <a:schemeClr val="dk1"/>
                </a:solidFill>
                <a:effectLst/>
                <a:uFillTx/>
                <a:latin typeface="Calibri Light"/>
              </a:rPr>
              <a:t>pat</a:t>
            </a:r>
            <a:r>
              <a:rPr lang="es-ES" sz="6000" b="0" u="none" strike="noStrike">
                <a:solidFill>
                  <a:schemeClr val="dk1"/>
                </a:solidFill>
                <a:effectLst/>
                <a:uFillTx/>
                <a:latin typeface="Calibri Light"/>
              </a:rPr>
              <a:t>rón</a:t>
            </a:r>
            <a:endParaRPr lang="es-CL" sz="6000" b="0" u="none" strike="noStrike">
              <a:solidFill>
                <a:schemeClr val="dk1"/>
              </a:solidFill>
              <a:effectLst/>
              <a:uFillTx/>
              <a:latin typeface="Calibri Light"/>
            </a:endParaRPr>
          </a:p>
        </p:txBody>
      </p:sp>
      <p:sp>
        <p:nvSpPr>
          <p:cNvPr id="23"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es-ES" sz="2400" b="0" u="none" strike="noStrike">
                <a:solidFill>
                  <a:schemeClr val="dk1">
                    <a:tint val="75000"/>
                  </a:schemeClr>
                </a:solidFill>
                <a:effectLst/>
                <a:uFillTx/>
                <a:latin typeface="Calibri"/>
              </a:rPr>
              <a:t>Haga clic para modificar los estilos de texto del patrón</a:t>
            </a:r>
            <a:endParaRPr lang="es-CL" sz="2400" b="0" u="none" strike="noStrike">
              <a:solidFill>
                <a:schemeClr val="dk1">
                  <a:tint val="75000"/>
                </a:schemeClr>
              </a:solidFill>
              <a:effectLst/>
              <a:uFillTx/>
              <a:latin typeface="Calibri"/>
            </a:endParaRPr>
          </a:p>
        </p:txBody>
      </p:sp>
      <p:sp>
        <p:nvSpPr>
          <p:cNvPr id="24"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25"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26"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D2A4F7D7-C99A-43BC-9DC8-6FFF434F763B}"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os objetos">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t>
            </a:r>
            <a:r>
              <a:rPr lang="es-ES" sz="4400" b="0" u="none" strike="noStrike">
                <a:solidFill>
                  <a:schemeClr val="dk1"/>
                </a:solidFill>
                <a:effectLst/>
                <a:uFillTx/>
                <a:latin typeface="Calibri Light"/>
              </a:rPr>
              <a:t>a </a:t>
            </a:r>
            <a:r>
              <a:rPr lang="es-ES" sz="4400" b="0" u="none" strike="noStrike">
                <a:solidFill>
                  <a:schemeClr val="dk1"/>
                </a:solidFill>
                <a:effectLst/>
                <a:uFillTx/>
                <a:latin typeface="Calibri Light"/>
              </a:rPr>
              <a:t>clic </a:t>
            </a:r>
            <a:r>
              <a:rPr lang="es-ES" sz="4400" b="0" u="none" strike="noStrike">
                <a:solidFill>
                  <a:schemeClr val="dk1"/>
                </a:solidFill>
                <a:effectLst/>
                <a:uFillTx/>
                <a:latin typeface="Calibri Light"/>
              </a:rPr>
              <a:t>para </a:t>
            </a:r>
            <a:r>
              <a:rPr lang="es-ES" sz="4400" b="0" u="none" strike="noStrike">
                <a:solidFill>
                  <a:schemeClr val="dk1"/>
                </a:solidFill>
                <a:effectLst/>
                <a:uFillTx/>
                <a:latin typeface="Calibri Light"/>
              </a:rPr>
              <a:t>mod</a:t>
            </a:r>
            <a:r>
              <a:rPr lang="es-ES" sz="4400" b="0" u="none" strike="noStrike">
                <a:solidFill>
                  <a:schemeClr val="dk1"/>
                </a:solidFill>
                <a:effectLst/>
                <a:uFillTx/>
                <a:latin typeface="Calibri Light"/>
              </a:rPr>
              <a:t>ifica</a:t>
            </a:r>
            <a:r>
              <a:rPr lang="es-ES" sz="4400" b="0" u="none" strike="noStrike">
                <a:solidFill>
                  <a:schemeClr val="dk1"/>
                </a:solidFill>
                <a:effectLst/>
                <a:uFillTx/>
                <a:latin typeface="Calibri Light"/>
              </a:rPr>
              <a:t>r el </a:t>
            </a:r>
            <a:r>
              <a:rPr lang="es-ES" sz="4400" b="0" u="none" strike="noStrike">
                <a:solidFill>
                  <a:schemeClr val="dk1"/>
                </a:solidFill>
                <a:effectLst/>
                <a:uFillTx/>
                <a:latin typeface="Calibri Light"/>
              </a:rPr>
              <a:t>estil</a:t>
            </a:r>
            <a:r>
              <a:rPr lang="es-ES" sz="4400" b="0" u="none" strike="noStrike">
                <a:solidFill>
                  <a:schemeClr val="dk1"/>
                </a:solidFill>
                <a:effectLst/>
                <a:uFillTx/>
                <a:latin typeface="Calibri Light"/>
              </a:rPr>
              <a:t>o de </a:t>
            </a:r>
            <a:r>
              <a:rPr lang="es-ES" sz="4400" b="0" u="none" strike="noStrike">
                <a:solidFill>
                  <a:schemeClr val="dk1"/>
                </a:solidFill>
                <a:effectLst/>
                <a:uFillTx/>
                <a:latin typeface="Calibri Light"/>
              </a:rPr>
              <a:t>títul</a:t>
            </a:r>
            <a:r>
              <a:rPr lang="es-ES" sz="4400" b="0" u="none" strike="noStrike">
                <a:solidFill>
                  <a:schemeClr val="dk1"/>
                </a:solidFill>
                <a:effectLst/>
                <a:uFillTx/>
                <a:latin typeface="Calibri Light"/>
              </a:rPr>
              <a:t>o </a:t>
            </a:r>
            <a:r>
              <a:rPr lang="es-ES" sz="4400" b="0" u="none" strike="noStrike">
                <a:solidFill>
                  <a:schemeClr val="dk1"/>
                </a:solidFill>
                <a:effectLst/>
                <a:uFillTx/>
                <a:latin typeface="Calibri Light"/>
              </a:rPr>
              <a:t>del </a:t>
            </a:r>
            <a:r>
              <a:rPr lang="es-ES" sz="4400" b="0" u="none" strike="noStrike">
                <a:solidFill>
                  <a:schemeClr val="dk1"/>
                </a:solidFill>
                <a:effectLst/>
                <a:uFillTx/>
                <a:latin typeface="Calibri Light"/>
              </a:rPr>
              <a:t>patr</a:t>
            </a:r>
            <a:r>
              <a:rPr lang="es-ES" sz="4400" b="0" u="none" strike="noStrike">
                <a:solidFill>
                  <a:schemeClr val="dk1"/>
                </a:solidFill>
                <a:effectLst/>
                <a:uFillTx/>
                <a:latin typeface="Calibri Light"/>
              </a:rPr>
              <a:t>ón</a:t>
            </a:r>
            <a:endParaRPr lang="es-CL" sz="4400" b="0" u="none" strike="noStrike">
              <a:solidFill>
                <a:schemeClr val="dk1"/>
              </a:solidFill>
              <a:effectLst/>
              <a:uFillTx/>
              <a:latin typeface="Calibri Light"/>
            </a:endParaRPr>
          </a:p>
        </p:txBody>
      </p:sp>
      <p:sp>
        <p:nvSpPr>
          <p:cNvPr id="28"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29"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0" name="PlaceHolder 4"/>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31" name="PlaceHolder 5"/>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32" name="PlaceHolder 6"/>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70AA8B0E-2889-4D2F-9C68-65D17D0ED4D6}"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ación">
    <p:bg>
      <p:bgPr>
        <a:solidFill>
          <a:srgbClr val="FFFFFF"/>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a:t>
            </a:r>
            <a:r>
              <a:rPr lang="es-ES" sz="4400" b="0" u="none" strike="noStrike">
                <a:solidFill>
                  <a:schemeClr val="dk1"/>
                </a:solidFill>
                <a:effectLst/>
                <a:uFillTx/>
                <a:latin typeface="Calibri Light"/>
              </a:rPr>
              <a:t>del patrón</a:t>
            </a:r>
            <a:endParaRPr lang="es-CL" sz="4400" b="0" u="none" strike="noStrike">
              <a:solidFill>
                <a:schemeClr val="dk1"/>
              </a:solidFill>
              <a:effectLst/>
              <a:uFillTx/>
              <a:latin typeface="Calibri Light"/>
            </a:endParaRPr>
          </a:p>
        </p:txBody>
      </p:sp>
      <p:sp>
        <p:nvSpPr>
          <p:cNvPr id="34"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35"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6"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es-ES"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2400" b="1" u="none" strike="noStrike">
                <a:solidFill>
                  <a:schemeClr val="dk1"/>
                </a:solidFill>
                <a:effectLst/>
                <a:uFillTx/>
                <a:latin typeface="Calibri"/>
              </a:rPr>
              <a:t>Haga clic para modificar los estilos de texto del patrón</a:t>
            </a:r>
            <a:endParaRPr lang="es-CL" sz="2400" b="0" u="none" strike="noStrike">
              <a:solidFill>
                <a:schemeClr val="dk1"/>
              </a:solidFill>
              <a:effectLst/>
              <a:uFillTx/>
              <a:latin typeface="Calibri"/>
            </a:endParaRPr>
          </a:p>
        </p:txBody>
      </p:sp>
      <p:sp>
        <p:nvSpPr>
          <p:cNvPr id="37"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es-ES"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es-ES"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es-ES"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es-ES"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es-ES" sz="2800" b="0" u="none" strike="noStrike">
                <a:solidFill>
                  <a:schemeClr val="dk1"/>
                </a:solidFill>
                <a:effectLst/>
                <a:uFillTx/>
                <a:latin typeface="Calibri"/>
              </a:rPr>
              <a:t>Haga clic para modificar los estilos de texto del patrón</a:t>
            </a:r>
            <a:endParaRPr lang="es-CL"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es-ES" sz="2400" b="0" u="none" strike="noStrike">
                <a:solidFill>
                  <a:schemeClr val="dk1"/>
                </a:solidFill>
                <a:effectLst/>
                <a:uFillTx/>
                <a:latin typeface="Calibri"/>
              </a:rPr>
              <a:t>Segundo nivel</a:t>
            </a:r>
            <a:endParaRPr lang="es-CL"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es-ES" sz="2000" b="0" u="none" strike="noStrike">
                <a:solidFill>
                  <a:schemeClr val="dk1"/>
                </a:solidFill>
                <a:effectLst/>
                <a:uFillTx/>
                <a:latin typeface="Calibri"/>
              </a:rPr>
              <a:t>Tercer nivel</a:t>
            </a:r>
            <a:endParaRPr lang="es-CL"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Cuarto nivel</a:t>
            </a:r>
            <a:endParaRPr lang="es-CL"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es-ES" sz="1800" b="0" u="none" strike="noStrike">
                <a:solidFill>
                  <a:schemeClr val="dk1"/>
                </a:solidFill>
                <a:effectLst/>
                <a:uFillTx/>
                <a:latin typeface="Calibri"/>
              </a:rPr>
              <a:t>Quinto nivel</a:t>
            </a:r>
            <a:endParaRPr lang="es-CL" sz="1800" b="0" u="none" strike="noStrike">
              <a:solidFill>
                <a:schemeClr val="dk1"/>
              </a:solidFill>
              <a:effectLst/>
              <a:uFillTx/>
              <a:latin typeface="Calibri"/>
            </a:endParaRPr>
          </a:p>
        </p:txBody>
      </p:sp>
      <p:sp>
        <p:nvSpPr>
          <p:cNvPr id="38" name="PlaceHolder 6"/>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39" name="PlaceHolder 7"/>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40" name="PlaceHolder 8"/>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B956941F-27F3-4338-84F5-44B4527C903F}"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Solo el título">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es-ES" sz="4400" b="0" u="none" strike="noStrike">
                <a:solidFill>
                  <a:schemeClr val="dk1"/>
                </a:solidFill>
                <a:effectLst/>
                <a:uFillTx/>
                <a:latin typeface="Calibri Light"/>
              </a:defRPr>
            </a:lvl1pPr>
          </a:lstStyle>
          <a:p>
            <a:pPr indent="0" algn="l" defTabSz="914400">
              <a:lnSpc>
                <a:spcPct val="90000"/>
              </a:lnSpc>
              <a:buNone/>
            </a:pPr>
            <a:r>
              <a:rPr lang="es-ES" sz="4400" b="0" u="none" strike="noStrike">
                <a:solidFill>
                  <a:schemeClr val="dk1"/>
                </a:solidFill>
                <a:effectLst/>
                <a:uFillTx/>
                <a:latin typeface="Calibri Light"/>
              </a:rPr>
              <a:t>Haga clic para modificar el estilo de título del patrón</a:t>
            </a:r>
            <a:endParaRPr lang="es-CL" sz="4400" b="0" u="none" strike="noStrike">
              <a:solidFill>
                <a:schemeClr val="dk1"/>
              </a:solidFill>
              <a:effectLst/>
              <a:uFillTx/>
              <a:latin typeface="Calibri Light"/>
            </a:endParaRPr>
          </a:p>
        </p:txBody>
      </p:sp>
      <p:sp>
        <p:nvSpPr>
          <p:cNvPr id="42" name="PlaceHolder 2"/>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43" name="PlaceHolder 3"/>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44" name="PlaceHolder 4"/>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1CC4D345-FE65-4007-A70D-68F0D116C79F}"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En blanco">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46" name="PlaceHolder 2"/>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47" name="PlaceHolder 3"/>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3F52C105-DFA2-4245-812E-B3CAAC725905}"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ido con título">
    <p:bg>
      <p:bgPr>
        <a:solidFill>
          <a:srgbClr val="FFFFFF"/>
        </a:solidFill>
      </p:bgPr>
    </p:bg>
    <p:spTree>
      <p:nvGrpSpPr>
        <p:cNvPr id="1" name=""/>
        <p:cNvGrpSpPr/>
        <p:nvPr/>
      </p:nvGrpSpPr>
      <p:grpSpPr>
        <a:xfrm>
          <a:off x="0" y="0"/>
          <a:ext cx="0" cy="0"/>
          <a:chOff x="0" y="0"/>
          <a:chExt cx="0" cy="0"/>
        </a:xfrm>
      </p:grpSpPr>
      <p:sp>
        <p:nvSpPr>
          <p:cNvPr id="48"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s-ES" sz="3200" b="0" u="none" strike="noStrike">
                <a:solidFill>
                  <a:schemeClr val="dk1"/>
                </a:solidFill>
                <a:effectLst/>
                <a:uFillTx/>
                <a:latin typeface="Calibri Light"/>
              </a:defRPr>
            </a:lvl1pPr>
          </a:lstStyle>
          <a:p>
            <a:pPr indent="0" algn="l"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Light"/>
            </a:endParaRPr>
          </a:p>
        </p:txBody>
      </p:sp>
      <p:sp>
        <p:nvSpPr>
          <p:cNvPr id="49"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es-ES"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es-ES"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es-ES"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es-ES"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es-ES" sz="3200" b="0" u="none" strike="noStrike">
                <a:solidFill>
                  <a:schemeClr val="dk1"/>
                </a:solidFill>
                <a:effectLst/>
                <a:uFillTx/>
                <a:latin typeface="Calibri"/>
              </a:rPr>
              <a:t>Haga clic para modificar los estilos de texto del patrón</a:t>
            </a:r>
            <a:endParaRPr lang="es-CL"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es-ES" sz="2800" b="0" u="none" strike="noStrike">
                <a:solidFill>
                  <a:schemeClr val="dk1"/>
                </a:solidFill>
                <a:effectLst/>
                <a:uFillTx/>
                <a:latin typeface="Calibri"/>
              </a:rPr>
              <a:t>Segundo nivel</a:t>
            </a:r>
            <a:endParaRPr lang="es-CL"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es-ES" sz="2400" b="0" u="none" strike="noStrike">
                <a:solidFill>
                  <a:schemeClr val="dk1"/>
                </a:solidFill>
                <a:effectLst/>
                <a:uFillTx/>
                <a:latin typeface="Calibri"/>
              </a:rPr>
              <a:t>Tercer nivel</a:t>
            </a:r>
            <a:endParaRPr lang="es-CL"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Cuarto nivel</a:t>
            </a:r>
            <a:endParaRPr lang="es-CL"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es-ES" sz="2000" b="0" u="none" strike="noStrike">
                <a:solidFill>
                  <a:schemeClr val="dk1"/>
                </a:solidFill>
                <a:effectLst/>
                <a:uFillTx/>
                <a:latin typeface="Calibri"/>
              </a:rPr>
              <a:t>Quinto nivel</a:t>
            </a:r>
            <a:endParaRPr lang="es-CL" sz="2000" b="0" u="none" strike="noStrike">
              <a:solidFill>
                <a:schemeClr val="dk1"/>
              </a:solidFill>
              <a:effectLst/>
              <a:uFillTx/>
              <a:latin typeface="Calibri"/>
            </a:endParaRPr>
          </a:p>
        </p:txBody>
      </p:sp>
      <p:sp>
        <p:nvSpPr>
          <p:cNvPr id="50"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51" name="PlaceHolder 4"/>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52" name="PlaceHolder 5"/>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53" name="PlaceHolder 6"/>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AA40236E-BDED-4676-8D84-084D563D6279}"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magen con título">
    <p:bg>
      <p:bgPr>
        <a:solidFill>
          <a:srgbClr val="FFFFFF"/>
        </a:solidFill>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es-ES" sz="3200" b="0" u="none" strike="noStrike">
                <a:solidFill>
                  <a:schemeClr val="dk1"/>
                </a:solidFill>
                <a:effectLst/>
                <a:uFillTx/>
                <a:latin typeface="Calibri Light"/>
              </a:defRPr>
            </a:lvl1pPr>
          </a:lstStyle>
          <a:p>
            <a:pPr indent="0" algn="l" defTabSz="914400">
              <a:lnSpc>
                <a:spcPct val="90000"/>
              </a:lnSpc>
              <a:buNone/>
            </a:pPr>
            <a:r>
              <a:rPr lang="es-ES" sz="3200" b="0" u="none" strike="noStrike">
                <a:solidFill>
                  <a:schemeClr val="dk1"/>
                </a:solidFill>
                <a:effectLst/>
                <a:uFillTx/>
                <a:latin typeface="Calibri Light"/>
              </a:rPr>
              <a:t>Haga clic para modificar el estilo de título del patrón</a:t>
            </a:r>
            <a:endParaRPr lang="es-CL" sz="3200" b="0" u="none" strike="noStrike">
              <a:solidFill>
                <a:schemeClr val="dk1"/>
              </a:solidFill>
              <a:effectLst/>
              <a:uFillTx/>
              <a:latin typeface="Calibri Light"/>
            </a:endParaRPr>
          </a:p>
        </p:txBody>
      </p:sp>
      <p:sp>
        <p:nvSpPr>
          <p:cNvPr id="55" name="PlaceHolder 2"/>
          <p:cNvSpPr>
            <a:spLocks noGrp="1"/>
          </p:cNvSpPr>
          <p:nvPr>
            <p:ph type="pic"/>
          </p:nvPr>
        </p:nvSpPr>
        <p:spPr>
          <a:xfrm>
            <a:off x="5183280" y="987480"/>
            <a:ext cx="6171840" cy="4873320"/>
          </a:xfrm>
          <a:prstGeom prst="rect">
            <a:avLst/>
          </a:prstGeom>
          <a:noFill/>
          <a:ln w="0">
            <a:noFill/>
          </a:ln>
        </p:spPr>
        <p:txBody>
          <a:bodyPr lIns="90000" tIns="45000" rIns="90000" bIns="45000" anchor="t">
            <a:noAutofit/>
          </a:bodyPr>
          <a:p>
            <a:pPr indent="0" algn="l">
              <a:buNone/>
            </a:pPr>
            <a:r>
              <a:rPr lang="es-CL" sz="3200" b="0" u="none" strike="noStrike">
                <a:solidFill>
                  <a:srgbClr val="000000"/>
                </a:solidFill>
                <a:effectLst/>
                <a:uFillTx/>
                <a:latin typeface="Arial"/>
              </a:rPr>
              <a:t>Pulse dos veces para añadir una imagen</a:t>
            </a:r>
            <a:endParaRPr lang="es-CL" sz="3200" b="0" u="none" strike="noStrike">
              <a:solidFill>
                <a:srgbClr val="000000"/>
              </a:solidFill>
              <a:effectLst/>
              <a:uFillTx/>
              <a:latin typeface="Arial"/>
            </a:endParaRPr>
          </a:p>
        </p:txBody>
      </p:sp>
      <p:sp>
        <p:nvSpPr>
          <p:cNvPr id="56"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es-ES"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es-ES" sz="1600" b="0" u="none" strike="noStrike">
                <a:solidFill>
                  <a:schemeClr val="dk1"/>
                </a:solidFill>
                <a:effectLst/>
                <a:uFillTx/>
                <a:latin typeface="Calibri"/>
              </a:rPr>
              <a:t>Haga clic para modificar los estilos de texto del patrón</a:t>
            </a:r>
            <a:endParaRPr lang="es-CL" sz="1600" b="0" u="none" strike="noStrike">
              <a:solidFill>
                <a:schemeClr val="dk1"/>
              </a:solidFill>
              <a:effectLst/>
              <a:uFillTx/>
              <a:latin typeface="Calibri"/>
            </a:endParaRPr>
          </a:p>
        </p:txBody>
      </p:sp>
      <p:sp>
        <p:nvSpPr>
          <p:cNvPr id="57" name="PlaceHolder 4"/>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s-CL" sz="1200" b="0" u="none" strike="noStrike">
                <a:solidFill>
                  <a:schemeClr val="dk1">
                    <a:tint val="75000"/>
                  </a:schemeClr>
                </a:solidFill>
                <a:effectLst/>
                <a:uFillTx/>
                <a:latin typeface="Calibri"/>
              </a:defRPr>
            </a:lvl1pPr>
          </a:lstStyle>
          <a:p>
            <a:pPr indent="0" algn="l" defTabSz="914400">
              <a:lnSpc>
                <a:spcPct val="100000"/>
              </a:lnSpc>
              <a:buNone/>
            </a:pPr>
            <a:r>
              <a:rPr lang="es-CL" sz="1200" b="0" u="none" strike="noStrike">
                <a:solidFill>
                  <a:schemeClr val="dk1">
                    <a:tint val="75000"/>
                  </a:schemeClr>
                </a:solidFill>
                <a:effectLst/>
                <a:uFillTx/>
                <a:latin typeface="Calibri"/>
              </a:rPr>
              <a:t>&lt;fecha/hora&gt;</a:t>
            </a:r>
            <a:endParaRPr lang="es-CL" sz="1200" b="0" u="none" strike="noStrike">
              <a:solidFill>
                <a:srgbClr val="000000"/>
              </a:solidFill>
              <a:effectLst/>
              <a:uFillTx/>
              <a:latin typeface="Times New Roman"/>
            </a:endParaRPr>
          </a:p>
        </p:txBody>
      </p:sp>
      <p:sp>
        <p:nvSpPr>
          <p:cNvPr id="58" name="PlaceHolder 5"/>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s-CL" sz="1400" b="0" u="none" strike="noStrike">
                <a:solidFill>
                  <a:srgbClr val="000000"/>
                </a:solidFill>
                <a:effectLst/>
                <a:uFillTx/>
                <a:latin typeface="Times New Roman"/>
              </a:defRPr>
            </a:lvl1pPr>
          </a:lstStyle>
          <a:p>
            <a:pPr indent="0" algn="ctr">
              <a:buNone/>
            </a:pPr>
            <a:r>
              <a:rPr lang="es-CL" sz="1400" b="0" u="none" strike="noStrike">
                <a:solidFill>
                  <a:srgbClr val="000000"/>
                </a:solidFill>
                <a:effectLst/>
                <a:uFillTx/>
                <a:latin typeface="Times New Roman"/>
              </a:rPr>
              <a:t>&lt;pie de página&gt;</a:t>
            </a:r>
            <a:endParaRPr lang="es-CL" sz="1400" b="0" u="none" strike="noStrike">
              <a:solidFill>
                <a:srgbClr val="000000"/>
              </a:solidFill>
              <a:effectLst/>
              <a:uFillTx/>
              <a:latin typeface="Times New Roman"/>
            </a:endParaRPr>
          </a:p>
        </p:txBody>
      </p:sp>
      <p:sp>
        <p:nvSpPr>
          <p:cNvPr id="59" name="PlaceHolder 6"/>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s-CL" sz="1200" b="0" u="none" strike="noStrike">
                <a:solidFill>
                  <a:schemeClr val="dk1">
                    <a:tint val="75000"/>
                  </a:schemeClr>
                </a:solidFill>
                <a:effectLst/>
                <a:uFillTx/>
                <a:latin typeface="Calibri"/>
              </a:defRPr>
            </a:lvl1pPr>
          </a:lstStyle>
          <a:p>
            <a:pPr indent="0" algn="r" defTabSz="914400">
              <a:lnSpc>
                <a:spcPct val="100000"/>
              </a:lnSpc>
              <a:buNone/>
            </a:pPr>
            <a:fld id="{28E77D47-A197-4112-898A-9AEB6E87807C}" type="slidenum">
              <a:rPr lang="es-CL" sz="1200" b="0" u="none" strike="noStrike">
                <a:solidFill>
                  <a:schemeClr val="dk1">
                    <a:tint val="75000"/>
                  </a:schemeClr>
                </a:solidFill>
                <a:effectLst/>
                <a:uFillTx/>
                <a:latin typeface="Calibri"/>
              </a:rPr>
              <a:t>&lt;número&gt;</a:t>
            </a:fld>
            <a:endParaRPr lang="es-CL"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slideLayout" Target="../slideLayouts/slideLayout1.xml"/><Relationship Id="rId8"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slideLayout" Target="../slideLayouts/slideLayout1.xml"/><Relationship Id="rId5"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slideLayout" Target="../slideLayouts/slideLayout1.xml"/><Relationship Id="rId7"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67" name="CuadroTexto 3"/>
          <p:cNvSpPr/>
          <p:nvPr/>
        </p:nvSpPr>
        <p:spPr>
          <a:xfrm>
            <a:off x="0" y="2707920"/>
            <a:ext cx="12191760" cy="11383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4400" b="0" u="none" strike="noStrike">
                <a:solidFill>
                  <a:schemeClr val="dk1"/>
                </a:solidFill>
                <a:effectLst/>
                <a:uFillTx/>
                <a:latin typeface="Calibri"/>
              </a:rPr>
              <a:t>PROYECTO “BARB”</a:t>
            </a:r>
            <a:endParaRPr lang="es-CL" sz="4400" b="0" u="none" strike="noStrike">
              <a:solidFill>
                <a:srgbClr val="000000"/>
              </a:solidFill>
              <a:effectLst/>
              <a:uFillTx/>
              <a:latin typeface="Arial"/>
            </a:endParaRPr>
          </a:p>
          <a:p>
            <a:pPr algn="ctr" defTabSz="914400">
              <a:lnSpc>
                <a:spcPct val="100000"/>
              </a:lnSpc>
            </a:pPr>
            <a:r>
              <a:rPr lang="es-MX" sz="2400" b="0" u="none" strike="noStrike">
                <a:solidFill>
                  <a:schemeClr val="dk1"/>
                </a:solidFill>
                <a:effectLst/>
                <a:uFillTx/>
                <a:latin typeface="Calibri"/>
              </a:rPr>
              <a:t>PRESENTACIÓN FINAL CAPSTONE</a:t>
            </a:r>
            <a:endParaRPr lang="es-CL" sz="2400" b="0" u="none" strike="noStrike">
              <a:solidFill>
                <a:srgbClr val="000000"/>
              </a:solidFill>
              <a:effectLst/>
              <a:uFillTx/>
              <a:latin typeface="Arial"/>
            </a:endParaRPr>
          </a:p>
        </p:txBody>
      </p:sp>
    </p:spTree>
  </p:cSld>
  <p:transition spd="slow">
    <p:wipe dir="l"/>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69"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70" name="CuadroTexto 6"/>
          <p:cNvSpPr/>
          <p:nvPr/>
        </p:nvSpPr>
        <p:spPr>
          <a:xfrm>
            <a:off x="238320" y="3058560"/>
            <a:ext cx="3608640" cy="11998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INTEGRANTES DEL PROYECTO</a:t>
            </a:r>
            <a:endParaRPr lang="es-CL" sz="3600" b="0" u="none" strike="noStrike">
              <a:solidFill>
                <a:srgbClr val="000000"/>
              </a:solidFill>
              <a:effectLst/>
              <a:uFillTx/>
              <a:latin typeface="Arial"/>
            </a:endParaRPr>
          </a:p>
        </p:txBody>
      </p:sp>
      <p:cxnSp>
        <p:nvCxnSpPr>
          <p:cNvPr id="71" name="Conector recto 8"/>
          <p:cNvCxnSpPr/>
          <p:nvPr/>
        </p:nvCxnSpPr>
        <p:spPr>
          <a:xfrm>
            <a:off x="0" y="757800"/>
            <a:ext cx="4085640" cy="360"/>
          </a:xfrm>
          <a:prstGeom prst="straightConnector1">
            <a:avLst/>
          </a:prstGeom>
          <a:ln w="15875">
            <a:solidFill>
              <a:srgbClr val="ABC0E4"/>
            </a:solidFill>
          </a:ln>
        </p:spPr>
      </p:cxnSp>
      <p:sp>
        <p:nvSpPr>
          <p:cNvPr id="72" name="Integrante 1"/>
          <p:cNvSpPr/>
          <p:nvPr/>
        </p:nvSpPr>
        <p:spPr>
          <a:xfrm>
            <a:off x="4120920" y="1710720"/>
            <a:ext cx="7633080" cy="79956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140040" tIns="90000" rIns="140040" bIns="90000" anchor="ctr">
            <a:noAutofit/>
          </a:bodyPr>
          <a:p>
            <a:pPr defTabSz="914400">
              <a:lnSpc>
                <a:spcPct val="100000"/>
              </a:lnSpc>
              <a:spcAft>
                <a:spcPts val="601"/>
              </a:spcAft>
            </a:pPr>
            <a:r>
              <a:rPr lang="es-CL" sz="1800" b="1" u="none" strike="noStrike">
                <a:solidFill>
                  <a:schemeClr val="dk1"/>
                </a:solidFill>
                <a:effectLst/>
                <a:uFillTx/>
                <a:latin typeface="Calibri"/>
              </a:rPr>
              <a:t>Javier Gacitúa</a:t>
            </a:r>
            <a:endParaRPr lang="es-CL" sz="18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Pipeline de documentos (RAG), proveedores LLM y chat multimodal</a:t>
            </a:r>
            <a:endParaRPr lang="es-CL" sz="1400" b="0" u="none" strike="noStrike">
              <a:solidFill>
                <a:srgbClr val="000000"/>
              </a:solidFill>
              <a:effectLst/>
              <a:uFillTx/>
              <a:latin typeface="Arial"/>
            </a:endParaRPr>
          </a:p>
        </p:txBody>
      </p:sp>
      <p:sp>
        <p:nvSpPr>
          <p:cNvPr id="73" name="Integrante 2"/>
          <p:cNvSpPr/>
          <p:nvPr/>
        </p:nvSpPr>
        <p:spPr>
          <a:xfrm>
            <a:off x="4120920" y="2598480"/>
            <a:ext cx="7633080" cy="79956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140040" tIns="90000" rIns="140040" bIns="90000" anchor="ctr">
            <a:noAutofit/>
          </a:bodyPr>
          <a:p>
            <a:pPr defTabSz="914400">
              <a:lnSpc>
                <a:spcPct val="100000"/>
              </a:lnSpc>
              <a:spcAft>
                <a:spcPts val="601"/>
              </a:spcAft>
            </a:pPr>
            <a:r>
              <a:rPr lang="es-CL" sz="1800" b="1" u="none" strike="noStrike">
                <a:solidFill>
                  <a:schemeClr val="dk1"/>
                </a:solidFill>
                <a:effectLst/>
                <a:uFillTx/>
                <a:latin typeface="Calibri"/>
              </a:rPr>
              <a:t>Juan Pablo</a:t>
            </a:r>
            <a:endParaRPr lang="es-CL" sz="18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Base del backend, migraciones, despliegue, notificaciones y tiempo real</a:t>
            </a:r>
            <a:endParaRPr lang="es-CL" sz="1400" b="0" u="none" strike="noStrike">
              <a:solidFill>
                <a:srgbClr val="000000"/>
              </a:solidFill>
              <a:effectLst/>
              <a:uFillTx/>
              <a:latin typeface="Arial"/>
            </a:endParaRPr>
          </a:p>
        </p:txBody>
      </p:sp>
      <p:sp>
        <p:nvSpPr>
          <p:cNvPr id="74" name="Integrante 3"/>
          <p:cNvSpPr/>
          <p:nvPr/>
        </p:nvSpPr>
        <p:spPr>
          <a:xfrm>
            <a:off x="4120920" y="3486240"/>
            <a:ext cx="7633080" cy="79956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140040" tIns="90000" rIns="140040" bIns="90000" anchor="ctr">
            <a:noAutofit/>
          </a:bodyPr>
          <a:p>
            <a:pPr defTabSz="914400">
              <a:lnSpc>
                <a:spcPct val="100000"/>
              </a:lnSpc>
              <a:spcAft>
                <a:spcPts val="601"/>
              </a:spcAft>
            </a:pPr>
            <a:r>
              <a:rPr lang="es-CL" sz="1800" b="1" u="none" strike="noStrike">
                <a:solidFill>
                  <a:schemeClr val="dk1"/>
                </a:solidFill>
                <a:effectLst/>
                <a:uFillTx/>
                <a:latin typeface="Calibri"/>
              </a:rPr>
              <a:t>René Rojas</a:t>
            </a:r>
            <a:endParaRPr lang="es-CL" sz="18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Aplicación Angular, DocChat, historial de conversaciones y topología</a:t>
            </a:r>
            <a:endParaRPr lang="es-CL" sz="1400" b="0" u="none" strike="noStrike">
              <a:solidFill>
                <a:srgbClr val="000000"/>
              </a:solidFill>
              <a:effectLst/>
              <a:uFillTx/>
              <a:latin typeface="Arial"/>
            </a:endParaRPr>
          </a:p>
        </p:txBody>
      </p:sp>
      <p:sp>
        <p:nvSpPr>
          <p:cNvPr id="75" name="Integrante 4"/>
          <p:cNvSpPr/>
          <p:nvPr/>
        </p:nvSpPr>
        <p:spPr>
          <a:xfrm>
            <a:off x="4120920" y="4373640"/>
            <a:ext cx="7633080" cy="79956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140040" tIns="90000" rIns="140040" bIns="90000" anchor="ctr">
            <a:noAutofit/>
          </a:bodyPr>
          <a:p>
            <a:pPr defTabSz="914400">
              <a:lnSpc>
                <a:spcPct val="100000"/>
              </a:lnSpc>
              <a:spcAft>
                <a:spcPts val="601"/>
              </a:spcAft>
            </a:pPr>
            <a:r>
              <a:rPr lang="es-CL" sz="1800" b="1" u="none" strike="noStrike">
                <a:solidFill>
                  <a:schemeClr val="dk1"/>
                </a:solidFill>
                <a:effectLst/>
                <a:uFillTx/>
                <a:latin typeface="Calibri"/>
              </a:rPr>
              <a:t>Samuel Mathias</a:t>
            </a:r>
            <a:endParaRPr lang="es-CL" sz="18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Órdenes de trabajo, gestión de usuarios y empresas</a:t>
            </a:r>
            <a:endParaRPr lang="es-CL" sz="1400" b="0" u="none" strike="noStrike">
              <a:solidFill>
                <a:srgbClr val="000000"/>
              </a:solidFill>
              <a:effectLst/>
              <a:uFillTx/>
              <a:latin typeface="Arial"/>
            </a:endParaRPr>
          </a:p>
        </p:txBody>
      </p:sp>
      <p:sp>
        <p:nvSpPr>
          <p:cNvPr id="76" name="Integrante 5"/>
          <p:cNvSpPr/>
          <p:nvPr/>
        </p:nvSpPr>
        <p:spPr>
          <a:xfrm>
            <a:off x="4120920" y="5261400"/>
            <a:ext cx="7633080" cy="79956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140040" tIns="90000" rIns="140040" bIns="90000" anchor="ctr">
            <a:noAutofit/>
          </a:bodyPr>
          <a:p>
            <a:pPr defTabSz="914400">
              <a:lnSpc>
                <a:spcPct val="100000"/>
              </a:lnSpc>
              <a:spcAft>
                <a:spcPts val="601"/>
              </a:spcAft>
            </a:pPr>
            <a:r>
              <a:rPr lang="es-MX" sz="1800" b="1" u="none" strike="noStrike">
                <a:solidFill>
                  <a:schemeClr val="dk1"/>
                </a:solidFill>
                <a:effectLst/>
                <a:uFillTx/>
                <a:latin typeface="Calibri"/>
              </a:rPr>
              <a:t>Juan Pablo Valdebenito</a:t>
            </a:r>
            <a:endParaRPr lang="es-CL" sz="18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Gestión de usuarios (HU-12) e integración y revisión de ramas</a:t>
            </a:r>
            <a:endParaRPr lang="es-CL" sz="1400" b="0" u="none" strike="noStrike">
              <a:solidFill>
                <a:srgbClr val="000000"/>
              </a:solidFill>
              <a:effectLst/>
              <a:uFillTx/>
              <a:latin typeface="Arial"/>
            </a:endParaRPr>
          </a:p>
        </p:txBody>
      </p:sp>
    </p:spTree>
  </p:cSld>
  <p:transition spd="slow">
    <p:wipe dir="l"/>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78"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79" name="CuadroTexto 6"/>
          <p:cNvSpPr/>
          <p:nvPr/>
        </p:nvSpPr>
        <p:spPr>
          <a:xfrm>
            <a:off x="0" y="113076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DESCRIPCIÓN DEL PROYECTO</a:t>
            </a:r>
            <a:endParaRPr lang="es-CL" sz="3600" b="0" u="none" strike="noStrike">
              <a:solidFill>
                <a:srgbClr val="000000"/>
              </a:solidFill>
              <a:effectLst/>
              <a:uFillTx/>
              <a:latin typeface="Arial"/>
            </a:endParaRPr>
          </a:p>
        </p:txBody>
      </p:sp>
      <p:cxnSp>
        <p:nvCxnSpPr>
          <p:cNvPr id="80" name="Conector recto 8"/>
          <p:cNvCxnSpPr/>
          <p:nvPr/>
        </p:nvCxnSpPr>
        <p:spPr>
          <a:xfrm>
            <a:off x="0" y="757800"/>
            <a:ext cx="4085640" cy="360"/>
          </a:xfrm>
          <a:prstGeom prst="straightConnector1">
            <a:avLst/>
          </a:prstGeom>
          <a:ln w="15875">
            <a:solidFill>
              <a:srgbClr val="ABC0E4"/>
            </a:solidFill>
          </a:ln>
        </p:spPr>
      </p:cxnSp>
      <p:sp>
        <p:nvSpPr>
          <p:cNvPr id="81" name="Rectángulo: esquinas redondeadas 2"/>
          <p:cNvSpPr/>
          <p:nvPr/>
        </p:nvSpPr>
        <p:spPr>
          <a:xfrm>
            <a:off x="714960" y="2169720"/>
            <a:ext cx="4348440" cy="4092120"/>
          </a:xfrm>
          <a:prstGeom prst="roundRect">
            <a:avLst>
              <a:gd name="adj" fmla="val 10901"/>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45000" rIns="90000" bIns="45000" anchor="t">
            <a:noAutofit/>
          </a:bodyPr>
          <a:p>
            <a:pPr algn="ctr" defTabSz="914400">
              <a:lnSpc>
                <a:spcPct val="100000"/>
              </a:lnSpc>
            </a:pPr>
            <a:r>
              <a:rPr lang="es-MX" sz="2800" b="0" u="sng" strike="noStrike">
                <a:solidFill>
                  <a:schemeClr val="dk1"/>
                </a:solidFill>
                <a:effectLst/>
                <a:uFillTx/>
                <a:latin typeface="Calibri"/>
              </a:rPr>
              <a:t>Problema o dolor</a:t>
            </a:r>
            <a:endParaRPr lang="es-CL" sz="2800" b="0" u="none" strike="noStrike">
              <a:solidFill>
                <a:srgbClr val="000000"/>
              </a:solidFill>
              <a:effectLst/>
              <a:uFillTx/>
              <a:latin typeface="Arial"/>
            </a:endParaRPr>
          </a:p>
          <a:p>
            <a:pPr algn="ctr" defTabSz="914400">
              <a:lnSpc>
                <a:spcPct val="100000"/>
              </a:lnSpc>
            </a:pPr>
            <a:endParaRPr lang="es-CL" sz="1800" b="0" u="none" strike="noStrike">
              <a:solidFill>
                <a:srgbClr val="000000"/>
              </a:solidFill>
              <a:effectLst/>
              <a:uFillTx/>
              <a:latin typeface="Arial"/>
            </a:endParaRPr>
          </a:p>
          <a:p>
            <a:pPr algn="just" defTabSz="914400">
              <a:lnSpc>
                <a:spcPct val="100000"/>
              </a:lnSpc>
              <a:spcAft>
                <a:spcPts val="601"/>
              </a:spcAft>
            </a:pPr>
            <a:r>
              <a:rPr lang="es-MX" sz="1600" b="0" u="none" strike="noStrike">
                <a:solidFill>
                  <a:schemeClr val="dk1"/>
                </a:solidFill>
                <a:effectLst/>
                <a:uFillTx/>
                <a:latin typeface="Calibri"/>
              </a:rPr>
              <a:t>El conocimiento de mantenimiento de una planta está disperso: manuales en PDF, órdenes de trabajo sin trazabilidad y equipos sin visibilidad de su estado.</a:t>
            </a:r>
            <a:endParaRPr lang="es-CL" sz="1600" b="0" u="none" strike="noStrike">
              <a:solidFill>
                <a:srgbClr val="000000"/>
              </a:solidFill>
              <a:effectLst/>
              <a:uFillTx/>
              <a:latin typeface="Arial"/>
            </a:endParaRPr>
          </a:p>
          <a:p>
            <a:pPr algn="just" defTabSz="914400">
              <a:lnSpc>
                <a:spcPct val="100000"/>
              </a:lnSpc>
              <a:spcAft>
                <a:spcPts val="601"/>
              </a:spcAft>
            </a:pPr>
            <a:r>
              <a:rPr lang="es-MX" sz="1600" b="0" u="none" strike="noStrike">
                <a:solidFill>
                  <a:schemeClr val="dk1"/>
                </a:solidFill>
                <a:effectLst/>
                <a:uFillTx/>
                <a:latin typeface="Calibri"/>
              </a:rPr>
              <a:t>Los técnicos pierden tiempo buscando procedimientos y la gerencia no puede medir MTTR ni cumplimiento de SLA.</a:t>
            </a:r>
            <a:endParaRPr lang="es-CL" sz="1600" b="0" u="none" strike="noStrike">
              <a:solidFill>
                <a:srgbClr val="000000"/>
              </a:solidFill>
              <a:effectLst/>
              <a:uFillTx/>
              <a:latin typeface="Arial"/>
            </a:endParaRPr>
          </a:p>
        </p:txBody>
      </p:sp>
      <p:sp>
        <p:nvSpPr>
          <p:cNvPr id="82" name="Rectángulo: esquinas redondeadas 3"/>
          <p:cNvSpPr/>
          <p:nvPr/>
        </p:nvSpPr>
        <p:spPr>
          <a:xfrm>
            <a:off x="6912000" y="2177280"/>
            <a:ext cx="4348440" cy="4092120"/>
          </a:xfrm>
          <a:prstGeom prst="roundRect">
            <a:avLst>
              <a:gd name="adj" fmla="val 10901"/>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45000" rIns="90000" bIns="45000" anchor="t">
            <a:noAutofit/>
          </a:bodyPr>
          <a:p>
            <a:pPr algn="ctr" defTabSz="914400">
              <a:lnSpc>
                <a:spcPct val="100000"/>
              </a:lnSpc>
            </a:pPr>
            <a:r>
              <a:rPr lang="es-MX" sz="2800" b="0" u="sng" strike="noStrike">
                <a:solidFill>
                  <a:schemeClr val="dk1"/>
                </a:solidFill>
                <a:effectLst/>
                <a:uFillTx/>
                <a:latin typeface="Calibri"/>
              </a:rPr>
              <a:t>Propuesta de solución</a:t>
            </a:r>
            <a:endParaRPr lang="es-CL" sz="2800" b="0" u="none" strike="noStrike">
              <a:solidFill>
                <a:srgbClr val="000000"/>
              </a:solidFill>
              <a:effectLst/>
              <a:uFillTx/>
              <a:latin typeface="Arial"/>
            </a:endParaRPr>
          </a:p>
          <a:p>
            <a:pPr algn="ctr" defTabSz="914400">
              <a:lnSpc>
                <a:spcPct val="100000"/>
              </a:lnSpc>
            </a:pPr>
            <a:endParaRPr lang="es-CL" sz="1800" b="0" u="none" strike="noStrike">
              <a:solidFill>
                <a:srgbClr val="000000"/>
              </a:solidFill>
              <a:effectLst/>
              <a:uFillTx/>
              <a:latin typeface="Arial"/>
            </a:endParaRPr>
          </a:p>
          <a:p>
            <a:pPr algn="just" defTabSz="914400">
              <a:lnSpc>
                <a:spcPct val="100000"/>
              </a:lnSpc>
              <a:spcAft>
                <a:spcPts val="601"/>
              </a:spcAft>
            </a:pPr>
            <a:r>
              <a:rPr lang="es-MX" sz="1600" b="0" u="none" strike="noStrike">
                <a:solidFill>
                  <a:schemeClr val="dk1"/>
                </a:solidFill>
                <a:effectLst/>
                <a:uFillTx/>
                <a:latin typeface="Calibri"/>
              </a:rPr>
              <a:t>BARB es una plataforma multiempresa que centraliza las órdenes de trabajo con auditoría y dashboard de KPIs, una topología interactiva de la planta y la gestión de usuarios y documentos.</a:t>
            </a:r>
            <a:endParaRPr lang="es-CL" sz="1600" b="0" u="none" strike="noStrike">
              <a:solidFill>
                <a:srgbClr val="000000"/>
              </a:solidFill>
              <a:effectLst/>
              <a:uFillTx/>
              <a:latin typeface="Arial"/>
            </a:endParaRPr>
          </a:p>
          <a:p>
            <a:pPr algn="just" defTabSz="914400">
              <a:lnSpc>
                <a:spcPct val="100000"/>
              </a:lnSpc>
              <a:spcAft>
                <a:spcPts val="601"/>
              </a:spcAft>
            </a:pPr>
            <a:r>
              <a:rPr lang="es-MX" sz="1600" b="0" u="none" strike="noStrike">
                <a:solidFill>
                  <a:schemeClr val="dk1"/>
                </a:solidFill>
                <a:effectLst/>
                <a:uFillTx/>
                <a:latin typeface="Calibri"/>
              </a:rPr>
              <a:t>DocChat, un asistente de IA, responde solo con los manuales de cada empresa y cita la fuente.</a:t>
            </a:r>
            <a:endParaRPr lang="es-CL" sz="1600" b="0" u="none" strike="noStrike">
              <a:solidFill>
                <a:srgbClr val="000000"/>
              </a:solidFill>
              <a:effectLst/>
              <a:uFillTx/>
              <a:latin typeface="Arial"/>
            </a:endParaRPr>
          </a:p>
        </p:txBody>
      </p:sp>
      <p:sp>
        <p:nvSpPr>
          <p:cNvPr id="83" name="Flecha: a la derecha 7"/>
          <p:cNvSpPr/>
          <p:nvPr/>
        </p:nvSpPr>
        <p:spPr>
          <a:xfrm>
            <a:off x="5456880" y="3736080"/>
            <a:ext cx="1140120" cy="75672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lgn="ctr" defTabSz="914400">
              <a:lnSpc>
                <a:spcPct val="100000"/>
              </a:lnSpc>
            </a:pPr>
            <a:endParaRPr lang="es-CL" sz="1800" b="0" u="none" strike="noStrike">
              <a:solidFill>
                <a:schemeClr val="lt1"/>
              </a:solidFill>
              <a:effectLst/>
              <a:uFillTx/>
              <a:latin typeface="Calibri"/>
            </a:endParaRPr>
          </a:p>
        </p:txBody>
      </p:sp>
    </p:spTree>
  </p:cSld>
  <p:transition spd="slow">
    <p:wipe dir="l"/>
  </p:transition>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0" presetClass="entr"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additive="repl">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fill="hold" nodeType="clickEffect">
                                  <p:stCondLst>
                                    <p:cond delay="0"/>
                                  </p:stCondLst>
                                  <p:childTnLst>
                                    <p:set>
                                      <p:cBhvr>
                                        <p:cTn id="11" dur="1" fill="hold">
                                          <p:stCondLst>
                                            <p:cond delay="0"/>
                                          </p:stCondLst>
                                        </p:cTn>
                                        <p:tgtEl>
                                          <p:spTgt spid="83"/>
                                        </p:tgtEl>
                                        <p:attrNameLst>
                                          <p:attrName>style.visibility</p:attrName>
                                        </p:attrNameLst>
                                      </p:cBhvr>
                                      <p:to>
                                        <p:strVal val="visible"/>
                                      </p:to>
                                    </p:set>
                                    <p:animEffect transition="in" filter="fade">
                                      <p:cBhvr additive="repl">
                                        <p:cTn id="12" dur="500"/>
                                        <p:tgtEl>
                                          <p:spTgt spid="83"/>
                                        </p:tgtEl>
                                      </p:cBhvr>
                                    </p:animEffect>
                                  </p:childTnLst>
                                </p:cTn>
                              </p:par>
                              <p:par>
                                <p:cTn id="13" presetID="10" presetClass="entr" fill="hold" nodeType="withEffect">
                                  <p:stCondLst>
                                    <p:cond delay="0"/>
                                  </p:stCondLst>
                                  <p:childTnLst>
                                    <p:set>
                                      <p:cBhvr>
                                        <p:cTn id="14" dur="1" fill="hold">
                                          <p:stCondLst>
                                            <p:cond delay="0"/>
                                          </p:stCondLst>
                                        </p:cTn>
                                        <p:tgtEl>
                                          <p:spTgt spid="82"/>
                                        </p:tgtEl>
                                        <p:attrNameLst>
                                          <p:attrName>style.visibility</p:attrName>
                                        </p:attrNameLst>
                                      </p:cBhvr>
                                      <p:to>
                                        <p:strVal val="visible"/>
                                      </p:to>
                                    </p:set>
                                    <p:animEffect transition="in" filter="fade">
                                      <p:cBhvr additive="repl">
                                        <p:cTn id="15" dur="500"/>
                                        <p:tgtEl>
                                          <p:spTgt spid="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85"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86" name="CuadroTexto 6"/>
          <p:cNvSpPr/>
          <p:nvPr/>
        </p:nvSpPr>
        <p:spPr>
          <a:xfrm>
            <a:off x="0" y="138420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Objetivo General</a:t>
            </a:r>
            <a:endParaRPr lang="es-CL" sz="3600" b="0" u="none" strike="noStrike">
              <a:solidFill>
                <a:srgbClr val="000000"/>
              </a:solidFill>
              <a:effectLst/>
              <a:uFillTx/>
              <a:latin typeface="Arial"/>
            </a:endParaRPr>
          </a:p>
        </p:txBody>
      </p:sp>
      <p:cxnSp>
        <p:nvCxnSpPr>
          <p:cNvPr id="87" name="Conector recto 8"/>
          <p:cNvCxnSpPr/>
          <p:nvPr/>
        </p:nvCxnSpPr>
        <p:spPr>
          <a:xfrm>
            <a:off x="0" y="757800"/>
            <a:ext cx="4085640" cy="360"/>
          </a:xfrm>
          <a:prstGeom prst="straightConnector1">
            <a:avLst/>
          </a:prstGeom>
          <a:ln w="15875">
            <a:solidFill>
              <a:srgbClr val="ABC0E4"/>
            </a:solidFill>
          </a:ln>
        </p:spPr>
      </p:cxnSp>
      <p:sp>
        <p:nvSpPr>
          <p:cNvPr id="88" name="CuadroTexto 1"/>
          <p:cNvSpPr/>
          <p:nvPr/>
        </p:nvSpPr>
        <p:spPr>
          <a:xfrm>
            <a:off x="0" y="408240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Objetivos Específicos</a:t>
            </a:r>
            <a:endParaRPr lang="es-CL" sz="3600" b="0" u="none" strike="noStrike">
              <a:solidFill>
                <a:srgbClr val="000000"/>
              </a:solidFill>
              <a:effectLst/>
              <a:uFillTx/>
              <a:latin typeface="Arial"/>
            </a:endParaRPr>
          </a:p>
        </p:txBody>
      </p:sp>
      <p:sp>
        <p:nvSpPr>
          <p:cNvPr id="89" name="Rectángulo: esquinas redondeadas 2"/>
          <p:cNvSpPr/>
          <p:nvPr/>
        </p:nvSpPr>
        <p:spPr>
          <a:xfrm>
            <a:off x="614520" y="2040480"/>
            <a:ext cx="10962720" cy="1575000"/>
          </a:xfrm>
          <a:prstGeom prst="roundRect">
            <a:avLst>
              <a:gd name="adj" fmla="val 16667"/>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45000" rIns="90000" bIns="45000" anchor="ctr">
            <a:noAutofit/>
          </a:bodyPr>
          <a:p>
            <a:pPr algn="just" defTabSz="914400">
              <a:lnSpc>
                <a:spcPct val="100000"/>
              </a:lnSpc>
              <a:spcAft>
                <a:spcPts val="601"/>
              </a:spcAft>
            </a:pPr>
            <a:r>
              <a:rPr lang="es-MX" sz="1800" b="0" u="none" strike="noStrike">
                <a:solidFill>
                  <a:schemeClr val="dk1"/>
                </a:solidFill>
                <a:effectLst/>
                <a:uFillTx/>
                <a:latin typeface="Calibri"/>
              </a:rPr>
              <a:t>Desarrollar una plataforma web multiempresa de mantenimiento industrial que centralice las órdenes de trabajo, la topología de planta y la documentación técnica, incorporando un asistente de IA que responda exclusivamente con los documentos de cada empresa.</a:t>
            </a:r>
            <a:endParaRPr lang="es-CL" sz="1800" b="0" u="none" strike="noStrike">
              <a:solidFill>
                <a:srgbClr val="000000"/>
              </a:solidFill>
              <a:effectLst/>
              <a:uFillTx/>
              <a:latin typeface="Arial"/>
            </a:endParaRPr>
          </a:p>
        </p:txBody>
      </p:sp>
      <p:sp>
        <p:nvSpPr>
          <p:cNvPr id="90" name="Rectángulo: esquinas redondeadas 3"/>
          <p:cNvSpPr/>
          <p:nvPr/>
        </p:nvSpPr>
        <p:spPr>
          <a:xfrm>
            <a:off x="614520" y="4732560"/>
            <a:ext cx="10962720" cy="1575000"/>
          </a:xfrm>
          <a:prstGeom prst="roundRect">
            <a:avLst>
              <a:gd name="adj" fmla="val 16667"/>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45000" rIns="90000" bIns="45000" anchor="ctr">
            <a:noAutofit/>
          </a:bodyPr>
          <a:p>
            <a:pPr marL="285840" indent="-285840" defTabSz="914400">
              <a:lnSpc>
                <a:spcPct val="100000"/>
              </a:lnSpc>
              <a:spcAft>
                <a:spcPts val="601"/>
              </a:spcAft>
              <a:buClr>
                <a:srgbClr val="000000"/>
              </a:buClr>
              <a:buFont typeface="Arial"/>
              <a:buChar char="•"/>
            </a:pPr>
            <a:r>
              <a:rPr lang="es-MX" sz="1600" b="0" u="none" strike="noStrike">
                <a:solidFill>
                  <a:schemeClr val="dk1"/>
                </a:solidFill>
                <a:effectLst/>
                <a:uFillTx/>
                <a:latin typeface="Calibri"/>
              </a:rPr>
              <a:t>Gestionar usuarios, roles y licencias por empresa con aislamiento total de datos.</a:t>
            </a:r>
            <a:endParaRPr lang="es-CL" sz="16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lang="es-MX" sz="1600" b="0" u="none" strike="noStrike">
                <a:solidFill>
                  <a:schemeClr val="dk1"/>
                </a:solidFill>
                <a:effectLst/>
                <a:uFillTx/>
                <a:latin typeface="Calibri"/>
              </a:rPr>
              <a:t>Implementar el ciclo de vida de las OT con auditoría, KPIs y topología interactiva de planta.</a:t>
            </a:r>
            <a:endParaRPr lang="es-CL" sz="1600" b="0" u="none" strike="noStrike">
              <a:solidFill>
                <a:srgbClr val="000000"/>
              </a:solidFill>
              <a:effectLst/>
              <a:uFillTx/>
              <a:latin typeface="Arial"/>
            </a:endParaRPr>
          </a:p>
          <a:p>
            <a:pPr marL="285840" indent="-285840" defTabSz="914400">
              <a:lnSpc>
                <a:spcPct val="100000"/>
              </a:lnSpc>
              <a:spcAft>
                <a:spcPts val="601"/>
              </a:spcAft>
              <a:buClr>
                <a:srgbClr val="000000"/>
              </a:buClr>
              <a:buFont typeface="Arial"/>
              <a:buChar char="•"/>
            </a:pPr>
            <a:r>
              <a:rPr lang="es-MX" sz="1600" b="0" u="none" strike="noStrike">
                <a:solidFill>
                  <a:schemeClr val="dk1"/>
                </a:solidFill>
                <a:effectLst/>
                <a:uFillTx/>
                <a:latin typeface="Calibri"/>
              </a:rPr>
              <a:t>Construir el flujo de documentos y DocChat, que responde citando sus fuentes y sin inventar datos.</a:t>
            </a:r>
            <a:endParaRPr lang="es-CL" sz="1600" b="0" u="none" strike="noStrike">
              <a:solidFill>
                <a:srgbClr val="000000"/>
              </a:solidFill>
              <a:effectLst/>
              <a:uFillTx/>
              <a:latin typeface="Arial"/>
            </a:endParaRPr>
          </a:p>
        </p:txBody>
      </p:sp>
    </p:spTree>
  </p:cSld>
  <p:transition spd="slow">
    <p:wipe dir="l"/>
  </p:transition>
  <p:timing>
    <p:tnLst>
      <p:par>
        <p:cTn id="16" dur="indefinite" restart="never" nodeType="tmRoot">
          <p:childTnLst>
            <p:seq>
              <p:cTn id="17" dur="indefinite" nodeType="mainSeq">
                <p:childTnLst>
                  <p:par>
                    <p:cTn id="18" fill="hold">
                      <p:stCondLst>
                        <p:cond delay="indefinite"/>
                      </p:stCondLst>
                      <p:childTnLst>
                        <p:par>
                          <p:cTn id="19" fill="hold">
                            <p:stCondLst>
                              <p:cond delay="0"/>
                            </p:stCondLst>
                            <p:childTnLst>
                              <p:par>
                                <p:cTn id="20" presetID="10" presetClass="entr" fill="hold" nodeType="clickEffect">
                                  <p:stCondLst>
                                    <p:cond delay="0"/>
                                  </p:stCondLst>
                                  <p:childTnLst>
                                    <p:set>
                                      <p:cBhvr>
                                        <p:cTn id="21" dur="1" fill="hold">
                                          <p:stCondLst>
                                            <p:cond delay="0"/>
                                          </p:stCondLst>
                                        </p:cTn>
                                        <p:tgtEl>
                                          <p:spTgt spid="88"/>
                                        </p:tgtEl>
                                        <p:attrNameLst>
                                          <p:attrName>style.visibility</p:attrName>
                                        </p:attrNameLst>
                                      </p:cBhvr>
                                      <p:to>
                                        <p:strVal val="visible"/>
                                      </p:to>
                                    </p:set>
                                    <p:animEffect transition="in" filter="fade">
                                      <p:cBhvr additive="repl">
                                        <p:cTn id="22" dur="500"/>
                                        <p:tgtEl>
                                          <p:spTgt spid="88"/>
                                        </p:tgtEl>
                                      </p:cBhvr>
                                    </p:animEffect>
                                  </p:childTnLst>
                                </p:cTn>
                              </p:par>
                              <p:par>
                                <p:cTn id="23" presetID="10" presetClass="entr" fill="hold" nodeType="withEffect">
                                  <p:stCondLst>
                                    <p:cond delay="0"/>
                                  </p:stCondLst>
                                  <p:childTnLst>
                                    <p:set>
                                      <p:cBhvr>
                                        <p:cTn id="24" dur="1" fill="hold">
                                          <p:stCondLst>
                                            <p:cond delay="0"/>
                                          </p:stCondLst>
                                        </p:cTn>
                                        <p:tgtEl>
                                          <p:spTgt spid="90"/>
                                        </p:tgtEl>
                                        <p:attrNameLst>
                                          <p:attrName>style.visibility</p:attrName>
                                        </p:attrNameLst>
                                      </p:cBhvr>
                                      <p:to>
                                        <p:strVal val="visible"/>
                                      </p:to>
                                    </p:set>
                                    <p:animEffect transition="in" filter="fade">
                                      <p:cBhvr additive="repl">
                                        <p:cTn id="25" dur="500"/>
                                        <p:tgtEl>
                                          <p:spTgt spid="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92"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93"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Alcance y limitaciones del proyecto</a:t>
            </a:r>
            <a:endParaRPr lang="es-CL" sz="3200" b="0" u="none" strike="noStrike">
              <a:solidFill>
                <a:srgbClr val="000000"/>
              </a:solidFill>
              <a:effectLst/>
              <a:uFillTx/>
              <a:latin typeface="Arial"/>
            </a:endParaRPr>
          </a:p>
        </p:txBody>
      </p:sp>
      <p:cxnSp>
        <p:nvCxnSpPr>
          <p:cNvPr id="94" name="Conector recto 8"/>
          <p:cNvCxnSpPr/>
          <p:nvPr/>
        </p:nvCxnSpPr>
        <p:spPr>
          <a:xfrm>
            <a:off x="0" y="757800"/>
            <a:ext cx="4085640" cy="360"/>
          </a:xfrm>
          <a:prstGeom prst="straightConnector1">
            <a:avLst/>
          </a:prstGeom>
          <a:ln w="15875">
            <a:solidFill>
              <a:srgbClr val="ABC0E4"/>
            </a:solidFill>
          </a:ln>
        </p:spPr>
      </p:cxnSp>
      <p:sp>
        <p:nvSpPr>
          <p:cNvPr id="95" name="Tarjeta Funciona hoy"/>
          <p:cNvSpPr/>
          <p:nvPr/>
        </p:nvSpPr>
        <p:spPr>
          <a:xfrm>
            <a:off x="548640" y="1737360"/>
            <a:ext cx="5454000" cy="4205880"/>
          </a:xfrm>
          <a:prstGeom prst="roundRect">
            <a:avLst>
              <a:gd name="adj" fmla="val 1739"/>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96" name="Funciona hoy (círculo)"/>
          <p:cNvSpPr/>
          <p:nvPr/>
        </p:nvSpPr>
        <p:spPr>
          <a:xfrm>
            <a:off x="868680" y="1965960"/>
            <a:ext cx="594000" cy="594000"/>
          </a:xfrm>
          <a:prstGeom prst="ellipse">
            <a:avLst/>
          </a:prstGeom>
          <a:solidFill>
            <a:srgbClr val="16A34A"/>
          </a:solidFill>
          <a:ln w="12700">
            <a:solidFill>
              <a:srgbClr val="16A34A"/>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97" name="Funciona hoy" descr="Funciona hoy"/>
          <p:cNvPicPr/>
          <p:nvPr/>
        </p:nvPicPr>
        <p:blipFill>
          <a:blip r:embed="rId2"/>
          <a:stretch/>
        </p:blipFill>
        <p:spPr>
          <a:xfrm>
            <a:off x="1017360" y="2114640"/>
            <a:ext cx="297000" cy="297000"/>
          </a:xfrm>
          <a:prstGeom prst="rect">
            <a:avLst/>
          </a:prstGeom>
          <a:noFill/>
          <a:ln w="0">
            <a:noFill/>
          </a:ln>
        </p:spPr>
      </p:pic>
      <p:sp>
        <p:nvSpPr>
          <p:cNvPr id="98" name="Text 2"/>
          <p:cNvSpPr/>
          <p:nvPr/>
        </p:nvSpPr>
        <p:spPr>
          <a:xfrm>
            <a:off x="1645920" y="1965960"/>
            <a:ext cx="40230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11827"/>
                </a:solidFill>
                <a:effectLst/>
                <a:uFillTx/>
                <a:latin typeface="Calibri"/>
                <a:ea typeface="Calibri"/>
              </a:rPr>
              <a:t>Funciona hoy</a:t>
            </a:r>
            <a:endParaRPr lang="es-CL" sz="2200" b="0" u="none" strike="noStrike">
              <a:solidFill>
                <a:srgbClr val="000000"/>
              </a:solidFill>
              <a:effectLst/>
              <a:uFillTx/>
              <a:latin typeface="Arial"/>
            </a:endParaRPr>
          </a:p>
        </p:txBody>
      </p:sp>
      <p:sp>
        <p:nvSpPr>
          <p:cNvPr id="99" name="Text 3"/>
          <p:cNvSpPr/>
          <p:nvPr/>
        </p:nvSpPr>
        <p:spPr>
          <a:xfrm>
            <a:off x="914400" y="2834640"/>
            <a:ext cx="4754520" cy="292572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Usuarios, roles y licencias por empresa, con aislamiento multi-empresa</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Topología interactiva con el detalle de OTs de cada nodo</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Ciclo de vida de las OT con auditoría y dashboard de KPIs</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Documentos por empresa y DocChat que cita sus fuentes</a:t>
            </a:r>
            <a:endParaRPr lang="es-CL" sz="1800" b="0" u="none" strike="noStrike">
              <a:solidFill>
                <a:srgbClr val="000000"/>
              </a:solidFill>
              <a:effectLst/>
              <a:uFillTx/>
              <a:latin typeface="Arial"/>
            </a:endParaRPr>
          </a:p>
        </p:txBody>
      </p:sp>
      <p:sp>
        <p:nvSpPr>
          <p:cNvPr id="100" name="Tarjeta Limitaciones conocidas"/>
          <p:cNvSpPr/>
          <p:nvPr/>
        </p:nvSpPr>
        <p:spPr>
          <a:xfrm>
            <a:off x="6185880" y="1737360"/>
            <a:ext cx="5454000" cy="4205880"/>
          </a:xfrm>
          <a:prstGeom prst="roundRect">
            <a:avLst>
              <a:gd name="adj" fmla="val 1739"/>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101" name="Limitaciones conocidas (círculo)"/>
          <p:cNvSpPr/>
          <p:nvPr/>
        </p:nvSpPr>
        <p:spPr>
          <a:xfrm>
            <a:off x="6505920" y="1965960"/>
            <a:ext cx="594000" cy="594000"/>
          </a:xfrm>
          <a:prstGeom prst="ellipse">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102" name="Limitaciones conocidas" descr="Limitaciones conocidas"/>
          <p:cNvPicPr/>
          <p:nvPr/>
        </p:nvPicPr>
        <p:blipFill>
          <a:blip r:embed="rId3"/>
          <a:stretch/>
        </p:blipFill>
        <p:spPr>
          <a:xfrm>
            <a:off x="6654600" y="2114640"/>
            <a:ext cx="297000" cy="297000"/>
          </a:xfrm>
          <a:prstGeom prst="rect">
            <a:avLst/>
          </a:prstGeom>
          <a:noFill/>
          <a:ln w="0">
            <a:noFill/>
          </a:ln>
        </p:spPr>
      </p:pic>
      <p:sp>
        <p:nvSpPr>
          <p:cNvPr id="103" name="Text 6"/>
          <p:cNvSpPr/>
          <p:nvPr/>
        </p:nvSpPr>
        <p:spPr>
          <a:xfrm>
            <a:off x="7283160" y="1965960"/>
            <a:ext cx="4023000" cy="594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111827"/>
                </a:solidFill>
                <a:effectLst/>
                <a:uFillTx/>
                <a:latin typeface="Calibri"/>
                <a:ea typeface="Calibri"/>
              </a:rPr>
              <a:t>Limitaciones conocidas</a:t>
            </a:r>
            <a:endParaRPr lang="es-CL" sz="2200" b="0" u="none" strike="noStrike">
              <a:solidFill>
                <a:srgbClr val="000000"/>
              </a:solidFill>
              <a:effectLst/>
              <a:uFillTx/>
              <a:latin typeface="Arial"/>
            </a:endParaRPr>
          </a:p>
        </p:txBody>
      </p:sp>
      <p:sp>
        <p:nvSpPr>
          <p:cNvPr id="104" name="Text 7"/>
          <p:cNvSpPr/>
          <p:nvPr/>
        </p:nvSpPr>
        <p:spPr>
          <a:xfrm>
            <a:off x="6551640" y="2834640"/>
            <a:ext cx="4754520" cy="292572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La búsqueda es léxica (texto completo), no semántica con embeddings</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Los límites de consultas y tokens viven en memoria y se reinician con el servidor</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Backend sin pantalla aún: correo de atrasadas, tiempo real y chat con imágenes</a:t>
            </a:r>
            <a:endParaRPr lang="es-CL" sz="18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800" b="0" u="none" strike="noStrike">
                <a:solidFill>
                  <a:srgbClr val="111827"/>
                </a:solidFill>
                <a:effectLst/>
                <a:uFillTx/>
                <a:latin typeface="Calibri"/>
                <a:ea typeface="Calibri"/>
              </a:rPr>
              <a:t>Los PDF escaneados sin texto se rechazan al subir</a:t>
            </a:r>
            <a:endParaRPr lang="es-CL"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106"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107" name="CuadroTexto 6"/>
          <p:cNvSpPr/>
          <p:nvPr/>
        </p:nvSpPr>
        <p:spPr>
          <a:xfrm>
            <a:off x="0" y="143280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Metodología de trabajo para el desarrollo del proyecto</a:t>
            </a:r>
            <a:endParaRPr lang="es-CL" sz="3600" b="0" u="none" strike="noStrike">
              <a:solidFill>
                <a:srgbClr val="000000"/>
              </a:solidFill>
              <a:effectLst/>
              <a:uFillTx/>
              <a:latin typeface="Arial"/>
            </a:endParaRPr>
          </a:p>
        </p:txBody>
      </p:sp>
      <p:cxnSp>
        <p:nvCxnSpPr>
          <p:cNvPr id="108" name="Conector recto 8"/>
          <p:cNvCxnSpPr/>
          <p:nvPr/>
        </p:nvCxnSpPr>
        <p:spPr>
          <a:xfrm>
            <a:off x="0" y="757800"/>
            <a:ext cx="4085640" cy="360"/>
          </a:xfrm>
          <a:prstGeom prst="straightConnector1">
            <a:avLst/>
          </a:prstGeom>
          <a:ln w="15875">
            <a:solidFill>
              <a:srgbClr val="ABC0E4"/>
            </a:solidFill>
          </a:ln>
        </p:spPr>
      </p:cxnSp>
      <p:sp>
        <p:nvSpPr>
          <p:cNvPr id="109" name="Paso 1"/>
          <p:cNvSpPr/>
          <p:nvPr/>
        </p:nvSpPr>
        <p:spPr>
          <a:xfrm>
            <a:off x="660960" y="2250000"/>
            <a:ext cx="1949760" cy="27496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1. Historias de usuario</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Backlog en Jira (CGBIDA): una HU por funcionalidad.</a:t>
            </a:r>
            <a:endParaRPr lang="es-CL" sz="1400" b="0" u="none" strike="noStrike">
              <a:solidFill>
                <a:srgbClr val="000000"/>
              </a:solidFill>
              <a:effectLst/>
              <a:uFillTx/>
              <a:latin typeface="Arial"/>
            </a:endParaRPr>
          </a:p>
        </p:txBody>
      </p:sp>
      <p:sp>
        <p:nvSpPr>
          <p:cNvPr id="110" name="Right Arrow 1027"/>
          <p:cNvSpPr/>
          <p:nvPr/>
        </p:nvSpPr>
        <p:spPr>
          <a:xfrm>
            <a:off x="2640960" y="344988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11" name="Paso 2"/>
          <p:cNvSpPr/>
          <p:nvPr/>
        </p:nvSpPr>
        <p:spPr>
          <a:xfrm>
            <a:off x="2891160" y="2250000"/>
            <a:ext cx="1949760" cy="27496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2. Diseño previo</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Propuesta de arquitectura y contrato de API documentados antes de codificar.</a:t>
            </a:r>
            <a:endParaRPr lang="es-CL" sz="1400" b="0" u="none" strike="noStrike">
              <a:solidFill>
                <a:srgbClr val="000000"/>
              </a:solidFill>
              <a:effectLst/>
              <a:uFillTx/>
              <a:latin typeface="Arial"/>
            </a:endParaRPr>
          </a:p>
        </p:txBody>
      </p:sp>
      <p:sp>
        <p:nvSpPr>
          <p:cNvPr id="112" name="Right Arrow 1029"/>
          <p:cNvSpPr/>
          <p:nvPr/>
        </p:nvSpPr>
        <p:spPr>
          <a:xfrm>
            <a:off x="4871160" y="344988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13" name="Paso 3"/>
          <p:cNvSpPr/>
          <p:nvPr/>
        </p:nvSpPr>
        <p:spPr>
          <a:xfrm>
            <a:off x="5121000" y="2250000"/>
            <a:ext cx="1949760" cy="27496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3. Desarrollo</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Una rama por HU (feature/HU-xx) y commits convencionales: feat, fix, docs.</a:t>
            </a:r>
            <a:endParaRPr lang="es-CL" sz="1400" b="0" u="none" strike="noStrike">
              <a:solidFill>
                <a:srgbClr val="000000"/>
              </a:solidFill>
              <a:effectLst/>
              <a:uFillTx/>
              <a:latin typeface="Arial"/>
            </a:endParaRPr>
          </a:p>
        </p:txBody>
      </p:sp>
      <p:sp>
        <p:nvSpPr>
          <p:cNvPr id="114" name="Right Arrow 1031"/>
          <p:cNvSpPr/>
          <p:nvPr/>
        </p:nvSpPr>
        <p:spPr>
          <a:xfrm>
            <a:off x="7101000" y="344988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15" name="Paso 4"/>
          <p:cNvSpPr/>
          <p:nvPr/>
        </p:nvSpPr>
        <p:spPr>
          <a:xfrm>
            <a:off x="7350840" y="2250000"/>
            <a:ext cx="1949760" cy="27496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4. Revisión</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Pull request en GitHub y merge a main tras la revisión del equipo.</a:t>
            </a:r>
            <a:endParaRPr lang="es-CL" sz="1400" b="0" u="none" strike="noStrike">
              <a:solidFill>
                <a:srgbClr val="000000"/>
              </a:solidFill>
              <a:effectLst/>
              <a:uFillTx/>
              <a:latin typeface="Arial"/>
            </a:endParaRPr>
          </a:p>
        </p:txBody>
      </p:sp>
      <p:sp>
        <p:nvSpPr>
          <p:cNvPr id="116" name="Right Arrow 1033"/>
          <p:cNvSpPr/>
          <p:nvPr/>
        </p:nvSpPr>
        <p:spPr>
          <a:xfrm>
            <a:off x="9330840" y="344988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17" name="Paso 5"/>
          <p:cNvSpPr/>
          <p:nvPr/>
        </p:nvSpPr>
        <p:spPr>
          <a:xfrm>
            <a:off x="9581040" y="2250000"/>
            <a:ext cx="1949760" cy="27496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5. Despliegue</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Main despliega </a:t>
            </a:r>
            <a:r>
              <a:rPr lang="es-CL" sz="1400" b="0" u="none" strike="noStrike">
                <a:solidFill>
                  <a:schemeClr val="dk1"/>
                </a:solidFill>
                <a:effectLst/>
                <a:uFillTx/>
                <a:latin typeface="Calibri"/>
              </a:rPr>
              <a:t>en Render y </a:t>
            </a:r>
            <a:r>
              <a:rPr lang="es-CL" sz="1400" b="0" u="none" strike="noStrike">
                <a:solidFill>
                  <a:schemeClr val="dk1"/>
                </a:solidFill>
                <a:effectLst/>
                <a:uFillTx/>
                <a:latin typeface="Calibri"/>
              </a:rPr>
              <a:t>Cloudflare Pages; </a:t>
            </a:r>
            <a:r>
              <a:rPr lang="es-CL" sz="1400" b="0" u="none" strike="noStrike">
                <a:solidFill>
                  <a:schemeClr val="dk1"/>
                </a:solidFill>
                <a:effectLst/>
                <a:uFillTx/>
                <a:latin typeface="Calibri"/>
              </a:rPr>
              <a:t>migraciones con </a:t>
            </a:r>
            <a:r>
              <a:rPr lang="es-CL" sz="1400" b="0" u="none" strike="noStrike">
                <a:solidFill>
                  <a:schemeClr val="dk1"/>
                </a:solidFill>
                <a:effectLst/>
                <a:uFillTx/>
                <a:latin typeface="Calibri"/>
              </a:rPr>
              <a:t>Alembic.</a:t>
            </a:r>
            <a:endParaRPr lang="es-CL" sz="1400" b="0" u="none" strike="noStrike">
              <a:solidFill>
                <a:srgbClr val="000000"/>
              </a:solidFill>
              <a:effectLst/>
              <a:uFillTx/>
              <a:latin typeface="Arial"/>
            </a:endParaRPr>
          </a:p>
        </p:txBody>
      </p:sp>
      <p:sp>
        <p:nvSpPr>
          <p:cNvPr id="118" name="Calidad"/>
          <p:cNvSpPr/>
          <p:nvPr/>
        </p:nvSpPr>
        <p:spPr>
          <a:xfrm>
            <a:off x="660960" y="5249880"/>
            <a:ext cx="10869480" cy="119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Calidad y trabajo en equipo</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Desarrollo ágil por historias de usuario, con pruebas automatizadas (pytest y Vitest), documentación técnica en /docs, ramas paralelas por integrante y Claude Code como apoyo de desarrollo.</a:t>
            </a:r>
            <a:endParaRPr lang="es-CL" sz="1400" b="0" u="none" strike="noStrike">
              <a:solidFill>
                <a:srgbClr val="000000"/>
              </a:solidFill>
              <a:effectLst/>
              <a:uFillTx/>
              <a:latin typeface="Arial"/>
            </a:endParaRPr>
          </a:p>
        </p:txBody>
      </p:sp>
    </p:spTree>
  </p:cSld>
  <p:transition spd="slow">
    <p:wipe dir="l"/>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Picture 1"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120" name="CuadroTexto 5"/>
          <p:cNvSpPr/>
          <p:nvPr/>
        </p:nvSpPr>
        <p:spPr>
          <a:xfrm>
            <a:off x="136080" y="369000"/>
            <a:ext cx="12191760" cy="364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121" name="CuadroTexto 6"/>
          <p:cNvSpPr/>
          <p:nvPr/>
        </p:nvSpPr>
        <p:spPr>
          <a:xfrm>
            <a:off x="0" y="1155600"/>
            <a:ext cx="12191760" cy="8827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Release Plan para el desarrollo del proyecto</a:t>
            </a:r>
            <a:endParaRPr lang="es-CL" sz="3600" b="0" u="none" strike="noStrike">
              <a:solidFill>
                <a:srgbClr val="000000"/>
              </a:solidFill>
              <a:effectLst/>
              <a:uFillTx/>
              <a:latin typeface="Arial"/>
            </a:endParaRPr>
          </a:p>
          <a:p>
            <a:pPr algn="ctr" defTabSz="914400">
              <a:lnSpc>
                <a:spcPct val="100000"/>
              </a:lnSpc>
            </a:pPr>
            <a:r>
              <a:rPr lang="es-MX" sz="1600" b="0" u="none" strike="noStrike">
                <a:solidFill>
                  <a:schemeClr val="lt2">
                    <a:lumMod val="50000"/>
                  </a:schemeClr>
                </a:solidFill>
                <a:effectLst/>
                <a:uFillTx/>
                <a:latin typeface="Calibri"/>
              </a:rPr>
              <a:t>Entregas incrementales según el historial del repositorio</a:t>
            </a:r>
            <a:endParaRPr lang="es-CL" sz="1600" b="0" u="none" strike="noStrike">
              <a:solidFill>
                <a:srgbClr val="000000"/>
              </a:solidFill>
              <a:effectLst/>
              <a:uFillTx/>
              <a:latin typeface="Arial"/>
            </a:endParaRPr>
          </a:p>
        </p:txBody>
      </p:sp>
      <p:cxnSp>
        <p:nvCxnSpPr>
          <p:cNvPr id="122" name="Conector recto 8"/>
          <p:cNvCxnSpPr/>
          <p:nvPr/>
        </p:nvCxnSpPr>
        <p:spPr>
          <a:xfrm>
            <a:off x="0" y="757800"/>
            <a:ext cx="4085640" cy="360"/>
          </a:xfrm>
          <a:prstGeom prst="straightConnector1">
            <a:avLst/>
          </a:prstGeom>
          <a:ln w="15875">
            <a:solidFill>
              <a:srgbClr val="ABC0E4"/>
            </a:solidFill>
          </a:ln>
        </p:spPr>
      </p:cxnSp>
      <p:sp>
        <p:nvSpPr>
          <p:cNvPr id="123" name="Right Arrow 1027"/>
          <p:cNvSpPr/>
          <p:nvPr/>
        </p:nvSpPr>
        <p:spPr>
          <a:xfrm>
            <a:off x="2640960" y="394992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24" name="Release 2"/>
          <p:cNvSpPr/>
          <p:nvPr/>
        </p:nvSpPr>
        <p:spPr>
          <a:xfrm>
            <a:off x="1800000" y="2220480"/>
            <a:ext cx="1949760" cy="389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Release 1</a:t>
            </a:r>
            <a:endParaRPr lang="es-CL" sz="1800" b="0" u="none" strike="noStrike">
              <a:solidFill>
                <a:srgbClr val="000000"/>
              </a:solidFill>
              <a:effectLst/>
              <a:uFillTx/>
              <a:latin typeface="Arial"/>
            </a:endParaRPr>
          </a:p>
          <a:p>
            <a:pPr defTabSz="914400">
              <a:lnSpc>
                <a:spcPct val="100000"/>
              </a:lnSpc>
              <a:spcAft>
                <a:spcPts val="1001"/>
              </a:spcAft>
            </a:pPr>
            <a:r>
              <a:rPr lang="es-CL" sz="1400" b="0" i="1" u="none" strike="noStrike">
                <a:solidFill>
                  <a:schemeClr val="dk1"/>
                </a:solidFill>
                <a:effectLst/>
                <a:uFillTx/>
                <a:latin typeface="Calibri"/>
              </a:rPr>
              <a:t>25 Sep – 2 Oct</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Backend FastAPI y esquema de BD</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Autenticación y roles</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DocChat con IA</a:t>
            </a:r>
            <a:endParaRPr lang="es-CL" sz="1400" b="0" u="none" strike="noStrike">
              <a:solidFill>
                <a:srgbClr val="000000"/>
              </a:solidFill>
              <a:effectLst/>
              <a:uFillTx/>
              <a:latin typeface="Arial"/>
            </a:endParaRPr>
          </a:p>
        </p:txBody>
      </p:sp>
      <p:sp>
        <p:nvSpPr>
          <p:cNvPr id="125" name="Right Arrow 1029"/>
          <p:cNvSpPr/>
          <p:nvPr/>
        </p:nvSpPr>
        <p:spPr>
          <a:xfrm>
            <a:off x="4871160" y="394992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26" name="Release 3"/>
          <p:cNvSpPr/>
          <p:nvPr/>
        </p:nvSpPr>
        <p:spPr>
          <a:xfrm>
            <a:off x="4029840" y="2220480"/>
            <a:ext cx="1949760" cy="389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Release 2</a:t>
            </a:r>
            <a:endParaRPr lang="es-CL" sz="1800" b="0" u="none" strike="noStrike">
              <a:solidFill>
                <a:srgbClr val="000000"/>
              </a:solidFill>
              <a:effectLst/>
              <a:uFillTx/>
              <a:latin typeface="Arial"/>
            </a:endParaRPr>
          </a:p>
          <a:p>
            <a:pPr defTabSz="914400">
              <a:lnSpc>
                <a:spcPct val="100000"/>
              </a:lnSpc>
              <a:spcAft>
                <a:spcPts val="1001"/>
              </a:spcAft>
            </a:pPr>
            <a:r>
              <a:rPr lang="es-CL" sz="1400" b="0" i="1" u="none" strike="noStrike">
                <a:solidFill>
                  <a:schemeClr val="dk1"/>
                </a:solidFill>
                <a:effectLst/>
                <a:uFillTx/>
                <a:latin typeface="Calibri"/>
              </a:rPr>
              <a:t>3 Oct – 16 oct</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Crear órdenes de trabajo</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Historial del chat ES/EN</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Arquitectura RAG</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Multiempresa</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Despliegue en la nube</a:t>
            </a:r>
            <a:endParaRPr lang="es-CL" sz="1400" b="0" u="none" strike="noStrike">
              <a:solidFill>
                <a:srgbClr val="000000"/>
              </a:solidFill>
              <a:effectLst/>
              <a:uFillTx/>
              <a:latin typeface="Arial"/>
            </a:endParaRPr>
          </a:p>
        </p:txBody>
      </p:sp>
      <p:sp>
        <p:nvSpPr>
          <p:cNvPr id="127" name="Right Arrow 1031"/>
          <p:cNvSpPr/>
          <p:nvPr/>
        </p:nvSpPr>
        <p:spPr>
          <a:xfrm>
            <a:off x="7101000" y="394992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28" name="Release 4"/>
          <p:cNvSpPr/>
          <p:nvPr/>
        </p:nvSpPr>
        <p:spPr>
          <a:xfrm>
            <a:off x="6259680" y="2220480"/>
            <a:ext cx="1949760" cy="389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Release 3</a:t>
            </a:r>
            <a:endParaRPr lang="es-CL" sz="1800" b="0" u="none" strike="noStrike">
              <a:solidFill>
                <a:srgbClr val="000000"/>
              </a:solidFill>
              <a:effectLst/>
              <a:uFillTx/>
              <a:latin typeface="Arial"/>
            </a:endParaRPr>
          </a:p>
          <a:p>
            <a:pPr defTabSz="914400">
              <a:lnSpc>
                <a:spcPct val="100000"/>
              </a:lnSpc>
              <a:spcAft>
                <a:spcPts val="1001"/>
              </a:spcAft>
            </a:pPr>
            <a:r>
              <a:rPr lang="es-CL" sz="1400" b="0" i="1" u="none" strike="noStrike">
                <a:solidFill>
                  <a:schemeClr val="dk1"/>
                </a:solidFill>
                <a:effectLst/>
                <a:uFillTx/>
                <a:latin typeface="Calibri"/>
              </a:rPr>
              <a:t>17 Oct – 30 oct</a:t>
            </a:r>
            <a:endParaRPr lang="es-CL" sz="1400" b="0" u="none" strike="noStrike">
              <a:solidFill>
                <a:srgbClr val="000000"/>
              </a:solidFill>
              <a:effectLst/>
              <a:uFillTx/>
              <a:latin typeface="Arial"/>
            </a:endParaRPr>
          </a:p>
          <a:p>
            <a:pPr marL="216000" indent="-216000" defTabSz="914400">
              <a:lnSpc>
                <a:spcPct val="100000"/>
              </a:lnSpc>
              <a:spcAft>
                <a:spcPts val="1001"/>
              </a:spcAft>
              <a:buClr>
                <a:srgbClr val="000000"/>
              </a:buClr>
              <a:buFont typeface="Wingdings" charset="2"/>
              <a:buChar char=""/>
            </a:pPr>
            <a:r>
              <a:rPr lang="es-CL" sz="1400" b="0" u="none" strike="noStrike">
                <a:solidFill>
                  <a:schemeClr val="dk1"/>
                </a:solidFill>
                <a:effectLst/>
                <a:uFillTx/>
                <a:latin typeface="Calibri"/>
              </a:rPr>
              <a:t>Estados de OT y topología</a:t>
            </a:r>
            <a:endParaRPr lang="es-CL" sz="1400" b="0" u="none" strike="noStrike">
              <a:solidFill>
                <a:srgbClr val="000000"/>
              </a:solidFill>
              <a:effectLst/>
              <a:uFillTx/>
              <a:latin typeface="Arial"/>
            </a:endParaRPr>
          </a:p>
          <a:p>
            <a:pPr marL="216000" indent="-216000" defTabSz="914400">
              <a:lnSpc>
                <a:spcPct val="100000"/>
              </a:lnSpc>
              <a:spcAft>
                <a:spcPts val="1001"/>
              </a:spcAft>
              <a:buClr>
                <a:srgbClr val="000000"/>
              </a:buClr>
              <a:buFont typeface="Wingdings" charset="2"/>
              <a:buChar char=""/>
            </a:pPr>
            <a:r>
              <a:rPr lang="es-CL" sz="1400" b="0" u="none" strike="noStrike">
                <a:solidFill>
                  <a:schemeClr val="dk1"/>
                </a:solidFill>
                <a:effectLst/>
                <a:uFillTx/>
                <a:latin typeface="Calibri"/>
              </a:rPr>
              <a:t>Documentos en Storage</a:t>
            </a:r>
            <a:endParaRPr lang="es-CL" sz="1400" b="0" u="none" strike="noStrike">
              <a:solidFill>
                <a:srgbClr val="000000"/>
              </a:solidFill>
              <a:effectLst/>
              <a:uFillTx/>
              <a:latin typeface="Arial"/>
            </a:endParaRPr>
          </a:p>
        </p:txBody>
      </p:sp>
      <p:sp>
        <p:nvSpPr>
          <p:cNvPr id="129" name="Right Arrow 1033"/>
          <p:cNvSpPr/>
          <p:nvPr/>
        </p:nvSpPr>
        <p:spPr>
          <a:xfrm>
            <a:off x="9330840" y="3949920"/>
            <a:ext cx="219600" cy="349560"/>
          </a:xfrm>
          <a:prstGeom prst="rightArrow">
            <a:avLst>
              <a:gd name="adj1" fmla="val 50000"/>
              <a:gd name="adj2" fmla="val 50000"/>
            </a:avLst>
          </a:prstGeom>
          <a:solidFill>
            <a:srgbClr val="4472C4"/>
          </a:solidFill>
          <a:ln>
            <a:solidFill>
              <a:srgbClr val="1D3155"/>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p>
            <a:pPr/>
            <a:endParaRPr lang="es-CL" sz="1800" b="0" u="none" strike="noStrike">
              <a:solidFill>
                <a:schemeClr val="lt1"/>
              </a:solidFill>
              <a:effectLst/>
              <a:uFillTx/>
              <a:latin typeface="Calibri"/>
            </a:endParaRPr>
          </a:p>
        </p:txBody>
      </p:sp>
      <p:sp>
        <p:nvSpPr>
          <p:cNvPr id="130" name="Release 5"/>
          <p:cNvSpPr/>
          <p:nvPr/>
        </p:nvSpPr>
        <p:spPr>
          <a:xfrm>
            <a:off x="8489880" y="2220480"/>
            <a:ext cx="1949760" cy="389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Release 4</a:t>
            </a:r>
            <a:endParaRPr lang="es-CL" sz="1800" b="0" u="none" strike="noStrike">
              <a:solidFill>
                <a:srgbClr val="000000"/>
              </a:solidFill>
              <a:effectLst/>
              <a:uFillTx/>
              <a:latin typeface="Arial"/>
            </a:endParaRPr>
          </a:p>
          <a:p>
            <a:pPr defTabSz="914400">
              <a:lnSpc>
                <a:spcPct val="100000"/>
              </a:lnSpc>
              <a:spcAft>
                <a:spcPts val="1001"/>
              </a:spcAft>
            </a:pPr>
            <a:r>
              <a:rPr lang="es-CL" sz="1400" b="0" i="1" u="none" strike="noStrike">
                <a:solidFill>
                  <a:schemeClr val="dk1"/>
                </a:solidFill>
                <a:effectLst/>
                <a:uFillTx/>
                <a:latin typeface="Calibri"/>
              </a:rPr>
              <a:t>31 Oct– 13 Nov</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Gestión de usuarios</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Chat multimodal</a:t>
            </a:r>
            <a:endParaRPr lang="es-CL" sz="1400" b="0" u="none" strike="noStrike">
              <a:solidFill>
                <a:srgbClr val="000000"/>
              </a:solidFill>
              <a:effectLst/>
              <a:uFillTx/>
              <a:latin typeface="Arial"/>
            </a:endParaRPr>
          </a:p>
          <a:p>
            <a:pPr marL="228600" indent="-228600" defTabSz="914400">
              <a:lnSpc>
                <a:spcPct val="100000"/>
              </a:lnSpc>
              <a:spcAft>
                <a:spcPts val="601"/>
              </a:spcAft>
              <a:buClr>
                <a:srgbClr val="000000"/>
              </a:buClr>
              <a:buFont typeface="Arial"/>
              <a:buChar char="•"/>
            </a:pPr>
            <a:r>
              <a:rPr lang="es-CL" sz="1400" b="0" u="none" strike="noStrike">
                <a:solidFill>
                  <a:schemeClr val="dk1"/>
                </a:solidFill>
                <a:effectLst/>
                <a:uFillTx/>
                <a:latin typeface="Calibri"/>
              </a:rPr>
              <a:t>Cierre y presentación</a:t>
            </a:r>
            <a:endParaRPr lang="es-CL" sz="1400" b="0" u="none" strike="noStrike">
              <a:solidFill>
                <a:srgbClr val="000000"/>
              </a:solidFill>
              <a:effectLst/>
              <a:uFillTx/>
              <a:latin typeface="Arial"/>
            </a:endParaRPr>
          </a:p>
        </p:txBody>
      </p:sp>
    </p:spTree>
  </p:cSld>
  <p:transition spd="slow">
    <p:wipe dir="l"/>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132"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133" name="CuadroTexto 6"/>
          <p:cNvSpPr/>
          <p:nvPr/>
        </p:nvSpPr>
        <p:spPr>
          <a:xfrm>
            <a:off x="0" y="960120"/>
            <a:ext cx="12191760" cy="5842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Arquitectura en capas</a:t>
            </a:r>
            <a:endParaRPr lang="es-CL" sz="3200" b="0" u="none" strike="noStrike">
              <a:solidFill>
                <a:srgbClr val="000000"/>
              </a:solidFill>
              <a:effectLst/>
              <a:uFillTx/>
              <a:latin typeface="Arial"/>
            </a:endParaRPr>
          </a:p>
        </p:txBody>
      </p:sp>
      <p:cxnSp>
        <p:nvCxnSpPr>
          <p:cNvPr id="134" name="Conector recto 8"/>
          <p:cNvCxnSpPr/>
          <p:nvPr/>
        </p:nvCxnSpPr>
        <p:spPr>
          <a:xfrm>
            <a:off x="0" y="757800"/>
            <a:ext cx="4085640" cy="360"/>
          </a:xfrm>
          <a:prstGeom prst="straightConnector1">
            <a:avLst/>
          </a:prstGeom>
          <a:ln w="15875">
            <a:solidFill>
              <a:srgbClr val="ABC0E4"/>
            </a:solidFill>
          </a:ln>
        </p:spPr>
      </p:cxnSp>
      <p:sp>
        <p:nvSpPr>
          <p:cNvPr id="135" name="Solicitud"/>
          <p:cNvSpPr/>
          <p:nvPr/>
        </p:nvSpPr>
        <p:spPr>
          <a:xfrm>
            <a:off x="571680" y="1752480"/>
            <a:ext cx="406080" cy="4012920"/>
          </a:xfrm>
          <a:prstGeom prst="downArrow">
            <a:avLst>
              <a:gd name="adj1" fmla="val 100000"/>
              <a:gd name="adj2" fmla="val 50000"/>
            </a:avLst>
          </a:prstGeom>
          <a:solidFill>
            <a:srgbClr val="94A3B8"/>
          </a:solidFill>
          <a:ln w="0">
            <a:noFill/>
          </a:ln>
        </p:spPr>
        <p:style>
          <a:lnRef idx="0"/>
          <a:fillRef idx="0"/>
          <a:effectRef idx="0"/>
          <a:fontRef idx="minor"/>
        </p:style>
        <p:txBody>
          <a:bodyPr lIns="0" tIns="0" rIns="0" bIns="0" anchor="ctr" vert="vert">
            <a:noAutofit/>
          </a:bodyPr>
          <a:p>
            <a:pPr algn="ctr" defTabSz="914400">
              <a:lnSpc>
                <a:spcPct val="100000"/>
              </a:lnSpc>
              <a:tabLst>
                <a:tab pos="0" algn="l"/>
              </a:tabLst>
            </a:pPr>
            <a:r>
              <a:rPr lang="es-CL" sz="1400" b="1" u="none" strike="noStrike">
                <a:solidFill>
                  <a:srgbClr val="FFFFFF"/>
                </a:solidFill>
                <a:effectLst/>
                <a:uFillTx/>
                <a:latin typeface="Calibri"/>
                <a:ea typeface="Calibri"/>
              </a:rPr>
              <a:t>Solicitud</a:t>
            </a:r>
            <a:endParaRPr lang="es-CL" sz="1400" b="0" u="none" strike="noStrike">
              <a:solidFill>
                <a:srgbClr val="000000"/>
              </a:solidFill>
              <a:effectLst/>
              <a:uFillTx/>
              <a:latin typeface="Arial"/>
            </a:endParaRPr>
          </a:p>
        </p:txBody>
      </p:sp>
      <p:sp>
        <p:nvSpPr>
          <p:cNvPr id="136" name="Respuesta"/>
          <p:cNvSpPr/>
          <p:nvPr/>
        </p:nvSpPr>
        <p:spPr>
          <a:xfrm>
            <a:off x="1079640" y="1752480"/>
            <a:ext cx="406080" cy="4012920"/>
          </a:xfrm>
          <a:prstGeom prst="upArrow">
            <a:avLst>
              <a:gd name="adj1" fmla="val 100000"/>
              <a:gd name="adj2" fmla="val 50000"/>
            </a:avLst>
          </a:prstGeom>
          <a:solidFill>
            <a:srgbClr val="CBD5E1"/>
          </a:solidFill>
          <a:ln w="0">
            <a:noFill/>
          </a:ln>
        </p:spPr>
        <p:style>
          <a:lnRef idx="0"/>
          <a:fillRef idx="0"/>
          <a:effectRef idx="0"/>
          <a:fontRef idx="minor"/>
        </p:style>
        <p:txBody>
          <a:bodyPr lIns="0" tIns="0" rIns="0" bIns="0" anchor="ctr" vert="vert270">
            <a:noAutofit/>
          </a:bodyPr>
          <a:p>
            <a:pPr algn="ctr" defTabSz="914400">
              <a:lnSpc>
                <a:spcPct val="100000"/>
              </a:lnSpc>
              <a:tabLst>
                <a:tab pos="0" algn="l"/>
              </a:tabLst>
            </a:pPr>
            <a:r>
              <a:rPr lang="es-CL" sz="1400" b="1" u="none" strike="noStrike">
                <a:solidFill>
                  <a:srgbClr val="334155"/>
                </a:solidFill>
                <a:effectLst/>
                <a:uFillTx/>
                <a:latin typeface="Calibri"/>
                <a:ea typeface="Calibri"/>
              </a:rPr>
              <a:t>Respuesta</a:t>
            </a:r>
            <a:endParaRPr lang="es-CL" sz="1400" b="0" u="none" strike="noStrike">
              <a:solidFill>
                <a:srgbClr val="000000"/>
              </a:solidFill>
              <a:effectLst/>
              <a:uFillTx/>
              <a:latin typeface="Arial"/>
            </a:endParaRPr>
          </a:p>
        </p:txBody>
      </p:sp>
      <p:sp>
        <p:nvSpPr>
          <p:cNvPr id="137" name="Capa Presentación fondo"/>
          <p:cNvSpPr/>
          <p:nvPr/>
        </p:nvSpPr>
        <p:spPr>
          <a:xfrm>
            <a:off x="1612800" y="1752480"/>
            <a:ext cx="7581600" cy="888480"/>
          </a:xfrm>
          <a:prstGeom prst="roundRect">
            <a:avLst>
              <a:gd name="adj" fmla="val 8000"/>
            </a:avLst>
          </a:prstGeom>
          <a:solidFill>
            <a:srgbClr val="EAF0FD"/>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38" name="Capa Presentación etiqueta"/>
          <p:cNvSpPr/>
          <p:nvPr/>
        </p:nvSpPr>
        <p:spPr>
          <a:xfrm>
            <a:off x="1612800" y="1752480"/>
            <a:ext cx="2031480" cy="888480"/>
          </a:xfrm>
          <a:prstGeom prst="roundRect">
            <a:avLst>
              <a:gd name="adj" fmla="val 8000"/>
            </a:avLst>
          </a:prstGeom>
          <a:solidFill>
            <a:srgbClr val="1D4ED8"/>
          </a:solidFill>
          <a:ln w="0">
            <a:noFill/>
          </a:ln>
        </p:spPr>
        <p:style>
          <a:lnRef idx="0"/>
          <a:fillRef idx="0"/>
          <a:effectRef idx="0"/>
          <a:fontRef idx="minor"/>
        </p:style>
        <p:txBody>
          <a:bodyPr lIns="152280" tIns="50760" rIns="101520" bIns="50760" anchor="ctr">
            <a:noAutofit/>
          </a:bodyPr>
          <a:p>
            <a:pPr defTabSz="914400">
              <a:lnSpc>
                <a:spcPct val="100000"/>
              </a:lnSpc>
              <a:tabLst>
                <a:tab pos="0" algn="l"/>
              </a:tabLst>
            </a:pPr>
            <a:r>
              <a:rPr lang="es-CL" sz="1600" b="1" u="none" strike="noStrike">
                <a:solidFill>
                  <a:srgbClr val="FFFFFF"/>
                </a:solidFill>
                <a:effectLst/>
                <a:uFillTx/>
                <a:latin typeface="Calibri"/>
                <a:ea typeface="Calibri"/>
              </a:rPr>
              <a:t>Presentación</a:t>
            </a:r>
            <a:endParaRPr lang="es-CL" sz="1600" b="0" u="none" strike="noStrike">
              <a:solidFill>
                <a:srgbClr val="FFFFFF"/>
              </a:solidFill>
              <a:effectLst/>
              <a:uFillTx/>
              <a:latin typeface="Arial"/>
            </a:endParaRPr>
          </a:p>
          <a:p>
            <a:pPr defTabSz="914400">
              <a:lnSpc>
                <a:spcPct val="100000"/>
              </a:lnSpc>
              <a:tabLst>
                <a:tab pos="0" algn="l"/>
              </a:tabLst>
            </a:pPr>
            <a:r>
              <a:rPr lang="es-CL" sz="1400" b="0" u="none" strike="noStrike">
                <a:solidFill>
                  <a:srgbClr val="FFFFFF"/>
                </a:solidFill>
                <a:effectLst/>
                <a:uFillTx/>
                <a:latin typeface="Calibri"/>
                <a:ea typeface="Calibri"/>
              </a:rPr>
              <a:t>Frontend · interfaz</a:t>
            </a:r>
            <a:endParaRPr lang="es-CL" sz="1400" b="0" u="none" strike="noStrike">
              <a:solidFill>
                <a:srgbClr val="FFFFFF"/>
              </a:solidFill>
              <a:effectLst/>
              <a:uFillTx/>
              <a:latin typeface="Arial"/>
            </a:endParaRPr>
          </a:p>
        </p:txBody>
      </p:sp>
      <p:sp>
        <p:nvSpPr>
          <p:cNvPr id="139" name="Tecnología Angular 22"/>
          <p:cNvSpPr/>
          <p:nvPr/>
        </p:nvSpPr>
        <p:spPr>
          <a:xfrm>
            <a:off x="3746520" y="1841400"/>
            <a:ext cx="1904760" cy="711000"/>
          </a:xfrm>
          <a:prstGeom prst="roundRect">
            <a:avLst>
              <a:gd name="adj" fmla="val 10000"/>
            </a:avLst>
          </a:prstGeom>
          <a:solidFill>
            <a:srgbClr val="FFFFFF"/>
          </a:solidFill>
          <a:ln w="9525">
            <a:solidFill>
              <a:srgbClr val="BCCDF6"/>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Angular 22</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standalone y signals</a:t>
            </a:r>
            <a:endParaRPr lang="es-CL" sz="1400" b="0" u="none" strike="noStrike">
              <a:solidFill>
                <a:srgbClr val="000000"/>
              </a:solidFill>
              <a:effectLst/>
              <a:uFillTx/>
              <a:latin typeface="Arial"/>
            </a:endParaRPr>
          </a:p>
        </p:txBody>
      </p:sp>
      <p:sp>
        <p:nvSpPr>
          <p:cNvPr id="140" name="Tecnología Tailwind CSS v4"/>
          <p:cNvSpPr/>
          <p:nvPr/>
        </p:nvSpPr>
        <p:spPr>
          <a:xfrm>
            <a:off x="5753160" y="1841400"/>
            <a:ext cx="1549080" cy="711000"/>
          </a:xfrm>
          <a:prstGeom prst="roundRect">
            <a:avLst>
              <a:gd name="adj" fmla="val 10000"/>
            </a:avLst>
          </a:prstGeom>
          <a:solidFill>
            <a:srgbClr val="FFFFFF"/>
          </a:solidFill>
          <a:ln w="9525">
            <a:solidFill>
              <a:srgbClr val="BCCDF6"/>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Tailwind CSS v4</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estilos</a:t>
            </a:r>
            <a:endParaRPr lang="es-CL" sz="1400" b="0" u="none" strike="noStrike">
              <a:solidFill>
                <a:srgbClr val="000000"/>
              </a:solidFill>
              <a:effectLst/>
              <a:uFillTx/>
              <a:latin typeface="Arial"/>
            </a:endParaRPr>
          </a:p>
        </p:txBody>
      </p:sp>
      <p:sp>
        <p:nvSpPr>
          <p:cNvPr id="141" name="Tecnología Bilingüe"/>
          <p:cNvSpPr/>
          <p:nvPr/>
        </p:nvSpPr>
        <p:spPr>
          <a:xfrm>
            <a:off x="7404120" y="1841400"/>
            <a:ext cx="1688760" cy="711000"/>
          </a:xfrm>
          <a:prstGeom prst="roundRect">
            <a:avLst>
              <a:gd name="adj" fmla="val 10000"/>
            </a:avLst>
          </a:prstGeom>
          <a:solidFill>
            <a:srgbClr val="FFFFFF"/>
          </a:solidFill>
          <a:ln w="9525">
            <a:solidFill>
              <a:srgbClr val="BCCDF6"/>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Bilingüe</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español e inglés</a:t>
            </a:r>
            <a:endParaRPr lang="es-CL" sz="1400" b="0" u="none" strike="noStrike">
              <a:solidFill>
                <a:srgbClr val="000000"/>
              </a:solidFill>
              <a:effectLst/>
              <a:uFillTx/>
              <a:latin typeface="Arial"/>
            </a:endParaRPr>
          </a:p>
        </p:txBody>
      </p:sp>
      <p:sp>
        <p:nvSpPr>
          <p:cNvPr id="142" name="Capa cerrada 1"/>
          <p:cNvSpPr/>
          <p:nvPr/>
        </p:nvSpPr>
        <p:spPr>
          <a:xfrm>
            <a:off x="3898800" y="2641680"/>
            <a:ext cx="151920" cy="151920"/>
          </a:xfrm>
          <a:prstGeom prst="downArrow">
            <a:avLst>
              <a:gd name="adj1" fmla="val 50000"/>
              <a:gd name="adj2" fmla="val 50000"/>
            </a:avLst>
          </a:prstGeom>
          <a:solidFill>
            <a:srgbClr val="94A3B8"/>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43" name="Capa Negocio fondo"/>
          <p:cNvSpPr/>
          <p:nvPr/>
        </p:nvSpPr>
        <p:spPr>
          <a:xfrm>
            <a:off x="1612800" y="2793960"/>
            <a:ext cx="7581600" cy="888480"/>
          </a:xfrm>
          <a:prstGeom prst="roundRect">
            <a:avLst>
              <a:gd name="adj" fmla="val 8000"/>
            </a:avLst>
          </a:prstGeom>
          <a:solidFill>
            <a:srgbClr val="E5F3F1"/>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44" name="Capa Negocio etiqueta"/>
          <p:cNvSpPr/>
          <p:nvPr/>
        </p:nvSpPr>
        <p:spPr>
          <a:xfrm>
            <a:off x="1612800" y="2793960"/>
            <a:ext cx="2031480" cy="888480"/>
          </a:xfrm>
          <a:prstGeom prst="roundRect">
            <a:avLst>
              <a:gd name="adj" fmla="val 8000"/>
            </a:avLst>
          </a:prstGeom>
          <a:solidFill>
            <a:srgbClr val="0F766E"/>
          </a:solidFill>
          <a:ln w="0">
            <a:noFill/>
          </a:ln>
        </p:spPr>
        <p:style>
          <a:lnRef idx="0"/>
          <a:fillRef idx="0"/>
          <a:effectRef idx="0"/>
          <a:fontRef idx="minor"/>
        </p:style>
        <p:txBody>
          <a:bodyPr lIns="152280" tIns="50760" rIns="101520" bIns="50760" anchor="ctr">
            <a:noAutofit/>
          </a:bodyPr>
          <a:p>
            <a:pPr defTabSz="914400">
              <a:lnSpc>
                <a:spcPct val="100000"/>
              </a:lnSpc>
              <a:tabLst>
                <a:tab pos="0" algn="l"/>
              </a:tabLst>
            </a:pPr>
            <a:r>
              <a:rPr lang="es-CL" sz="1600" b="1" u="none" strike="noStrike">
                <a:solidFill>
                  <a:srgbClr val="FFFFFF"/>
                </a:solidFill>
                <a:effectLst/>
                <a:uFillTx/>
                <a:latin typeface="Calibri"/>
                <a:ea typeface="Calibri"/>
              </a:rPr>
              <a:t>Negocio</a:t>
            </a:r>
            <a:endParaRPr lang="es-CL" sz="1600" b="0" u="none" strike="noStrike">
              <a:solidFill>
                <a:srgbClr val="FFFFFF"/>
              </a:solidFill>
              <a:effectLst/>
              <a:uFillTx/>
              <a:latin typeface="Arial"/>
            </a:endParaRPr>
          </a:p>
          <a:p>
            <a:pPr defTabSz="914400">
              <a:lnSpc>
                <a:spcPct val="100000"/>
              </a:lnSpc>
              <a:tabLst>
                <a:tab pos="0" algn="l"/>
              </a:tabLst>
            </a:pPr>
            <a:r>
              <a:rPr lang="es-CL" sz="1400" b="0" u="none" strike="noStrike">
                <a:solidFill>
                  <a:srgbClr val="FFFFFF"/>
                </a:solidFill>
                <a:effectLst/>
                <a:uFillTx/>
                <a:latin typeface="Calibri"/>
                <a:ea typeface="Calibri"/>
              </a:rPr>
              <a:t>Backend · reglas</a:t>
            </a:r>
            <a:endParaRPr lang="es-CL" sz="1400" b="0" u="none" strike="noStrike">
              <a:solidFill>
                <a:srgbClr val="FFFFFF"/>
              </a:solidFill>
              <a:effectLst/>
              <a:uFillTx/>
              <a:latin typeface="Arial"/>
            </a:endParaRPr>
          </a:p>
        </p:txBody>
      </p:sp>
      <p:sp>
        <p:nvSpPr>
          <p:cNvPr id="145" name="Tecnología FastAPI"/>
          <p:cNvSpPr/>
          <p:nvPr/>
        </p:nvSpPr>
        <p:spPr>
          <a:xfrm>
            <a:off x="3746520" y="2882880"/>
            <a:ext cx="1714320" cy="711000"/>
          </a:xfrm>
          <a:prstGeom prst="roundRect">
            <a:avLst>
              <a:gd name="adj" fmla="val 10000"/>
            </a:avLst>
          </a:prstGeom>
          <a:solidFill>
            <a:srgbClr val="FFFFFF"/>
          </a:solidFill>
          <a:ln w="9525">
            <a:solidFill>
              <a:srgbClr val="AFDAD4"/>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FastAPI</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Python 3.12</a:t>
            </a:r>
            <a:endParaRPr lang="es-CL" sz="1400" b="0" u="none" strike="noStrike">
              <a:solidFill>
                <a:srgbClr val="000000"/>
              </a:solidFill>
              <a:effectLst/>
              <a:uFillTx/>
              <a:latin typeface="Arial"/>
            </a:endParaRPr>
          </a:p>
        </p:txBody>
      </p:sp>
      <p:sp>
        <p:nvSpPr>
          <p:cNvPr id="146" name="Tecnología Sesiones"/>
          <p:cNvSpPr/>
          <p:nvPr/>
        </p:nvSpPr>
        <p:spPr>
          <a:xfrm>
            <a:off x="5562720" y="2882880"/>
            <a:ext cx="1714320" cy="711000"/>
          </a:xfrm>
          <a:prstGeom prst="roundRect">
            <a:avLst>
              <a:gd name="adj" fmla="val 10000"/>
            </a:avLst>
          </a:prstGeom>
          <a:solidFill>
            <a:srgbClr val="FFFFFF"/>
          </a:solidFill>
          <a:ln w="9525">
            <a:solidFill>
              <a:srgbClr val="AFDAD4"/>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Sesiones</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con token</a:t>
            </a:r>
            <a:endParaRPr lang="es-CL" sz="1400" b="0" u="none" strike="noStrike">
              <a:solidFill>
                <a:srgbClr val="000000"/>
              </a:solidFill>
              <a:effectLst/>
              <a:uFillTx/>
              <a:latin typeface="Arial"/>
            </a:endParaRPr>
          </a:p>
        </p:txBody>
      </p:sp>
      <p:sp>
        <p:nvSpPr>
          <p:cNvPr id="147" name="Tecnología Roles y auditoría"/>
          <p:cNvSpPr/>
          <p:nvPr/>
        </p:nvSpPr>
        <p:spPr>
          <a:xfrm>
            <a:off x="7378560" y="2882880"/>
            <a:ext cx="1714320" cy="711000"/>
          </a:xfrm>
          <a:prstGeom prst="roundRect">
            <a:avLst>
              <a:gd name="adj" fmla="val 10000"/>
            </a:avLst>
          </a:prstGeom>
          <a:solidFill>
            <a:srgbClr val="FFFFFF"/>
          </a:solidFill>
          <a:ln w="9525">
            <a:solidFill>
              <a:srgbClr val="AFDAD4"/>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Roles y auditoría</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control por rol</a:t>
            </a:r>
            <a:endParaRPr lang="es-CL" sz="1400" b="0" u="none" strike="noStrike">
              <a:solidFill>
                <a:srgbClr val="000000"/>
              </a:solidFill>
              <a:effectLst/>
              <a:uFillTx/>
              <a:latin typeface="Arial"/>
            </a:endParaRPr>
          </a:p>
        </p:txBody>
      </p:sp>
      <p:sp>
        <p:nvSpPr>
          <p:cNvPr id="148" name="Capa cerrada 2"/>
          <p:cNvSpPr/>
          <p:nvPr/>
        </p:nvSpPr>
        <p:spPr>
          <a:xfrm>
            <a:off x="3898800" y="3683160"/>
            <a:ext cx="151920" cy="151920"/>
          </a:xfrm>
          <a:prstGeom prst="downArrow">
            <a:avLst>
              <a:gd name="adj1" fmla="val 50000"/>
              <a:gd name="adj2" fmla="val 50000"/>
            </a:avLst>
          </a:prstGeom>
          <a:solidFill>
            <a:srgbClr val="94A3B8"/>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49" name="Capa Persistencia fondo"/>
          <p:cNvSpPr/>
          <p:nvPr/>
        </p:nvSpPr>
        <p:spPr>
          <a:xfrm>
            <a:off x="1612800" y="3835440"/>
            <a:ext cx="7581600" cy="888480"/>
          </a:xfrm>
          <a:prstGeom prst="roundRect">
            <a:avLst>
              <a:gd name="adj" fmla="val 8000"/>
            </a:avLst>
          </a:prstGeom>
          <a:solidFill>
            <a:srgbClr val="FDF1E3"/>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50" name="Capa Persistencia etiqueta"/>
          <p:cNvSpPr/>
          <p:nvPr/>
        </p:nvSpPr>
        <p:spPr>
          <a:xfrm>
            <a:off x="1612800" y="3835440"/>
            <a:ext cx="2031480" cy="888480"/>
          </a:xfrm>
          <a:prstGeom prst="roundRect">
            <a:avLst>
              <a:gd name="adj" fmla="val 8000"/>
            </a:avLst>
          </a:prstGeom>
          <a:solidFill>
            <a:srgbClr val="B45309"/>
          </a:solidFill>
          <a:ln w="0">
            <a:noFill/>
          </a:ln>
        </p:spPr>
        <p:style>
          <a:lnRef idx="0"/>
          <a:fillRef idx="0"/>
          <a:effectRef idx="0"/>
          <a:fontRef idx="minor"/>
        </p:style>
        <p:txBody>
          <a:bodyPr lIns="152280" tIns="50760" rIns="101520" bIns="50760" anchor="ctr">
            <a:noAutofit/>
          </a:bodyPr>
          <a:p>
            <a:pPr defTabSz="914400">
              <a:lnSpc>
                <a:spcPct val="100000"/>
              </a:lnSpc>
              <a:tabLst>
                <a:tab pos="0" algn="l"/>
              </a:tabLst>
            </a:pPr>
            <a:r>
              <a:rPr lang="es-CL" sz="1600" b="1" u="none" strike="noStrike">
                <a:solidFill>
                  <a:srgbClr val="FFFFFF"/>
                </a:solidFill>
                <a:effectLst/>
                <a:uFillTx/>
                <a:latin typeface="Calibri"/>
                <a:ea typeface="Calibri"/>
              </a:rPr>
              <a:t>Persistencia</a:t>
            </a:r>
            <a:endParaRPr lang="es-CL" sz="1600" b="0" u="none" strike="noStrike">
              <a:solidFill>
                <a:srgbClr val="FFFFFF"/>
              </a:solidFill>
              <a:effectLst/>
              <a:uFillTx/>
              <a:latin typeface="Arial"/>
            </a:endParaRPr>
          </a:p>
          <a:p>
            <a:pPr defTabSz="914400">
              <a:lnSpc>
                <a:spcPct val="100000"/>
              </a:lnSpc>
              <a:tabLst>
                <a:tab pos="0" algn="l"/>
              </a:tabLst>
            </a:pPr>
            <a:r>
              <a:rPr lang="es-CL" sz="1400" b="0" u="none" strike="noStrike">
                <a:solidFill>
                  <a:srgbClr val="FFFFFF"/>
                </a:solidFill>
                <a:effectLst/>
                <a:uFillTx/>
                <a:latin typeface="Calibri"/>
                <a:ea typeface="Calibri"/>
              </a:rPr>
              <a:t>Backend · datos</a:t>
            </a:r>
            <a:endParaRPr lang="es-CL" sz="1400" b="0" u="none" strike="noStrike">
              <a:solidFill>
                <a:srgbClr val="FFFFFF"/>
              </a:solidFill>
              <a:effectLst/>
              <a:uFillTx/>
              <a:latin typeface="Arial"/>
            </a:endParaRPr>
          </a:p>
        </p:txBody>
      </p:sp>
      <p:sp>
        <p:nvSpPr>
          <p:cNvPr id="151" name="Tecnología psycopg3"/>
          <p:cNvSpPr/>
          <p:nvPr/>
        </p:nvSpPr>
        <p:spPr>
          <a:xfrm>
            <a:off x="3746520" y="3924360"/>
            <a:ext cx="2622240" cy="711000"/>
          </a:xfrm>
          <a:prstGeom prst="roundRect">
            <a:avLst>
              <a:gd name="adj" fmla="val 10000"/>
            </a:avLst>
          </a:prstGeom>
          <a:solidFill>
            <a:srgbClr val="FFFFFF"/>
          </a:solidFill>
          <a:ln w="9525">
            <a:solidFill>
              <a:srgbClr val="F5D3AE"/>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psycopg3</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acceso asíncrono</a:t>
            </a:r>
            <a:endParaRPr lang="es-CL" sz="1400" b="0" u="none" strike="noStrike">
              <a:solidFill>
                <a:srgbClr val="000000"/>
              </a:solidFill>
              <a:effectLst/>
              <a:uFillTx/>
              <a:latin typeface="Arial"/>
            </a:endParaRPr>
          </a:p>
        </p:txBody>
      </p:sp>
      <p:sp>
        <p:nvSpPr>
          <p:cNvPr id="152" name="Tecnología SQL directo"/>
          <p:cNvSpPr/>
          <p:nvPr/>
        </p:nvSpPr>
        <p:spPr>
          <a:xfrm>
            <a:off x="6470640" y="3924360"/>
            <a:ext cx="2622240" cy="711000"/>
          </a:xfrm>
          <a:prstGeom prst="roundRect">
            <a:avLst>
              <a:gd name="adj" fmla="val 10000"/>
            </a:avLst>
          </a:prstGeom>
          <a:solidFill>
            <a:srgbClr val="FFFFFF"/>
          </a:solidFill>
          <a:ln w="9525">
            <a:solidFill>
              <a:srgbClr val="F5D3AE"/>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SQL directo</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sin ORM</a:t>
            </a:r>
            <a:endParaRPr lang="es-CL" sz="1400" b="0" u="none" strike="noStrike">
              <a:solidFill>
                <a:srgbClr val="000000"/>
              </a:solidFill>
              <a:effectLst/>
              <a:uFillTx/>
              <a:latin typeface="Arial"/>
            </a:endParaRPr>
          </a:p>
        </p:txBody>
      </p:sp>
      <p:sp>
        <p:nvSpPr>
          <p:cNvPr id="153" name="Capa cerrada 3"/>
          <p:cNvSpPr/>
          <p:nvPr/>
        </p:nvSpPr>
        <p:spPr>
          <a:xfrm>
            <a:off x="3898800" y="4724280"/>
            <a:ext cx="151920" cy="151920"/>
          </a:xfrm>
          <a:prstGeom prst="downArrow">
            <a:avLst>
              <a:gd name="adj1" fmla="val 50000"/>
              <a:gd name="adj2" fmla="val 50000"/>
            </a:avLst>
          </a:prstGeom>
          <a:solidFill>
            <a:srgbClr val="94A3B8"/>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54" name="Capa Base de datos fondo"/>
          <p:cNvSpPr/>
          <p:nvPr/>
        </p:nvSpPr>
        <p:spPr>
          <a:xfrm>
            <a:off x="1612800" y="4876920"/>
            <a:ext cx="7581600" cy="888480"/>
          </a:xfrm>
          <a:prstGeom prst="roundRect">
            <a:avLst>
              <a:gd name="adj" fmla="val 8000"/>
            </a:avLst>
          </a:prstGeom>
          <a:solidFill>
            <a:srgbClr val="F1EBFC"/>
          </a:solidFill>
          <a:ln w="0">
            <a:noFill/>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55" name="Capa Base de datos etiqueta"/>
          <p:cNvSpPr/>
          <p:nvPr/>
        </p:nvSpPr>
        <p:spPr>
          <a:xfrm>
            <a:off x="1612800" y="4876920"/>
            <a:ext cx="2031480" cy="888480"/>
          </a:xfrm>
          <a:prstGeom prst="roundRect">
            <a:avLst>
              <a:gd name="adj" fmla="val 8000"/>
            </a:avLst>
          </a:prstGeom>
          <a:solidFill>
            <a:srgbClr val="6D28D9"/>
          </a:solidFill>
          <a:ln w="0">
            <a:noFill/>
          </a:ln>
        </p:spPr>
        <p:style>
          <a:lnRef idx="0"/>
          <a:fillRef idx="0"/>
          <a:effectRef idx="0"/>
          <a:fontRef idx="minor"/>
        </p:style>
        <p:txBody>
          <a:bodyPr lIns="152280" tIns="50760" rIns="101520" bIns="50760" anchor="ctr">
            <a:noAutofit/>
          </a:bodyPr>
          <a:p>
            <a:pPr defTabSz="914400">
              <a:lnSpc>
                <a:spcPct val="100000"/>
              </a:lnSpc>
              <a:tabLst>
                <a:tab pos="0" algn="l"/>
              </a:tabLst>
            </a:pPr>
            <a:r>
              <a:rPr lang="es-CL" sz="1600" b="1" u="none" strike="noStrike">
                <a:solidFill>
                  <a:srgbClr val="FFFFFF"/>
                </a:solidFill>
                <a:effectLst/>
                <a:uFillTx/>
                <a:latin typeface="Calibri"/>
                <a:ea typeface="Calibri"/>
              </a:rPr>
              <a:t>Base de datos</a:t>
            </a:r>
            <a:endParaRPr lang="es-CL" sz="1600" b="0" u="none" strike="noStrike">
              <a:solidFill>
                <a:srgbClr val="FFFFFF"/>
              </a:solidFill>
              <a:effectLst/>
              <a:uFillTx/>
              <a:latin typeface="Arial"/>
            </a:endParaRPr>
          </a:p>
          <a:p>
            <a:pPr defTabSz="914400">
              <a:lnSpc>
                <a:spcPct val="100000"/>
              </a:lnSpc>
              <a:tabLst>
                <a:tab pos="0" algn="l"/>
              </a:tabLst>
            </a:pPr>
            <a:r>
              <a:rPr lang="es-CL" sz="1400" b="0" u="none" strike="noStrike">
                <a:solidFill>
                  <a:srgbClr val="FFFFFF"/>
                </a:solidFill>
                <a:effectLst/>
                <a:uFillTx/>
                <a:latin typeface="Calibri"/>
                <a:ea typeface="Calibri"/>
              </a:rPr>
              <a:t>almacenamiento</a:t>
            </a:r>
            <a:endParaRPr lang="es-CL" sz="1400" b="0" u="none" strike="noStrike">
              <a:solidFill>
                <a:srgbClr val="FFFFFF"/>
              </a:solidFill>
              <a:effectLst/>
              <a:uFillTx/>
              <a:latin typeface="Arial"/>
            </a:endParaRPr>
          </a:p>
        </p:txBody>
      </p:sp>
      <p:sp>
        <p:nvSpPr>
          <p:cNvPr id="156" name="Tecnología PostgreSQL"/>
          <p:cNvSpPr/>
          <p:nvPr/>
        </p:nvSpPr>
        <p:spPr>
          <a:xfrm>
            <a:off x="3746520" y="4965840"/>
            <a:ext cx="2622240" cy="711000"/>
          </a:xfrm>
          <a:prstGeom prst="roundRect">
            <a:avLst>
              <a:gd name="adj" fmla="val 10000"/>
            </a:avLst>
          </a:prstGeom>
          <a:solidFill>
            <a:srgbClr val="FFFFFF"/>
          </a:solidFill>
          <a:ln w="9525">
            <a:solidFill>
              <a:srgbClr val="D3C2F3"/>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PostgreSQL</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datos de la plataforma</a:t>
            </a:r>
            <a:endParaRPr lang="es-CL" sz="1400" b="0" u="none" strike="noStrike">
              <a:solidFill>
                <a:srgbClr val="000000"/>
              </a:solidFill>
              <a:effectLst/>
              <a:uFillTx/>
              <a:latin typeface="Arial"/>
            </a:endParaRPr>
          </a:p>
        </p:txBody>
      </p:sp>
      <p:sp>
        <p:nvSpPr>
          <p:cNvPr id="157" name="Tecnología Supabase Storage"/>
          <p:cNvSpPr/>
          <p:nvPr/>
        </p:nvSpPr>
        <p:spPr>
          <a:xfrm>
            <a:off x="6470640" y="4965840"/>
            <a:ext cx="2622240" cy="711000"/>
          </a:xfrm>
          <a:prstGeom prst="roundRect">
            <a:avLst>
              <a:gd name="adj" fmla="val 10000"/>
            </a:avLst>
          </a:prstGeom>
          <a:solidFill>
            <a:srgbClr val="FFFFFF"/>
          </a:solidFill>
          <a:ln w="9525">
            <a:solidFill>
              <a:srgbClr val="D3C2F3"/>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Supabase Storage</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archivos y manuales</a:t>
            </a:r>
            <a:endParaRPr lang="es-CL" sz="1400" b="0" u="none" strike="noStrike">
              <a:solidFill>
                <a:srgbClr val="000000"/>
              </a:solidFill>
              <a:effectLst/>
              <a:uFillTx/>
              <a:latin typeface="Arial"/>
            </a:endParaRPr>
          </a:p>
        </p:txBody>
      </p:sp>
      <p:sp>
        <p:nvSpPr>
          <p:cNvPr id="158" name="Servicios fondo"/>
          <p:cNvSpPr/>
          <p:nvPr/>
        </p:nvSpPr>
        <p:spPr>
          <a:xfrm>
            <a:off x="9398160" y="2793960"/>
            <a:ext cx="2234880" cy="1929960"/>
          </a:xfrm>
          <a:prstGeom prst="roundRect">
            <a:avLst>
              <a:gd name="adj" fmla="val 6000"/>
            </a:avLst>
          </a:prstGeom>
          <a:solidFill>
            <a:srgbClr val="F1F5F9"/>
          </a:solidFill>
          <a:ln w="9525">
            <a:solidFill>
              <a:srgbClr val="64748B"/>
            </a:solidFill>
            <a:prstDash val="dash"/>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59" name="Servicios título"/>
          <p:cNvSpPr/>
          <p:nvPr/>
        </p:nvSpPr>
        <p:spPr>
          <a:xfrm>
            <a:off x="9524880" y="2895480"/>
            <a:ext cx="1980720" cy="482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CL" sz="1600" b="1" u="none" strike="noStrike">
                <a:solidFill>
                  <a:srgbClr val="334155"/>
                </a:solidFill>
                <a:effectLst/>
                <a:uFillTx/>
                <a:latin typeface="Calibri"/>
                <a:ea typeface="Calibri"/>
              </a:rPr>
              <a:t>Servicios compartidos</a:t>
            </a:r>
            <a:endParaRPr lang="es-CL" sz="1600" b="0" u="none" strike="noStrike">
              <a:solidFill>
                <a:srgbClr val="000000"/>
              </a:solidFill>
              <a:effectLst/>
              <a:uFillTx/>
              <a:latin typeface="Arial"/>
            </a:endParaRPr>
          </a:p>
          <a:p>
            <a:pPr defTabSz="914400">
              <a:lnSpc>
                <a:spcPct val="100000"/>
              </a:lnSpc>
              <a:tabLst>
                <a:tab pos="0" algn="l"/>
              </a:tabLst>
            </a:pPr>
            <a:r>
              <a:rPr lang="es-CL" sz="1400" b="0" i="1" u="none" strike="noStrike">
                <a:solidFill>
                  <a:srgbClr val="64748B"/>
                </a:solidFill>
                <a:effectLst/>
                <a:uFillTx/>
                <a:latin typeface="Calibri"/>
                <a:ea typeface="Calibri"/>
              </a:rPr>
              <a:t>capa abierta</a:t>
            </a:r>
            <a:endParaRPr lang="es-CL" sz="1400" b="0" u="none" strike="noStrike">
              <a:solidFill>
                <a:srgbClr val="000000"/>
              </a:solidFill>
              <a:effectLst/>
              <a:uFillTx/>
              <a:latin typeface="Arial"/>
            </a:endParaRPr>
          </a:p>
        </p:txBody>
      </p:sp>
      <p:sp>
        <p:nvSpPr>
          <p:cNvPr id="160" name="Tecnología LangChain"/>
          <p:cNvSpPr/>
          <p:nvPr/>
        </p:nvSpPr>
        <p:spPr>
          <a:xfrm>
            <a:off x="9524880" y="3429000"/>
            <a:ext cx="1980720" cy="558360"/>
          </a:xfrm>
          <a:prstGeom prst="roundRect">
            <a:avLst>
              <a:gd name="adj" fmla="val 10000"/>
            </a:avLst>
          </a:prstGeom>
          <a:solidFill>
            <a:srgbClr val="FFFFFF"/>
          </a:solidFill>
          <a:ln w="9525">
            <a:solidFill>
              <a:srgbClr val="CBD5E1"/>
            </a:solidFill>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LangChain</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LLM para DocChat</a:t>
            </a:r>
            <a:endParaRPr lang="es-CL" sz="1400" b="0" u="none" strike="noStrike">
              <a:solidFill>
                <a:srgbClr val="000000"/>
              </a:solidFill>
              <a:effectLst/>
              <a:uFillTx/>
              <a:latin typeface="Arial"/>
            </a:endParaRPr>
          </a:p>
        </p:txBody>
      </p:sp>
      <p:sp>
        <p:nvSpPr>
          <p:cNvPr id="161" name="Tecnología Redis"/>
          <p:cNvSpPr/>
          <p:nvPr/>
        </p:nvSpPr>
        <p:spPr>
          <a:xfrm>
            <a:off x="9524880" y="4064040"/>
            <a:ext cx="1980720" cy="558360"/>
          </a:xfrm>
          <a:prstGeom prst="roundRect">
            <a:avLst>
              <a:gd name="adj" fmla="val 10000"/>
            </a:avLst>
          </a:prstGeom>
          <a:solidFill>
            <a:srgbClr val="FFFFFF"/>
          </a:solidFill>
          <a:ln w="9525">
            <a:solidFill>
              <a:srgbClr val="94A3B8"/>
            </a:solidFill>
            <a:prstDash val="dash"/>
            <a:round/>
          </a:ln>
        </p:spPr>
        <p:style>
          <a:lnRef idx="0"/>
          <a:fillRef idx="0"/>
          <a:effectRef idx="0"/>
          <a:fontRef idx="minor"/>
        </p:style>
        <p:txBody>
          <a:bodyPr lIns="127080" tIns="25560" rIns="76320" bIns="25560" anchor="ctr">
            <a:noAutofit/>
          </a:bodyPr>
          <a:p>
            <a:pPr defTabSz="914400">
              <a:lnSpc>
                <a:spcPct val="100000"/>
              </a:lnSpc>
              <a:tabLst>
                <a:tab pos="0" algn="l"/>
              </a:tabLst>
            </a:pPr>
            <a:r>
              <a:rPr lang="es-CL" sz="1400" b="1" u="none" strike="noStrike">
                <a:solidFill>
                  <a:srgbClr val="111827"/>
                </a:solidFill>
                <a:effectLst/>
                <a:uFillTx/>
                <a:latin typeface="Calibri"/>
                <a:ea typeface="Calibri"/>
              </a:rPr>
              <a:t>Redis</a:t>
            </a:r>
            <a:endParaRPr lang="es-CL" sz="1400" b="0" u="none" strike="noStrike">
              <a:solidFill>
                <a:srgbClr val="000000"/>
              </a:solidFill>
              <a:effectLst/>
              <a:uFillTx/>
              <a:latin typeface="Arial"/>
            </a:endParaRPr>
          </a:p>
          <a:p>
            <a:pPr defTabSz="914400">
              <a:lnSpc>
                <a:spcPct val="100000"/>
              </a:lnSpc>
              <a:tabLst>
                <a:tab pos="0" algn="l"/>
              </a:tabLst>
            </a:pPr>
            <a:r>
              <a:rPr lang="es-CL" sz="1400" b="0" u="none" strike="noStrike">
                <a:solidFill>
                  <a:srgbClr val="64748B"/>
                </a:solidFill>
                <a:effectLst/>
                <a:uFillTx/>
                <a:latin typeface="Calibri"/>
                <a:ea typeface="Calibri"/>
              </a:rPr>
              <a:t>caché opcional</a:t>
            </a:r>
            <a:endParaRPr lang="es-CL" sz="1400" b="0" u="none" strike="noStrike">
              <a:solidFill>
                <a:srgbClr val="000000"/>
              </a:solidFill>
              <a:effectLst/>
              <a:uFillTx/>
              <a:latin typeface="Arial"/>
            </a:endParaRPr>
          </a:p>
        </p:txBody>
      </p:sp>
      <p:sp>
        <p:nvSpPr>
          <p:cNvPr id="162" name="Conexión servicios"/>
          <p:cNvSpPr/>
          <p:nvPr/>
        </p:nvSpPr>
        <p:spPr>
          <a:xfrm>
            <a:off x="9194760" y="3238200"/>
            <a:ext cx="203040" cy="360"/>
          </a:xfrm>
          <a:prstGeom prst="line">
            <a:avLst/>
          </a:prstGeom>
          <a:ln w="15875">
            <a:solidFill>
              <a:srgbClr val="64748B"/>
            </a:solidFill>
            <a:prstDash val="dash"/>
            <a:round/>
            <a:headEnd len="sm" type="triangle" w="sm"/>
            <a:tailEnd len="sm" type="triangle" w="sm"/>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163" name="Nota"/>
          <p:cNvSpPr/>
          <p:nvPr/>
        </p:nvSpPr>
        <p:spPr>
          <a:xfrm>
            <a:off x="546120" y="6095880"/>
            <a:ext cx="11086920" cy="4312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s-CL" sz="1100" b="0" u="none" strike="noStrike">
                <a:solidFill>
                  <a:srgbClr val="4B5563"/>
                </a:solidFill>
                <a:effectLst/>
                <a:uFillTx/>
                <a:latin typeface="Calibri"/>
                <a:ea typeface="Calibri"/>
              </a:rPr>
              <a:t>Capas cerradas: cada solicitud baja por la capa inmediatamente inferior y la respuesta vuelve por el mismo camino. Servicios compartidos es una capa abierta que usa la capa de negocio.</a:t>
            </a:r>
            <a:endParaRPr lang="es-CL" sz="1100" b="0" u="none" strike="noStrike">
              <a:solidFill>
                <a:srgbClr val="000000"/>
              </a:solidFill>
              <a:effectLst/>
              <a:uFillTx/>
              <a:latin typeface="Arial"/>
            </a:endParaRPr>
          </a:p>
          <a:p>
            <a:pPr defTabSz="914400">
              <a:lnSpc>
                <a:spcPct val="100000"/>
              </a:lnSpc>
              <a:tabLst>
                <a:tab pos="0" algn="l"/>
              </a:tabLst>
            </a:pPr>
            <a:r>
              <a:rPr lang="es-CL" sz="1100" b="0" u="none" strike="noStrike">
                <a:solidFill>
                  <a:srgbClr val="4B5563"/>
                </a:solidFill>
                <a:effectLst/>
                <a:uFillTx/>
                <a:latin typeface="Calibri"/>
                <a:ea typeface="Calibri"/>
              </a:rPr>
              <a:t>Fuente: modelo de cuatro capas (presentación, negocio, persistencia, base de datos) según A. Chourasia, “Mastering Software Architecture: Part 3”, Medium.</a:t>
            </a:r>
            <a:endParaRPr lang="es-CL"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4"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165"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166" name="CuadroTexto 6"/>
          <p:cNvSpPr/>
          <p:nvPr/>
        </p:nvSpPr>
        <p:spPr>
          <a:xfrm>
            <a:off x="0" y="143280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Modelo de datos</a:t>
            </a:r>
            <a:endParaRPr lang="es-CL" sz="3600" b="0" u="none" strike="noStrike">
              <a:solidFill>
                <a:srgbClr val="000000"/>
              </a:solidFill>
              <a:effectLst/>
              <a:uFillTx/>
              <a:latin typeface="Arial"/>
            </a:endParaRPr>
          </a:p>
        </p:txBody>
      </p:sp>
      <p:cxnSp>
        <p:nvCxnSpPr>
          <p:cNvPr id="167" name="Conector recto 8"/>
          <p:cNvCxnSpPr/>
          <p:nvPr/>
        </p:nvCxnSpPr>
        <p:spPr>
          <a:xfrm>
            <a:off x="0" y="757800"/>
            <a:ext cx="4085640" cy="360"/>
          </a:xfrm>
          <a:prstGeom prst="straightConnector1">
            <a:avLst/>
          </a:prstGeom>
          <a:ln w="15875">
            <a:solidFill>
              <a:srgbClr val="ABC0E4"/>
            </a:solidFill>
          </a:ln>
        </p:spPr>
      </p:cxnSp>
      <p:cxnSp>
        <p:nvCxnSpPr>
          <p:cNvPr id="168" name="Connector 1026"/>
          <p:cNvCxnSpPr/>
          <p:nvPr/>
        </p:nvCxnSpPr>
        <p:spPr>
          <a:xfrm>
            <a:off x="3049920" y="2674800"/>
            <a:ext cx="500400" cy="360"/>
          </a:xfrm>
          <a:prstGeom prst="straightConnector1">
            <a:avLst/>
          </a:prstGeom>
          <a:ln w="19050">
            <a:solidFill>
              <a:srgbClr val="4472C4"/>
            </a:solidFill>
          </a:ln>
        </p:spPr>
      </p:cxnSp>
      <p:cxnSp>
        <p:nvCxnSpPr>
          <p:cNvPr id="169" name="Connector 1027"/>
          <p:cNvCxnSpPr/>
          <p:nvPr/>
        </p:nvCxnSpPr>
        <p:spPr>
          <a:xfrm>
            <a:off x="5850000" y="2674800"/>
            <a:ext cx="500040" cy="360"/>
          </a:xfrm>
          <a:prstGeom prst="straightConnector1">
            <a:avLst/>
          </a:prstGeom>
          <a:ln w="19050">
            <a:solidFill>
              <a:srgbClr val="4472C4"/>
            </a:solidFill>
          </a:ln>
        </p:spPr>
      </p:cxnSp>
      <p:cxnSp>
        <p:nvCxnSpPr>
          <p:cNvPr id="170" name="Connector 1028"/>
          <p:cNvCxnSpPr/>
          <p:nvPr/>
        </p:nvCxnSpPr>
        <p:spPr>
          <a:xfrm>
            <a:off x="8649720" y="2674800"/>
            <a:ext cx="500400" cy="360"/>
          </a:xfrm>
          <a:prstGeom prst="straightConnector1">
            <a:avLst/>
          </a:prstGeom>
          <a:ln w="19050">
            <a:solidFill>
              <a:srgbClr val="4472C4"/>
            </a:solidFill>
          </a:ln>
        </p:spPr>
      </p:cxnSp>
      <p:cxnSp>
        <p:nvCxnSpPr>
          <p:cNvPr id="171" name="Connector 1029"/>
          <p:cNvCxnSpPr/>
          <p:nvPr/>
        </p:nvCxnSpPr>
        <p:spPr>
          <a:xfrm>
            <a:off x="3049920" y="4174920"/>
            <a:ext cx="500400" cy="360"/>
          </a:xfrm>
          <a:prstGeom prst="straightConnector1">
            <a:avLst/>
          </a:prstGeom>
          <a:ln w="19050">
            <a:solidFill>
              <a:srgbClr val="4472C4"/>
            </a:solidFill>
          </a:ln>
        </p:spPr>
      </p:cxnSp>
      <p:cxnSp>
        <p:nvCxnSpPr>
          <p:cNvPr id="172" name="Connector 1030"/>
          <p:cNvCxnSpPr/>
          <p:nvPr/>
        </p:nvCxnSpPr>
        <p:spPr>
          <a:xfrm>
            <a:off x="5850000" y="4174920"/>
            <a:ext cx="500040" cy="360"/>
          </a:xfrm>
          <a:prstGeom prst="straightConnector1">
            <a:avLst/>
          </a:prstGeom>
          <a:ln w="19050">
            <a:solidFill>
              <a:srgbClr val="4472C4"/>
            </a:solidFill>
          </a:ln>
        </p:spPr>
      </p:cxnSp>
      <p:cxnSp>
        <p:nvCxnSpPr>
          <p:cNvPr id="173" name="Connector 1031"/>
          <p:cNvCxnSpPr/>
          <p:nvPr/>
        </p:nvCxnSpPr>
        <p:spPr>
          <a:xfrm>
            <a:off x="7499880" y="3249720"/>
            <a:ext cx="360" cy="350640"/>
          </a:xfrm>
          <a:prstGeom prst="straightConnector1">
            <a:avLst/>
          </a:prstGeom>
          <a:ln w="19050">
            <a:solidFill>
              <a:srgbClr val="4472C4"/>
            </a:solidFill>
          </a:ln>
        </p:spPr>
      </p:cxnSp>
      <p:cxnSp>
        <p:nvCxnSpPr>
          <p:cNvPr id="174" name="Connector 1032"/>
          <p:cNvCxnSpPr/>
          <p:nvPr/>
        </p:nvCxnSpPr>
        <p:spPr>
          <a:xfrm>
            <a:off x="10299960" y="3249720"/>
            <a:ext cx="360" cy="350640"/>
          </a:xfrm>
          <a:prstGeom prst="straightConnector1">
            <a:avLst/>
          </a:prstGeom>
          <a:ln w="19050">
            <a:solidFill>
              <a:srgbClr val="4472C4"/>
            </a:solidFill>
          </a:ln>
        </p:spPr>
      </p:cxnSp>
      <p:cxnSp>
        <p:nvCxnSpPr>
          <p:cNvPr id="175" name="Connector 1033"/>
          <p:cNvCxnSpPr/>
          <p:nvPr/>
        </p:nvCxnSpPr>
        <p:spPr>
          <a:xfrm>
            <a:off x="4699800" y="4749840"/>
            <a:ext cx="360" cy="350280"/>
          </a:xfrm>
          <a:prstGeom prst="straightConnector1">
            <a:avLst/>
          </a:prstGeom>
          <a:ln w="19050">
            <a:solidFill>
              <a:srgbClr val="4472C4"/>
            </a:solidFill>
          </a:ln>
        </p:spPr>
      </p:cxnSp>
      <p:cxnSp>
        <p:nvCxnSpPr>
          <p:cNvPr id="176" name="Connector 1034"/>
          <p:cNvCxnSpPr/>
          <p:nvPr/>
        </p:nvCxnSpPr>
        <p:spPr>
          <a:xfrm>
            <a:off x="3049920" y="5674680"/>
            <a:ext cx="500400" cy="360"/>
          </a:xfrm>
          <a:prstGeom prst="straightConnector1">
            <a:avLst/>
          </a:prstGeom>
          <a:ln w="19050">
            <a:solidFill>
              <a:srgbClr val="4472C4"/>
            </a:solidFill>
          </a:ln>
        </p:spPr>
      </p:cxnSp>
      <p:cxnSp>
        <p:nvCxnSpPr>
          <p:cNvPr id="177" name="Connector 1035"/>
          <p:cNvCxnSpPr/>
          <p:nvPr/>
        </p:nvCxnSpPr>
        <p:spPr>
          <a:xfrm>
            <a:off x="5850000" y="5674680"/>
            <a:ext cx="500040" cy="360"/>
          </a:xfrm>
          <a:prstGeom prst="straightConnector1">
            <a:avLst/>
          </a:prstGeom>
          <a:ln w="19050">
            <a:solidFill>
              <a:srgbClr val="4472C4"/>
            </a:solidFill>
          </a:ln>
        </p:spPr>
      </p:cxnSp>
      <p:sp>
        <p:nvSpPr>
          <p:cNvPr id="178" name="SESION"/>
          <p:cNvSpPr/>
          <p:nvPr/>
        </p:nvSpPr>
        <p:spPr>
          <a:xfrm>
            <a:off x="749880" y="209988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SESION</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token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usuario_id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creado_en</a:t>
            </a:r>
            <a:endParaRPr lang="es-CL" sz="1000" b="0" u="none" strike="noStrike">
              <a:solidFill>
                <a:srgbClr val="000000"/>
              </a:solidFill>
              <a:effectLst/>
              <a:uFillTx/>
              <a:latin typeface="Arial"/>
            </a:endParaRPr>
          </a:p>
        </p:txBody>
      </p:sp>
      <p:sp>
        <p:nvSpPr>
          <p:cNvPr id="179" name="USUARIO"/>
          <p:cNvSpPr/>
          <p:nvPr/>
        </p:nvSpPr>
        <p:spPr>
          <a:xfrm>
            <a:off x="3549960" y="209988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USUARIO</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usuario_id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(FK, nulo: super_usuario)</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email único · rol · activo</a:t>
            </a:r>
            <a:endParaRPr lang="es-CL" sz="1000" b="0" u="none" strike="noStrike">
              <a:solidFill>
                <a:srgbClr val="000000"/>
              </a:solidFill>
              <a:effectLst/>
              <a:uFillTx/>
              <a:latin typeface="Arial"/>
            </a:endParaRPr>
          </a:p>
        </p:txBody>
      </p:sp>
      <p:sp>
        <p:nvSpPr>
          <p:cNvPr id="180" name="EMPRESA"/>
          <p:cNvSpPr/>
          <p:nvPr/>
        </p:nvSpPr>
        <p:spPr>
          <a:xfrm>
            <a:off x="6350040" y="209988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EMPRESA</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nombre · plan · estado</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max_usuarios · max_plantas</a:t>
            </a:r>
            <a:endParaRPr lang="es-CL" sz="1000" b="0" u="none" strike="noStrike">
              <a:solidFill>
                <a:srgbClr val="000000"/>
              </a:solidFill>
              <a:effectLst/>
              <a:uFillTx/>
              <a:latin typeface="Arial"/>
            </a:endParaRPr>
          </a:p>
        </p:txBody>
      </p:sp>
      <p:sp>
        <p:nvSpPr>
          <p:cNvPr id="181" name="DOCUMENTO"/>
          <p:cNvSpPr/>
          <p:nvPr/>
        </p:nvSpPr>
        <p:spPr>
          <a:xfrm>
            <a:off x="9150120" y="209988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DOCUMENTO</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documento_id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(FK) · activo</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title · stored_name</a:t>
            </a:r>
            <a:endParaRPr lang="es-CL" sz="1000" b="0" u="none" strike="noStrike">
              <a:solidFill>
                <a:srgbClr val="000000"/>
              </a:solidFill>
              <a:effectLst/>
              <a:uFillTx/>
              <a:latin typeface="Arial"/>
            </a:endParaRPr>
          </a:p>
        </p:txBody>
      </p:sp>
      <p:sp>
        <p:nvSpPr>
          <p:cNvPr id="182" name="DISCIPLINA"/>
          <p:cNvSpPr/>
          <p:nvPr/>
        </p:nvSpPr>
        <p:spPr>
          <a:xfrm>
            <a:off x="749880" y="360000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DISCIPLINA</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disciplina_id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nombre · color</a:t>
            </a:r>
            <a:endParaRPr lang="es-CL" sz="1000" b="0" u="none" strike="noStrike">
              <a:solidFill>
                <a:srgbClr val="000000"/>
              </a:solidFill>
              <a:effectLst/>
              <a:uFillTx/>
              <a:latin typeface="Arial"/>
            </a:endParaRPr>
          </a:p>
        </p:txBody>
      </p:sp>
      <p:sp>
        <p:nvSpPr>
          <p:cNvPr id="183" name="MAQUINA"/>
          <p:cNvSpPr/>
          <p:nvPr/>
        </p:nvSpPr>
        <p:spPr>
          <a:xfrm>
            <a:off x="3549960" y="360000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MAQUINA</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maquina_id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planta_id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disciplina_id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nombre · codigo</a:t>
            </a:r>
            <a:endParaRPr lang="es-CL" sz="1000" b="0" u="none" strike="noStrike">
              <a:solidFill>
                <a:srgbClr val="000000"/>
              </a:solidFill>
              <a:effectLst/>
              <a:uFillTx/>
              <a:latin typeface="Arial"/>
            </a:endParaRPr>
          </a:p>
        </p:txBody>
      </p:sp>
      <p:sp>
        <p:nvSpPr>
          <p:cNvPr id="184" name="PLANTA"/>
          <p:cNvSpPr/>
          <p:nvPr/>
        </p:nvSpPr>
        <p:spPr>
          <a:xfrm>
            <a:off x="6350040" y="360000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PLANTA</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planta_id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nombre · ubicacion</a:t>
            </a:r>
            <a:endParaRPr lang="es-CL" sz="1000" b="0" u="none" strike="noStrike">
              <a:solidFill>
                <a:srgbClr val="000000"/>
              </a:solidFill>
              <a:effectLst/>
              <a:uFillTx/>
              <a:latin typeface="Arial"/>
            </a:endParaRPr>
          </a:p>
        </p:txBody>
      </p:sp>
      <p:sp>
        <p:nvSpPr>
          <p:cNvPr id="185" name="DOCUMENTO_CHUNK"/>
          <p:cNvSpPr/>
          <p:nvPr/>
        </p:nvSpPr>
        <p:spPr>
          <a:xfrm>
            <a:off x="9150120" y="360000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DOCUMENTO_CHUNK</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chunk_id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documento_id · empresa_id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contenido · tsv (GIN)</a:t>
            </a:r>
            <a:endParaRPr lang="es-CL" sz="1000" b="0" u="none" strike="noStrike">
              <a:solidFill>
                <a:srgbClr val="000000"/>
              </a:solidFill>
              <a:effectLst/>
              <a:uFillTx/>
              <a:latin typeface="Arial"/>
            </a:endParaRPr>
          </a:p>
        </p:txBody>
      </p:sp>
      <p:sp>
        <p:nvSpPr>
          <p:cNvPr id="186" name="OT_AUDIT_LOG"/>
          <p:cNvSpPr/>
          <p:nvPr/>
        </p:nvSpPr>
        <p:spPr>
          <a:xfrm>
            <a:off x="749880" y="510012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OT_AUDIT_LOG</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audit_id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ot_id · usuario_id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estado_anterior → nuevo</a:t>
            </a:r>
            <a:endParaRPr lang="es-CL" sz="1000" b="0" u="none" strike="noStrike">
              <a:solidFill>
                <a:srgbClr val="000000"/>
              </a:solidFill>
              <a:effectLst/>
              <a:uFillTx/>
              <a:latin typeface="Arial"/>
            </a:endParaRPr>
          </a:p>
        </p:txBody>
      </p:sp>
      <p:sp>
        <p:nvSpPr>
          <p:cNvPr id="187" name="ORDEN_TRABAJO"/>
          <p:cNvSpPr/>
          <p:nvPr/>
        </p:nvSpPr>
        <p:spPr>
          <a:xfrm>
            <a:off x="3549960" y="510012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ORDEN_TRABAJO</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ot_id (PK) · numero_ot</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maquina_id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estado · priority · fechas</a:t>
            </a:r>
            <a:endParaRPr lang="es-CL" sz="1000" b="0" u="none" strike="noStrike">
              <a:solidFill>
                <a:srgbClr val="000000"/>
              </a:solidFill>
              <a:effectLst/>
              <a:uFillTx/>
              <a:latin typeface="Arial"/>
            </a:endParaRPr>
          </a:p>
        </p:txBody>
      </p:sp>
      <p:sp>
        <p:nvSpPr>
          <p:cNvPr id="188" name="OT_FOTO"/>
          <p:cNvSpPr/>
          <p:nvPr/>
        </p:nvSpPr>
        <p:spPr>
          <a:xfrm>
            <a:off x="6350040" y="510012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OT_FOTO</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ot_foto_id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ot_id (FK)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file_path · content_type</a:t>
            </a:r>
            <a:endParaRPr lang="es-CL" sz="1000" b="0" u="none" strike="noStrike">
              <a:solidFill>
                <a:srgbClr val="000000"/>
              </a:solidFill>
              <a:effectLst/>
              <a:uFillTx/>
              <a:latin typeface="Arial"/>
            </a:endParaRPr>
          </a:p>
        </p:txBody>
      </p:sp>
      <p:sp>
        <p:nvSpPr>
          <p:cNvPr id="189" name="CHAT_SESSION"/>
          <p:cNvSpPr/>
          <p:nvPr/>
        </p:nvSpPr>
        <p:spPr>
          <a:xfrm>
            <a:off x="9150120" y="5100120"/>
            <a:ext cx="2299680" cy="11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69840" tIns="55080" rIns="69840" bIns="55080" anchor="t">
            <a:noAutofit/>
          </a:bodyPr>
          <a:p>
            <a:pPr defTabSz="914400">
              <a:lnSpc>
                <a:spcPct val="100000"/>
              </a:lnSpc>
              <a:spcAft>
                <a:spcPts val="601"/>
              </a:spcAft>
            </a:pPr>
            <a:r>
              <a:rPr lang="es-CL" sz="1200" b="1" u="none" strike="noStrike">
                <a:solidFill>
                  <a:schemeClr val="dk1"/>
                </a:solidFill>
                <a:effectLst/>
                <a:uFillTx/>
                <a:latin typeface="Calibri"/>
              </a:rPr>
              <a:t>CHAT_SESSION</a:t>
            </a:r>
            <a:endParaRPr lang="es-CL" sz="12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session_id (UUID, PK)</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empresa_id · usuario_id</a:t>
            </a:r>
            <a:endParaRPr lang="es-CL" sz="1000" b="0" u="none" strike="noStrike">
              <a:solidFill>
                <a:srgbClr val="000000"/>
              </a:solidFill>
              <a:effectLst/>
              <a:uFillTx/>
              <a:latin typeface="Arial"/>
            </a:endParaRPr>
          </a:p>
          <a:p>
            <a:pPr defTabSz="914400">
              <a:lnSpc>
                <a:spcPct val="100000"/>
              </a:lnSpc>
              <a:spcAft>
                <a:spcPts val="400"/>
              </a:spcAft>
            </a:pPr>
            <a:r>
              <a:rPr lang="es-CL" sz="1000" b="0" u="none" strike="noStrike">
                <a:solidFill>
                  <a:schemeClr val="dk1"/>
                </a:solidFill>
                <a:effectLst/>
                <a:uFillTx/>
                <a:latin typeface="Calibri"/>
              </a:rPr>
              <a:t>messages (JSONB)</a:t>
            </a:r>
            <a:endParaRPr lang="es-CL" sz="1000" b="0" u="none" strike="noStrike">
              <a:solidFill>
                <a:srgbClr val="000000"/>
              </a:solidFill>
              <a:effectLst/>
              <a:uFillTx/>
              <a:latin typeface="Arial"/>
            </a:endParaRPr>
          </a:p>
        </p:txBody>
      </p:sp>
      <p:sp>
        <p:nvSpPr>
          <p:cNvPr id="190" name="TextBox 1048"/>
          <p:cNvSpPr/>
          <p:nvPr/>
        </p:nvSpPr>
        <p:spPr>
          <a:xfrm>
            <a:off x="749880" y="6329880"/>
            <a:ext cx="10899720" cy="319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CL" sz="1000" b="0" i="1" u="none" strike="noStrike">
                <a:solidFill>
                  <a:schemeClr val="dk1"/>
                </a:solidFill>
                <a:effectLst/>
                <a:uFillTx/>
                <a:latin typeface="Calibri"/>
              </a:rPr>
              <a:t>La OT hereda su empresa vía maquina → planta → empresa. Además existen reportes, repuestos, sensores, programas de mantenimiento y configuración de notificaciones.</a:t>
            </a:r>
            <a:endParaRPr lang="es-CL" sz="1000" b="0" u="none" strike="noStrike">
              <a:solidFill>
                <a:srgbClr val="000000"/>
              </a:solidFill>
              <a:effectLst/>
              <a:uFillTx/>
              <a:latin typeface="Arial"/>
            </a:endParaRPr>
          </a:p>
        </p:txBody>
      </p:sp>
    </p:spTree>
  </p:cSld>
  <p:transition spd="slow">
    <p:wipe dir="l"/>
  </p:transition>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1"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192"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193" name="CuadroTexto 6"/>
          <p:cNvSpPr/>
          <p:nvPr/>
        </p:nvSpPr>
        <p:spPr>
          <a:xfrm>
            <a:off x="0" y="143280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600" b="0" u="none" strike="noStrike">
                <a:solidFill>
                  <a:schemeClr val="dk1"/>
                </a:solidFill>
                <a:effectLst/>
                <a:uFillTx/>
                <a:latin typeface="Calibri"/>
              </a:rPr>
              <a:t>Tecnologías utilizadas</a:t>
            </a:r>
            <a:endParaRPr lang="es-CL" sz="3600" b="0" u="none" strike="noStrike">
              <a:solidFill>
                <a:srgbClr val="000000"/>
              </a:solidFill>
              <a:effectLst/>
              <a:uFillTx/>
              <a:latin typeface="Arial"/>
            </a:endParaRPr>
          </a:p>
        </p:txBody>
      </p:sp>
      <p:cxnSp>
        <p:nvCxnSpPr>
          <p:cNvPr id="194" name="Conector recto 8"/>
          <p:cNvCxnSpPr/>
          <p:nvPr/>
        </p:nvCxnSpPr>
        <p:spPr>
          <a:xfrm>
            <a:off x="0" y="757800"/>
            <a:ext cx="4085640" cy="360"/>
          </a:xfrm>
          <a:prstGeom prst="straightConnector1">
            <a:avLst/>
          </a:prstGeom>
          <a:ln w="15875">
            <a:solidFill>
              <a:srgbClr val="ABC0E4"/>
            </a:solidFill>
          </a:ln>
        </p:spPr>
      </p:cxnSp>
      <p:sp>
        <p:nvSpPr>
          <p:cNvPr id="195" name="Frontend"/>
          <p:cNvSpPr/>
          <p:nvPr/>
        </p:nvSpPr>
        <p:spPr>
          <a:xfrm>
            <a:off x="470880" y="219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Frontend</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Angular 22 (standalone y signals)</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TypeScript</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Tailwind CSS v4</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Vitest</a:t>
            </a:r>
            <a:endParaRPr lang="es-CL" sz="1400" b="0" u="none" strike="noStrike">
              <a:solidFill>
                <a:srgbClr val="000000"/>
              </a:solidFill>
              <a:effectLst/>
              <a:uFillTx/>
              <a:latin typeface="Arial"/>
            </a:endParaRPr>
          </a:p>
        </p:txBody>
      </p:sp>
      <p:sp>
        <p:nvSpPr>
          <p:cNvPr id="196" name="Backend"/>
          <p:cNvSpPr/>
          <p:nvPr/>
        </p:nvSpPr>
        <p:spPr>
          <a:xfrm>
            <a:off x="4321080" y="219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Backend</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Python 3.12 y FastAPI</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psycopg3 asíncrono (SQL directo)</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Alembic (migraciones)</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uv · pytest · ruff</a:t>
            </a:r>
            <a:endParaRPr lang="es-CL" sz="1400" b="0" u="none" strike="noStrike">
              <a:solidFill>
                <a:srgbClr val="000000"/>
              </a:solidFill>
              <a:effectLst/>
              <a:uFillTx/>
              <a:latin typeface="Arial"/>
            </a:endParaRPr>
          </a:p>
        </p:txBody>
      </p:sp>
      <p:sp>
        <p:nvSpPr>
          <p:cNvPr id="197" name="Datos"/>
          <p:cNvSpPr/>
          <p:nvPr/>
        </p:nvSpPr>
        <p:spPr>
          <a:xfrm>
            <a:off x="8170920" y="219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Datos</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PostgreSQL 17 (texto completo)</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Supabase: BD y Storage</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Redis (caché opcional)</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Docker Compose</a:t>
            </a:r>
            <a:endParaRPr lang="es-CL" sz="1400" b="0" u="none" strike="noStrike">
              <a:solidFill>
                <a:srgbClr val="000000"/>
              </a:solidFill>
              <a:effectLst/>
              <a:uFillTx/>
              <a:latin typeface="Arial"/>
            </a:endParaRPr>
          </a:p>
        </p:txBody>
      </p:sp>
      <p:sp>
        <p:nvSpPr>
          <p:cNvPr id="198" name="Inteligencia artificial"/>
          <p:cNvSpPr/>
          <p:nvPr/>
        </p:nvSpPr>
        <p:spPr>
          <a:xfrm>
            <a:off x="470880" y="444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Inteligencia artificial</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LangChain</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DeepSeek, NVIDIA NIM, OpenAI, Groq, OpenRouter</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Streaming por SSE</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pypdf para extraer texto</a:t>
            </a:r>
            <a:endParaRPr lang="es-CL" sz="1400" b="0" u="none" strike="noStrike">
              <a:solidFill>
                <a:srgbClr val="000000"/>
              </a:solidFill>
              <a:effectLst/>
              <a:uFillTx/>
              <a:latin typeface="Arial"/>
            </a:endParaRPr>
          </a:p>
        </p:txBody>
      </p:sp>
      <p:sp>
        <p:nvSpPr>
          <p:cNvPr id="199" name="Despliegue"/>
          <p:cNvSpPr/>
          <p:nvPr/>
        </p:nvSpPr>
        <p:spPr>
          <a:xfrm>
            <a:off x="4321080" y="444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Despliegue</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Render (API)</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Cloudflare Pages (frontend)</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Supabase (BD y archivos)</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GitHub</a:t>
            </a:r>
            <a:endParaRPr lang="es-CL" sz="1400" b="0" u="none" strike="noStrike">
              <a:solidFill>
                <a:srgbClr val="000000"/>
              </a:solidFill>
              <a:effectLst/>
              <a:uFillTx/>
              <a:latin typeface="Arial"/>
            </a:endParaRPr>
          </a:p>
        </p:txBody>
      </p:sp>
      <p:sp>
        <p:nvSpPr>
          <p:cNvPr id="200" name="Gestión del proyecto"/>
          <p:cNvSpPr/>
          <p:nvPr/>
        </p:nvSpPr>
        <p:spPr>
          <a:xfrm>
            <a:off x="8170920" y="4449960"/>
            <a:ext cx="3549600" cy="204948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Gestión del proyecto</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Git y GitHub: ramas y pull requests</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Jira: historias de usuario</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Claude Code como apoyo</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Documentación en /docs</a:t>
            </a:r>
            <a:endParaRPr lang="es-CL" sz="1400" b="0" u="none" strike="noStrike">
              <a:solidFill>
                <a:srgbClr val="000000"/>
              </a:solidFill>
              <a:effectLst/>
              <a:uFillTx/>
              <a:latin typeface="Arial"/>
            </a:endParaRPr>
          </a:p>
        </p:txBody>
      </p:sp>
    </p:spTree>
  </p:cSld>
  <p:transition spd="slow">
    <p:wipe dir="l"/>
  </p:transition>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1"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02" name="CuadroTexto 3"/>
          <p:cNvSpPr/>
          <p:nvPr/>
        </p:nvSpPr>
        <p:spPr>
          <a:xfrm>
            <a:off x="0" y="2707920"/>
            <a:ext cx="12191760" cy="113832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4400" b="0" u="none" strike="noStrike">
                <a:solidFill>
                  <a:schemeClr val="dk1"/>
                </a:solidFill>
                <a:effectLst/>
                <a:uFillTx/>
                <a:latin typeface="Calibri"/>
              </a:rPr>
              <a:t>DEM</a:t>
            </a:r>
            <a:r>
              <a:rPr lang="es-MX" sz="4400" b="0" u="none" strike="noStrike">
                <a:solidFill>
                  <a:schemeClr val="dk1"/>
                </a:solidFill>
                <a:effectLst/>
                <a:uFillTx/>
                <a:latin typeface="Calibri"/>
              </a:rPr>
              <a:t>OSTR</a:t>
            </a:r>
            <a:r>
              <a:rPr lang="es-MX" sz="4400" b="0" u="none" strike="noStrike">
                <a:solidFill>
                  <a:schemeClr val="dk1"/>
                </a:solidFill>
                <a:effectLst/>
                <a:uFillTx/>
                <a:latin typeface="Calibri"/>
              </a:rPr>
              <a:t>ACIÓ</a:t>
            </a:r>
            <a:r>
              <a:rPr lang="es-MX" sz="4400" b="0" u="none" strike="noStrike">
                <a:solidFill>
                  <a:schemeClr val="dk1"/>
                </a:solidFill>
                <a:effectLst/>
                <a:uFillTx/>
                <a:latin typeface="Calibri"/>
              </a:rPr>
              <a:t>N </a:t>
            </a:r>
            <a:r>
              <a:rPr lang="es-MX" sz="4400" b="0" u="none" strike="noStrike">
                <a:solidFill>
                  <a:schemeClr val="dk1"/>
                </a:solidFill>
                <a:effectLst/>
                <a:uFillTx/>
                <a:latin typeface="Calibri"/>
              </a:rPr>
              <a:t>DEL </a:t>
            </a:r>
            <a:r>
              <a:rPr lang="es-MX" sz="4400" b="0" u="none" strike="noStrike">
                <a:solidFill>
                  <a:schemeClr val="dk1"/>
                </a:solidFill>
                <a:effectLst/>
                <a:uFillTx/>
                <a:latin typeface="Calibri"/>
              </a:rPr>
              <a:t>RESU</a:t>
            </a:r>
            <a:r>
              <a:rPr lang="es-MX" sz="4400" b="0" u="none" strike="noStrike">
                <a:solidFill>
                  <a:schemeClr val="dk1"/>
                </a:solidFill>
                <a:effectLst/>
                <a:uFillTx/>
                <a:latin typeface="Calibri"/>
              </a:rPr>
              <a:t>LTAD</a:t>
            </a:r>
            <a:r>
              <a:rPr lang="es-MX" sz="4400" b="0" u="none" strike="noStrike">
                <a:solidFill>
                  <a:schemeClr val="dk1"/>
                </a:solidFill>
                <a:effectLst/>
                <a:uFillTx/>
                <a:latin typeface="Calibri"/>
              </a:rPr>
              <a:t>O </a:t>
            </a:r>
            <a:r>
              <a:rPr lang="es-MX" sz="4400" b="0" u="none" strike="noStrike">
                <a:solidFill>
                  <a:schemeClr val="dk1"/>
                </a:solidFill>
                <a:effectLst/>
                <a:uFillTx/>
                <a:latin typeface="Calibri"/>
              </a:rPr>
              <a:t>DEL </a:t>
            </a:r>
            <a:r>
              <a:rPr lang="es-MX" sz="4400" b="0" u="none" strike="noStrike">
                <a:solidFill>
                  <a:schemeClr val="dk1"/>
                </a:solidFill>
                <a:effectLst/>
                <a:uFillTx/>
                <a:latin typeface="Calibri"/>
              </a:rPr>
              <a:t>PROY</a:t>
            </a:r>
            <a:r>
              <a:rPr lang="es-MX" sz="4400" b="0" u="none" strike="noStrike">
                <a:solidFill>
                  <a:schemeClr val="dk1"/>
                </a:solidFill>
                <a:effectLst/>
                <a:uFillTx/>
                <a:latin typeface="Calibri"/>
              </a:rPr>
              <a:t>ECTO</a:t>
            </a:r>
            <a:endParaRPr lang="es-CL" sz="4400" b="0" u="none" strike="noStrike">
              <a:solidFill>
                <a:srgbClr val="000000"/>
              </a:solidFill>
              <a:effectLst/>
              <a:uFillTx/>
              <a:latin typeface="Arial"/>
            </a:endParaRPr>
          </a:p>
          <a:p>
            <a:pPr algn="ctr" defTabSz="914400">
              <a:lnSpc>
                <a:spcPct val="100000"/>
              </a:lnSpc>
            </a:pPr>
            <a:r>
              <a:rPr lang="es-MX" sz="2400" b="0" u="none" strike="noStrike">
                <a:solidFill>
                  <a:schemeClr val="lt2">
                    <a:lumMod val="50000"/>
                  </a:schemeClr>
                </a:solidFill>
                <a:effectLst/>
                <a:uFillTx/>
                <a:latin typeface="Calibri"/>
              </a:rPr>
              <a:t>Exposició</a:t>
            </a:r>
            <a:r>
              <a:rPr lang="es-MX" sz="2400" b="0" u="none" strike="noStrike">
                <a:solidFill>
                  <a:schemeClr val="lt2">
                    <a:lumMod val="50000"/>
                  </a:schemeClr>
                </a:solidFill>
                <a:effectLst/>
                <a:uFillTx/>
                <a:latin typeface="Calibri"/>
              </a:rPr>
              <a:t>n del </a:t>
            </a:r>
            <a:r>
              <a:rPr lang="es-MX" sz="2400" b="0" u="none" strike="noStrike">
                <a:solidFill>
                  <a:schemeClr val="lt2">
                    <a:lumMod val="50000"/>
                  </a:schemeClr>
                </a:solidFill>
                <a:effectLst/>
                <a:uFillTx/>
                <a:latin typeface="Calibri"/>
              </a:rPr>
              <a:t>sistema</a:t>
            </a:r>
            <a:endParaRPr lang="es-CL" sz="2400" b="0" u="none" strike="noStrike">
              <a:solidFill>
                <a:srgbClr val="000000"/>
              </a:solidFill>
              <a:effectLst/>
              <a:uFillTx/>
              <a:latin typeface="Arial"/>
            </a:endParaRPr>
          </a:p>
        </p:txBody>
      </p:sp>
    </p:spTree>
  </p:cSld>
  <p:transition spd="slow">
    <p:wipe dir="l"/>
  </p:transition>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3"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04"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a:t>
            </a:r>
            <a:r>
              <a:rPr lang="es-MX" sz="1800" b="0" u="none" strike="noStrike">
                <a:solidFill>
                  <a:schemeClr val="lt2">
                    <a:lumMod val="50000"/>
                  </a:schemeClr>
                </a:solidFill>
                <a:effectLst/>
                <a:uFillTx/>
                <a:latin typeface="Calibri"/>
              </a:rPr>
              <a:t>“BARB”</a:t>
            </a:r>
            <a:endParaRPr lang="es-CL" sz="1800" b="0" u="none" strike="noStrike">
              <a:solidFill>
                <a:srgbClr val="000000"/>
              </a:solidFill>
              <a:effectLst/>
              <a:uFillTx/>
              <a:latin typeface="Arial"/>
            </a:endParaRPr>
          </a:p>
        </p:txBody>
      </p:sp>
      <p:sp>
        <p:nvSpPr>
          <p:cNvPr id="205" name="CuadroTexto 6"/>
          <p:cNvSpPr/>
          <p:nvPr/>
        </p:nvSpPr>
        <p:spPr>
          <a:xfrm>
            <a:off x="0" y="960120"/>
            <a:ext cx="12191760" cy="58428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Visión general</a:t>
            </a:r>
            <a:endParaRPr lang="es-CL" sz="3200" b="0" u="none" strike="noStrike">
              <a:solidFill>
                <a:srgbClr val="000000"/>
              </a:solidFill>
              <a:effectLst/>
              <a:uFillTx/>
              <a:latin typeface="Arial"/>
            </a:endParaRPr>
          </a:p>
        </p:txBody>
      </p:sp>
      <p:cxnSp>
        <p:nvCxnSpPr>
          <p:cNvPr id="206" name="Conector recto 8"/>
          <p:cNvCxnSpPr/>
          <p:nvPr/>
        </p:nvCxnSpPr>
        <p:spPr>
          <a:xfrm>
            <a:off x="0" y="757800"/>
            <a:ext cx="4085640" cy="360"/>
          </a:xfrm>
          <a:prstGeom prst="straightConnector1">
            <a:avLst/>
          </a:prstGeom>
          <a:ln w="15875">
            <a:solidFill>
              <a:srgbClr val="ABC0E4"/>
            </a:solidFill>
          </a:ln>
        </p:spPr>
      </p:cxnSp>
      <p:sp>
        <p:nvSpPr>
          <p:cNvPr id="207" name="Módulo 1"/>
          <p:cNvSpPr/>
          <p:nvPr/>
        </p:nvSpPr>
        <p:spPr>
          <a:xfrm>
            <a:off x="546120" y="2387520"/>
            <a:ext cx="2031480" cy="3428640"/>
          </a:xfrm>
          <a:prstGeom prst="roundRect">
            <a:avLst>
              <a:gd name="adj" fmla="val 6000"/>
            </a:avLst>
          </a:prstGeom>
          <a:solidFill>
            <a:srgbClr val="F3F4F6"/>
          </a:solidFill>
          <a:ln w="9525">
            <a:solidFill>
              <a:srgbClr val="E5E7EB"/>
            </a:solidFill>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208" name="Módulo 2"/>
          <p:cNvSpPr/>
          <p:nvPr/>
        </p:nvSpPr>
        <p:spPr>
          <a:xfrm>
            <a:off x="2806560" y="2387520"/>
            <a:ext cx="2031480" cy="3428640"/>
          </a:xfrm>
          <a:prstGeom prst="roundRect">
            <a:avLst>
              <a:gd name="adj" fmla="val 6000"/>
            </a:avLst>
          </a:prstGeom>
          <a:solidFill>
            <a:srgbClr val="F3F4F6"/>
          </a:solidFill>
          <a:ln w="9525">
            <a:solidFill>
              <a:srgbClr val="E5E7EB"/>
            </a:solidFill>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209" name="Módulo 3"/>
          <p:cNvSpPr/>
          <p:nvPr/>
        </p:nvSpPr>
        <p:spPr>
          <a:xfrm>
            <a:off x="5067360" y="2387520"/>
            <a:ext cx="2031480" cy="3428640"/>
          </a:xfrm>
          <a:prstGeom prst="roundRect">
            <a:avLst>
              <a:gd name="adj" fmla="val 6000"/>
            </a:avLst>
          </a:prstGeom>
          <a:solidFill>
            <a:srgbClr val="F3F4F6"/>
          </a:solidFill>
          <a:ln w="9525">
            <a:solidFill>
              <a:srgbClr val="E5E7EB"/>
            </a:solidFill>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210" name="Módulo 4"/>
          <p:cNvSpPr/>
          <p:nvPr/>
        </p:nvSpPr>
        <p:spPr>
          <a:xfrm>
            <a:off x="7327800" y="2387520"/>
            <a:ext cx="2031480" cy="3428640"/>
          </a:xfrm>
          <a:prstGeom prst="roundRect">
            <a:avLst>
              <a:gd name="adj" fmla="val 6000"/>
            </a:avLst>
          </a:prstGeom>
          <a:solidFill>
            <a:srgbClr val="F3F4F6"/>
          </a:solidFill>
          <a:ln w="9525">
            <a:solidFill>
              <a:srgbClr val="E5E7EB"/>
            </a:solidFill>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211" name="Módulo 5"/>
          <p:cNvSpPr/>
          <p:nvPr/>
        </p:nvSpPr>
        <p:spPr>
          <a:xfrm>
            <a:off x="9588600" y="2387520"/>
            <a:ext cx="2031480" cy="3428640"/>
          </a:xfrm>
          <a:prstGeom prst="roundRect">
            <a:avLst>
              <a:gd name="adj" fmla="val 6000"/>
            </a:avLst>
          </a:prstGeom>
          <a:solidFill>
            <a:srgbClr val="F3F4F6"/>
          </a:solidFill>
          <a:ln w="9525">
            <a:solidFill>
              <a:srgbClr val="E5E7EB"/>
            </a:solidFill>
            <a:round/>
          </a:ln>
        </p:spPr>
        <p:style>
          <a:lnRef idx="0"/>
          <a:fillRef idx="0"/>
          <a:effectRef idx="0"/>
          <a:fontRef idx="minor"/>
        </p:style>
        <p:txBody>
          <a:bodyPr lIns="0" tIns="0" rIns="0" bIns="0" anchor="ctr">
            <a:noAutofit/>
          </a:bodyPr>
          <a:p>
            <a:pPr/>
            <a:endParaRPr lang="es-CL" sz="1800" b="0" u="none" strike="noStrike">
              <a:solidFill>
                <a:schemeClr val="dk1"/>
              </a:solidFill>
              <a:effectLst/>
              <a:uFillTx/>
              <a:latin typeface="Calibri"/>
            </a:endParaRPr>
          </a:p>
        </p:txBody>
      </p:sp>
      <p:sp>
        <p:nvSpPr>
          <p:cNvPr id="212" name="Gestión de usuarios (círculo)"/>
          <p:cNvSpPr/>
          <p:nvPr/>
        </p:nvSpPr>
        <p:spPr>
          <a:xfrm>
            <a:off x="749160" y="2641680"/>
            <a:ext cx="711000" cy="71100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13" name="Gestión de usuarios" descr="Gestión de usuarios"/>
          <p:cNvPicPr/>
          <p:nvPr/>
        </p:nvPicPr>
        <p:blipFill>
          <a:blip r:embed="rId2"/>
          <a:stretch/>
        </p:blipFill>
        <p:spPr>
          <a:xfrm>
            <a:off x="927000" y="2819520"/>
            <a:ext cx="355320" cy="355320"/>
          </a:xfrm>
          <a:prstGeom prst="rect">
            <a:avLst/>
          </a:prstGeom>
          <a:noFill/>
          <a:ln w="0">
            <a:noFill/>
          </a:ln>
        </p:spPr>
      </p:pic>
      <p:sp>
        <p:nvSpPr>
          <p:cNvPr id="214" name="Text 2"/>
          <p:cNvSpPr/>
          <p:nvPr/>
        </p:nvSpPr>
        <p:spPr>
          <a:xfrm>
            <a:off x="749160" y="3606840"/>
            <a:ext cx="1625400" cy="65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Gestión de </a:t>
            </a:r>
            <a:r>
              <a:rPr lang="en-US" sz="1800" b="1" u="none" strike="noStrike">
                <a:solidFill>
                  <a:srgbClr val="111827"/>
                </a:solidFill>
                <a:effectLst/>
                <a:uFillTx/>
                <a:latin typeface="Calibri"/>
                <a:ea typeface="Calibri"/>
              </a:rPr>
              <a:t>usuarios</a:t>
            </a:r>
            <a:endParaRPr lang="es-CL" sz="1800" b="0" u="none" strike="noStrike">
              <a:solidFill>
                <a:srgbClr val="000000"/>
              </a:solidFill>
              <a:effectLst/>
              <a:uFillTx/>
              <a:latin typeface="Arial"/>
            </a:endParaRPr>
          </a:p>
        </p:txBody>
      </p:sp>
      <p:sp>
        <p:nvSpPr>
          <p:cNvPr id="215" name="Text 3"/>
          <p:cNvSpPr/>
          <p:nvPr/>
        </p:nvSpPr>
        <p:spPr>
          <a:xfrm>
            <a:off x="749160" y="4368960"/>
            <a:ext cx="1625400" cy="1904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4B5563"/>
                </a:solidFill>
                <a:effectLst/>
                <a:uFillTx/>
                <a:latin typeface="Calibri"/>
                <a:ea typeface="Calibri"/>
              </a:rPr>
              <a:t>Perfiles, roles y licencia por empresa</a:t>
            </a:r>
            <a:endParaRPr lang="es-CL" sz="1600" b="0" u="none" strike="noStrike">
              <a:solidFill>
                <a:srgbClr val="000000"/>
              </a:solidFill>
              <a:effectLst/>
              <a:uFillTx/>
              <a:latin typeface="Arial"/>
            </a:endParaRPr>
          </a:p>
        </p:txBody>
      </p:sp>
      <p:sp>
        <p:nvSpPr>
          <p:cNvPr id="216" name="Topología de planta (círculo)"/>
          <p:cNvSpPr/>
          <p:nvPr/>
        </p:nvSpPr>
        <p:spPr>
          <a:xfrm>
            <a:off x="3009960" y="2641680"/>
            <a:ext cx="711000" cy="71100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17" name="Topología de planta" descr="Topología de planta"/>
          <p:cNvPicPr/>
          <p:nvPr/>
        </p:nvPicPr>
        <p:blipFill>
          <a:blip r:embed="rId3"/>
          <a:stretch/>
        </p:blipFill>
        <p:spPr>
          <a:xfrm>
            <a:off x="3187800" y="2819520"/>
            <a:ext cx="355320" cy="355320"/>
          </a:xfrm>
          <a:prstGeom prst="rect">
            <a:avLst/>
          </a:prstGeom>
          <a:noFill/>
          <a:ln w="0">
            <a:noFill/>
          </a:ln>
        </p:spPr>
      </p:pic>
      <p:sp>
        <p:nvSpPr>
          <p:cNvPr id="218" name="Text 6"/>
          <p:cNvSpPr/>
          <p:nvPr/>
        </p:nvSpPr>
        <p:spPr>
          <a:xfrm>
            <a:off x="3009960" y="3606840"/>
            <a:ext cx="1625400" cy="65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Topología de planta</a:t>
            </a:r>
            <a:endParaRPr lang="es-CL" sz="1800" b="0" u="none" strike="noStrike">
              <a:solidFill>
                <a:srgbClr val="000000"/>
              </a:solidFill>
              <a:effectLst/>
              <a:uFillTx/>
              <a:latin typeface="Arial"/>
            </a:endParaRPr>
          </a:p>
        </p:txBody>
      </p:sp>
      <p:sp>
        <p:nvSpPr>
          <p:cNvPr id="219" name="Text 7"/>
          <p:cNvSpPr/>
          <p:nvPr/>
        </p:nvSpPr>
        <p:spPr>
          <a:xfrm>
            <a:off x="3009960" y="4368960"/>
            <a:ext cx="1625400" cy="1904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4B5563"/>
                </a:solidFill>
                <a:effectLst/>
                <a:uFillTx/>
                <a:latin typeface="Calibri"/>
                <a:ea typeface="Calibri"/>
              </a:rPr>
              <a:t>Mapa interactivo de plantas, disciplinas y máquinas</a:t>
            </a:r>
            <a:endParaRPr lang="es-CL" sz="1600" b="0" u="none" strike="noStrike">
              <a:solidFill>
                <a:srgbClr val="000000"/>
              </a:solidFill>
              <a:effectLst/>
              <a:uFillTx/>
              <a:latin typeface="Arial"/>
            </a:endParaRPr>
          </a:p>
        </p:txBody>
      </p:sp>
      <p:sp>
        <p:nvSpPr>
          <p:cNvPr id="220" name="Órdenes de trabajo (círculo)"/>
          <p:cNvSpPr/>
          <p:nvPr/>
        </p:nvSpPr>
        <p:spPr>
          <a:xfrm>
            <a:off x="5270400" y="2641680"/>
            <a:ext cx="711000" cy="71100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21" name="Órdenes de trabajo" descr="Órdenes de trabajo"/>
          <p:cNvPicPr/>
          <p:nvPr/>
        </p:nvPicPr>
        <p:blipFill>
          <a:blip r:embed="rId4"/>
          <a:stretch/>
        </p:blipFill>
        <p:spPr>
          <a:xfrm>
            <a:off x="5448240" y="2819520"/>
            <a:ext cx="355320" cy="355320"/>
          </a:xfrm>
          <a:prstGeom prst="rect">
            <a:avLst/>
          </a:prstGeom>
          <a:noFill/>
          <a:ln w="0">
            <a:noFill/>
          </a:ln>
        </p:spPr>
      </p:pic>
      <p:sp>
        <p:nvSpPr>
          <p:cNvPr id="222" name="Text 10"/>
          <p:cNvSpPr/>
          <p:nvPr/>
        </p:nvSpPr>
        <p:spPr>
          <a:xfrm>
            <a:off x="5270400" y="3606840"/>
            <a:ext cx="1625400" cy="65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Órdenes de trabajo</a:t>
            </a:r>
            <a:endParaRPr lang="es-CL" sz="1800" b="0" u="none" strike="noStrike">
              <a:solidFill>
                <a:srgbClr val="000000"/>
              </a:solidFill>
              <a:effectLst/>
              <a:uFillTx/>
              <a:latin typeface="Arial"/>
            </a:endParaRPr>
          </a:p>
        </p:txBody>
      </p:sp>
      <p:sp>
        <p:nvSpPr>
          <p:cNvPr id="223" name="Text 11"/>
          <p:cNvSpPr/>
          <p:nvPr/>
        </p:nvSpPr>
        <p:spPr>
          <a:xfrm>
            <a:off x="5270400" y="4368960"/>
            <a:ext cx="1625400" cy="1904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4B5563"/>
                </a:solidFill>
                <a:effectLst/>
                <a:uFillTx/>
                <a:latin typeface="Calibri"/>
                <a:ea typeface="Calibri"/>
              </a:rPr>
              <a:t>Ciclo de vida con auditoría y control por rol</a:t>
            </a:r>
            <a:endParaRPr lang="es-CL" sz="1600" b="0" u="none" strike="noStrike">
              <a:solidFill>
                <a:srgbClr val="000000"/>
              </a:solidFill>
              <a:effectLst/>
              <a:uFillTx/>
              <a:latin typeface="Arial"/>
            </a:endParaRPr>
          </a:p>
        </p:txBody>
      </p:sp>
      <p:sp>
        <p:nvSpPr>
          <p:cNvPr id="224" name="Gestión de documentos (círculo)"/>
          <p:cNvSpPr/>
          <p:nvPr/>
        </p:nvSpPr>
        <p:spPr>
          <a:xfrm>
            <a:off x="7531200" y="2641680"/>
            <a:ext cx="711000" cy="71100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25" name="Gestión de documentos" descr="Gestión de documentos"/>
          <p:cNvPicPr/>
          <p:nvPr/>
        </p:nvPicPr>
        <p:blipFill>
          <a:blip r:embed="rId5"/>
          <a:stretch/>
        </p:blipFill>
        <p:spPr>
          <a:xfrm>
            <a:off x="7709040" y="2819520"/>
            <a:ext cx="355320" cy="355320"/>
          </a:xfrm>
          <a:prstGeom prst="rect">
            <a:avLst/>
          </a:prstGeom>
          <a:noFill/>
          <a:ln w="0">
            <a:noFill/>
          </a:ln>
        </p:spPr>
      </p:pic>
      <p:sp>
        <p:nvSpPr>
          <p:cNvPr id="226" name="Text 14"/>
          <p:cNvSpPr/>
          <p:nvPr/>
        </p:nvSpPr>
        <p:spPr>
          <a:xfrm>
            <a:off x="7531200" y="3606840"/>
            <a:ext cx="1625400" cy="65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Gestión de </a:t>
            </a:r>
            <a:r>
              <a:rPr lang="en-US" sz="1800" b="1" u="none" strike="noStrike">
                <a:solidFill>
                  <a:srgbClr val="111827"/>
                </a:solidFill>
                <a:effectLst/>
                <a:uFillTx/>
                <a:latin typeface="Calibri"/>
                <a:ea typeface="Calibri"/>
              </a:rPr>
              <a:t>documentos</a:t>
            </a:r>
            <a:endParaRPr lang="es-CL" sz="1800" b="0" u="none" strike="noStrike">
              <a:solidFill>
                <a:srgbClr val="000000"/>
              </a:solidFill>
              <a:effectLst/>
              <a:uFillTx/>
              <a:latin typeface="Arial"/>
            </a:endParaRPr>
          </a:p>
        </p:txBody>
      </p:sp>
      <p:sp>
        <p:nvSpPr>
          <p:cNvPr id="227" name="Text 15"/>
          <p:cNvSpPr/>
          <p:nvPr/>
        </p:nvSpPr>
        <p:spPr>
          <a:xfrm>
            <a:off x="7531200" y="4368960"/>
            <a:ext cx="1625400" cy="1904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4B5563"/>
                </a:solidFill>
                <a:effectLst/>
                <a:uFillTx/>
                <a:latin typeface="Calibri"/>
                <a:ea typeface="Calibri"/>
              </a:rPr>
              <a:t>Manuales de la empresa listos para la IA</a:t>
            </a:r>
            <a:endParaRPr lang="es-CL" sz="1600" b="0" u="none" strike="noStrike">
              <a:solidFill>
                <a:srgbClr val="000000"/>
              </a:solidFill>
              <a:effectLst/>
              <a:uFillTx/>
              <a:latin typeface="Arial"/>
            </a:endParaRPr>
          </a:p>
        </p:txBody>
      </p:sp>
      <p:sp>
        <p:nvSpPr>
          <p:cNvPr id="228" name="DocChat con IA (círculo)"/>
          <p:cNvSpPr/>
          <p:nvPr/>
        </p:nvSpPr>
        <p:spPr>
          <a:xfrm>
            <a:off x="9791640" y="2641680"/>
            <a:ext cx="711000" cy="71100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29" name="DocChat con IA" descr="DocChat con IA"/>
          <p:cNvPicPr/>
          <p:nvPr/>
        </p:nvPicPr>
        <p:blipFill>
          <a:blip r:embed="rId6"/>
          <a:stretch/>
        </p:blipFill>
        <p:spPr>
          <a:xfrm>
            <a:off x="9969480" y="2819520"/>
            <a:ext cx="355320" cy="355320"/>
          </a:xfrm>
          <a:prstGeom prst="rect">
            <a:avLst/>
          </a:prstGeom>
          <a:noFill/>
          <a:ln w="0">
            <a:noFill/>
          </a:ln>
        </p:spPr>
      </p:pic>
      <p:sp>
        <p:nvSpPr>
          <p:cNvPr id="230" name="Text 18"/>
          <p:cNvSpPr/>
          <p:nvPr/>
        </p:nvSpPr>
        <p:spPr>
          <a:xfrm>
            <a:off x="9791640" y="3606840"/>
            <a:ext cx="1625400" cy="659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DocChat</a:t>
            </a:r>
            <a:endParaRPr lang="es-CL" sz="1800" b="0" u="none" strike="noStrike">
              <a:solidFill>
                <a:srgbClr val="000000"/>
              </a:solidFill>
              <a:effectLst/>
              <a:uFillTx/>
              <a:latin typeface="Arial"/>
            </a:endParaRPr>
          </a:p>
        </p:txBody>
      </p:sp>
      <p:sp>
        <p:nvSpPr>
          <p:cNvPr id="231" name="Text 19"/>
          <p:cNvSpPr/>
          <p:nvPr/>
        </p:nvSpPr>
        <p:spPr>
          <a:xfrm>
            <a:off x="9791640" y="4368960"/>
            <a:ext cx="1625400" cy="19047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0" u="none" strike="noStrike">
                <a:solidFill>
                  <a:srgbClr val="4B5563"/>
                </a:solidFill>
                <a:effectLst/>
                <a:uFillTx/>
                <a:latin typeface="Calibri"/>
                <a:ea typeface="Calibri"/>
              </a:rPr>
              <a:t>Asistente que </a:t>
            </a:r>
            <a:r>
              <a:rPr lang="en-US" sz="1600" b="0" u="none" strike="noStrike">
                <a:solidFill>
                  <a:srgbClr val="4B5563"/>
                </a:solidFill>
                <a:effectLst/>
                <a:uFillTx/>
                <a:latin typeface="Calibri"/>
                <a:ea typeface="Calibri"/>
              </a:rPr>
              <a:t>responde solo </a:t>
            </a:r>
            <a:r>
              <a:rPr lang="en-US" sz="1600" b="0" u="none" strike="noStrike">
                <a:solidFill>
                  <a:srgbClr val="4B5563"/>
                </a:solidFill>
                <a:effectLst/>
                <a:uFillTx/>
                <a:latin typeface="Calibri"/>
                <a:ea typeface="Calibri"/>
              </a:rPr>
              <a:t>con tus </a:t>
            </a:r>
            <a:r>
              <a:rPr lang="en-US" sz="1600" b="0" u="none" strike="noStrike">
                <a:solidFill>
                  <a:srgbClr val="4B5563"/>
                </a:solidFill>
                <a:effectLst/>
                <a:uFillTx/>
                <a:latin typeface="Calibri"/>
                <a:ea typeface="Calibri"/>
              </a:rPr>
              <a:t>documentos</a:t>
            </a:r>
            <a:endParaRPr lang="es-CL"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2"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33"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234"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Gestión de usuarios</a:t>
            </a:r>
            <a:endParaRPr lang="es-CL" sz="3200" b="0" u="none" strike="noStrike">
              <a:solidFill>
                <a:srgbClr val="000000"/>
              </a:solidFill>
              <a:effectLst/>
              <a:uFillTx/>
              <a:latin typeface="Arial"/>
            </a:endParaRPr>
          </a:p>
        </p:txBody>
      </p:sp>
      <p:cxnSp>
        <p:nvCxnSpPr>
          <p:cNvPr id="235" name="Conector recto 8"/>
          <p:cNvCxnSpPr/>
          <p:nvPr/>
        </p:nvCxnSpPr>
        <p:spPr>
          <a:xfrm>
            <a:off x="0" y="757800"/>
            <a:ext cx="4085640" cy="360"/>
          </a:xfrm>
          <a:prstGeom prst="straightConnector1">
            <a:avLst/>
          </a:prstGeom>
          <a:ln w="15875">
            <a:solidFill>
              <a:srgbClr val="ABC0E4"/>
            </a:solidFill>
          </a:ln>
        </p:spPr>
      </p:cxnSp>
      <p:sp>
        <p:nvSpPr>
          <p:cNvPr id="236" name="Tarjeta Mantenedor completo"/>
          <p:cNvSpPr/>
          <p:nvPr/>
        </p:nvSpPr>
        <p:spPr>
          <a:xfrm>
            <a:off x="548640" y="1737360"/>
            <a:ext cx="6857640" cy="1416960"/>
          </a:xfrm>
          <a:prstGeom prst="roundRect">
            <a:avLst>
              <a:gd name="adj" fmla="val 5161"/>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37" name="Mantenedor completo (círculo)"/>
          <p:cNvSpPr/>
          <p:nvPr/>
        </p:nvSpPr>
        <p:spPr>
          <a:xfrm>
            <a:off x="777240" y="210312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38" name="Mantenedor completo" descr="Mantenedor completo"/>
          <p:cNvPicPr/>
          <p:nvPr/>
        </p:nvPicPr>
        <p:blipFill>
          <a:blip r:embed="rId2"/>
          <a:stretch/>
        </p:blipFill>
        <p:spPr>
          <a:xfrm>
            <a:off x="948600" y="2274480"/>
            <a:ext cx="342720" cy="342720"/>
          </a:xfrm>
          <a:prstGeom prst="rect">
            <a:avLst/>
          </a:prstGeom>
          <a:noFill/>
          <a:ln w="0">
            <a:noFill/>
          </a:ln>
        </p:spPr>
      </p:pic>
      <p:sp>
        <p:nvSpPr>
          <p:cNvPr id="239" name="Text 2"/>
          <p:cNvSpPr/>
          <p:nvPr/>
        </p:nvSpPr>
        <p:spPr>
          <a:xfrm>
            <a:off x="1691640" y="1901880"/>
            <a:ext cx="5486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Mantenedor completo</a:t>
            </a:r>
            <a:endParaRPr lang="es-CL" sz="1800" b="0" u="none" strike="noStrike">
              <a:solidFill>
                <a:srgbClr val="000000"/>
              </a:solidFill>
              <a:effectLst/>
              <a:uFillTx/>
              <a:latin typeface="Arial"/>
            </a:endParaRPr>
          </a:p>
        </p:txBody>
      </p:sp>
      <p:sp>
        <p:nvSpPr>
          <p:cNvPr id="240" name="Text 3"/>
          <p:cNvSpPr/>
          <p:nvPr/>
        </p:nvSpPr>
        <p:spPr>
          <a:xfrm>
            <a:off x="1691640" y="2267640"/>
            <a:ext cx="5531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Crear, editar, eliminar y activar o desactivar usuarios. Búsqueda por nombre, email, rol o empresa. Aviso de bienvenida al crear un usuario.</a:t>
            </a:r>
            <a:endParaRPr lang="es-CL" sz="1400" b="0" u="none" strike="noStrike">
              <a:solidFill>
                <a:srgbClr val="000000"/>
              </a:solidFill>
              <a:effectLst/>
              <a:uFillTx/>
              <a:latin typeface="Arial"/>
            </a:endParaRPr>
          </a:p>
        </p:txBody>
      </p:sp>
      <p:sp>
        <p:nvSpPr>
          <p:cNvPr id="241" name="Tarjeta Licencia por empresa"/>
          <p:cNvSpPr/>
          <p:nvPr/>
        </p:nvSpPr>
        <p:spPr>
          <a:xfrm>
            <a:off x="548640" y="3337560"/>
            <a:ext cx="6857640" cy="1416960"/>
          </a:xfrm>
          <a:prstGeom prst="roundRect">
            <a:avLst>
              <a:gd name="adj" fmla="val 5161"/>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42" name="Licencia por empresa (círculo)"/>
          <p:cNvSpPr/>
          <p:nvPr/>
        </p:nvSpPr>
        <p:spPr>
          <a:xfrm>
            <a:off x="777240" y="370332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43" name="Licencia por empresa" descr="Licencia por empresa"/>
          <p:cNvPicPr/>
          <p:nvPr/>
        </p:nvPicPr>
        <p:blipFill>
          <a:blip r:embed="rId3"/>
          <a:stretch/>
        </p:blipFill>
        <p:spPr>
          <a:xfrm>
            <a:off x="948600" y="3874680"/>
            <a:ext cx="342720" cy="342720"/>
          </a:xfrm>
          <a:prstGeom prst="rect">
            <a:avLst/>
          </a:prstGeom>
          <a:noFill/>
          <a:ln w="0">
            <a:noFill/>
          </a:ln>
        </p:spPr>
      </p:pic>
      <p:sp>
        <p:nvSpPr>
          <p:cNvPr id="244" name="Text 6"/>
          <p:cNvSpPr/>
          <p:nvPr/>
        </p:nvSpPr>
        <p:spPr>
          <a:xfrm>
            <a:off x="1691640" y="3502080"/>
            <a:ext cx="5486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Licencia por empresa</a:t>
            </a:r>
            <a:endParaRPr lang="es-CL" sz="1800" b="0" u="none" strike="noStrike">
              <a:solidFill>
                <a:srgbClr val="000000"/>
              </a:solidFill>
              <a:effectLst/>
              <a:uFillTx/>
              <a:latin typeface="Arial"/>
            </a:endParaRPr>
          </a:p>
        </p:txBody>
      </p:sp>
      <p:sp>
        <p:nvSpPr>
          <p:cNvPr id="245" name="Text 7"/>
          <p:cNvSpPr/>
          <p:nvPr/>
        </p:nvSpPr>
        <p:spPr>
          <a:xfrm>
            <a:off x="1691640" y="3867840"/>
            <a:ext cx="5531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Cada empresa tiene un máximo de usuarios activos. Si se supera, el alta se rechaza (409), incluso con altas simultáneas.</a:t>
            </a:r>
            <a:endParaRPr lang="es-CL" sz="1400" b="0" u="none" strike="noStrike">
              <a:solidFill>
                <a:srgbClr val="000000"/>
              </a:solidFill>
              <a:effectLst/>
              <a:uFillTx/>
              <a:latin typeface="Arial"/>
            </a:endParaRPr>
          </a:p>
        </p:txBody>
      </p:sp>
      <p:sp>
        <p:nvSpPr>
          <p:cNvPr id="246" name="Tarjeta Reglas de seguridad"/>
          <p:cNvSpPr/>
          <p:nvPr/>
        </p:nvSpPr>
        <p:spPr>
          <a:xfrm>
            <a:off x="548640" y="4937760"/>
            <a:ext cx="6857640" cy="1416960"/>
          </a:xfrm>
          <a:prstGeom prst="roundRect">
            <a:avLst>
              <a:gd name="adj" fmla="val 5161"/>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47" name="Reglas de seguridad (círculo)"/>
          <p:cNvSpPr/>
          <p:nvPr/>
        </p:nvSpPr>
        <p:spPr>
          <a:xfrm>
            <a:off x="777240" y="530352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248" name="Reglas de seguridad" descr="Reglas de seguridad"/>
          <p:cNvPicPr/>
          <p:nvPr/>
        </p:nvPicPr>
        <p:blipFill>
          <a:blip r:embed="rId4"/>
          <a:stretch/>
        </p:blipFill>
        <p:spPr>
          <a:xfrm>
            <a:off x="948600" y="5474880"/>
            <a:ext cx="342720" cy="342720"/>
          </a:xfrm>
          <a:prstGeom prst="rect">
            <a:avLst/>
          </a:prstGeom>
          <a:noFill/>
          <a:ln w="0">
            <a:noFill/>
          </a:ln>
        </p:spPr>
      </p:pic>
      <p:sp>
        <p:nvSpPr>
          <p:cNvPr id="249" name="Text 10"/>
          <p:cNvSpPr/>
          <p:nvPr/>
        </p:nvSpPr>
        <p:spPr>
          <a:xfrm>
            <a:off x="1691640" y="5102280"/>
            <a:ext cx="5486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111827"/>
                </a:solidFill>
                <a:effectLst/>
                <a:uFillTx/>
                <a:latin typeface="Calibri"/>
                <a:ea typeface="Calibri"/>
              </a:rPr>
              <a:t>Reglas de seguridad</a:t>
            </a:r>
            <a:endParaRPr lang="es-CL" sz="1800" b="0" u="none" strike="noStrike">
              <a:solidFill>
                <a:srgbClr val="000000"/>
              </a:solidFill>
              <a:effectLst/>
              <a:uFillTx/>
              <a:latin typeface="Arial"/>
            </a:endParaRPr>
          </a:p>
        </p:txBody>
      </p:sp>
      <p:sp>
        <p:nvSpPr>
          <p:cNvPr id="250" name="Text 11"/>
          <p:cNvSpPr/>
          <p:nvPr/>
        </p:nvSpPr>
        <p:spPr>
          <a:xfrm>
            <a:off x="1691640" y="5468040"/>
            <a:ext cx="553176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Contraseñas guardadas con hash y email único. Nadie puede asignar el rol super_usuario. Un usuario de otra empresa responde 404: no se revela que existe.</a:t>
            </a:r>
            <a:endParaRPr lang="es-CL" sz="1400" b="0" u="none" strike="noStrike">
              <a:solidFill>
                <a:srgbClr val="000000"/>
              </a:solidFill>
              <a:effectLst/>
              <a:uFillTx/>
              <a:latin typeface="Arial"/>
            </a:endParaRPr>
          </a:p>
        </p:txBody>
      </p:sp>
      <p:sp>
        <p:nvSpPr>
          <p:cNvPr id="251" name="Panel quién administra a quién"/>
          <p:cNvSpPr/>
          <p:nvPr/>
        </p:nvSpPr>
        <p:spPr>
          <a:xfrm>
            <a:off x="7726680" y="1737360"/>
            <a:ext cx="3913200" cy="4617360"/>
          </a:xfrm>
          <a:prstGeom prst="roundRect">
            <a:avLst>
              <a:gd name="adj" fmla="val 1869"/>
            </a:avLst>
          </a:prstGeom>
          <a:solidFill>
            <a:srgbClr val="1F2A37"/>
          </a:solidFill>
          <a:ln w="12700">
            <a:solidFill>
              <a:srgbClr val="1F2A37"/>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52" name="Text 13"/>
          <p:cNvSpPr/>
          <p:nvPr/>
        </p:nvSpPr>
        <p:spPr>
          <a:xfrm>
            <a:off x="8001000" y="1920240"/>
            <a:ext cx="338292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800" b="1" u="none" strike="noStrike">
                <a:solidFill>
                  <a:srgbClr val="FFFFFF"/>
                </a:solidFill>
                <a:effectLst/>
                <a:uFillTx/>
                <a:latin typeface="Calibri"/>
                <a:ea typeface="Calibri"/>
              </a:rPr>
              <a:t>Quién administra a quién</a:t>
            </a:r>
            <a:endParaRPr lang="es-CL" sz="1800" b="0" u="none" strike="noStrike">
              <a:solidFill>
                <a:srgbClr val="000000"/>
              </a:solidFill>
              <a:effectLst/>
              <a:uFillTx/>
              <a:latin typeface="Arial"/>
            </a:endParaRPr>
          </a:p>
        </p:txBody>
      </p:sp>
      <p:sp>
        <p:nvSpPr>
          <p:cNvPr id="253" name="Text 14"/>
          <p:cNvSpPr/>
          <p:nvPr/>
        </p:nvSpPr>
        <p:spPr>
          <a:xfrm>
            <a:off x="8001000" y="2468880"/>
            <a:ext cx="33829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F28C28"/>
                </a:solidFill>
                <a:effectLst/>
                <a:uFillTx/>
                <a:latin typeface="Calibri"/>
                <a:ea typeface="Calibri"/>
              </a:rPr>
              <a:t>super_usuario</a:t>
            </a:r>
            <a:endParaRPr lang="es-CL" sz="1600" b="0" u="none" strike="noStrike">
              <a:solidFill>
                <a:srgbClr val="000000"/>
              </a:solidFill>
              <a:effectLst/>
              <a:uFillTx/>
              <a:latin typeface="Arial"/>
            </a:endParaRPr>
          </a:p>
        </p:txBody>
      </p:sp>
      <p:sp>
        <p:nvSpPr>
          <p:cNvPr id="254" name="Text 15"/>
          <p:cNvSpPr/>
          <p:nvPr/>
        </p:nvSpPr>
        <p:spPr>
          <a:xfrm>
            <a:off x="8001000" y="2788920"/>
            <a:ext cx="3382920" cy="8226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FFFFFF"/>
                </a:solidFill>
                <a:effectLst/>
                <a:uFillTx/>
                <a:latin typeface="Calibri"/>
                <a:ea typeface="Calibri"/>
              </a:rPr>
              <a:t>Contraparte comercial de BARB, sin empresa. Solo crea y gestiona usuarios con perfil gerente.</a:t>
            </a:r>
            <a:endParaRPr lang="es-CL" sz="1400" b="0" u="none" strike="noStrike">
              <a:solidFill>
                <a:srgbClr val="000000"/>
              </a:solidFill>
              <a:effectLst/>
              <a:uFillTx/>
              <a:latin typeface="Arial"/>
            </a:endParaRPr>
          </a:p>
        </p:txBody>
      </p:sp>
      <p:sp>
        <p:nvSpPr>
          <p:cNvPr id="255" name="Text 16"/>
          <p:cNvSpPr/>
          <p:nvPr/>
        </p:nvSpPr>
        <p:spPr>
          <a:xfrm>
            <a:off x="8001000" y="3840480"/>
            <a:ext cx="33829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F28C28"/>
                </a:solidFill>
                <a:effectLst/>
                <a:uFillTx/>
                <a:latin typeface="Calibri"/>
                <a:ea typeface="Calibri"/>
              </a:rPr>
              <a:t>gerente · admin</a:t>
            </a:r>
            <a:endParaRPr lang="es-CL" sz="1600" b="0" u="none" strike="noStrike">
              <a:solidFill>
                <a:srgbClr val="000000"/>
              </a:solidFill>
              <a:effectLst/>
              <a:uFillTx/>
              <a:latin typeface="Arial"/>
            </a:endParaRPr>
          </a:p>
        </p:txBody>
      </p:sp>
      <p:sp>
        <p:nvSpPr>
          <p:cNvPr id="256" name="Text 17"/>
          <p:cNvSpPr/>
          <p:nvPr/>
        </p:nvSpPr>
        <p:spPr>
          <a:xfrm>
            <a:off x="8001000" y="4160520"/>
            <a:ext cx="338292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FFFFFF"/>
                </a:solidFill>
                <a:effectLst/>
                <a:uFillTx/>
                <a:latin typeface="Calibri"/>
                <a:ea typeface="Calibri"/>
              </a:rPr>
              <a:t>Administran los usuarios de su propia empresa.</a:t>
            </a:r>
            <a:endParaRPr lang="es-CL" sz="1400" b="0" u="none" strike="noStrike">
              <a:solidFill>
                <a:srgbClr val="000000"/>
              </a:solidFill>
              <a:effectLst/>
              <a:uFillTx/>
              <a:latin typeface="Arial"/>
            </a:endParaRPr>
          </a:p>
        </p:txBody>
      </p:sp>
      <p:sp>
        <p:nvSpPr>
          <p:cNvPr id="257" name="Text 18"/>
          <p:cNvSpPr/>
          <p:nvPr/>
        </p:nvSpPr>
        <p:spPr>
          <a:xfrm>
            <a:off x="8001000" y="4892040"/>
            <a:ext cx="33829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F28C28"/>
                </a:solidFill>
                <a:effectLst/>
                <a:uFillTx/>
                <a:latin typeface="Calibri"/>
                <a:ea typeface="Calibri"/>
              </a:rPr>
              <a:t>Empresa </a:t>
            </a:r>
            <a:r>
              <a:rPr lang="en-US" sz="1600" b="1" u="none" strike="noStrike">
                <a:solidFill>
                  <a:srgbClr val="F28C28"/>
                </a:solidFill>
                <a:effectLst/>
                <a:uFillTx/>
                <a:latin typeface="Calibri"/>
                <a:ea typeface="Calibri"/>
              </a:rPr>
              <a:t>suspendida o </a:t>
            </a:r>
            <a:r>
              <a:rPr lang="en-US" sz="1600" b="1" u="none" strike="noStrike">
                <a:solidFill>
                  <a:srgbClr val="F28C28"/>
                </a:solidFill>
                <a:effectLst/>
                <a:uFillTx/>
                <a:latin typeface="Calibri"/>
                <a:ea typeface="Calibri"/>
              </a:rPr>
              <a:t>cancelada</a:t>
            </a:r>
            <a:endParaRPr lang="es-CL" sz="1600" b="0" u="none" strike="noStrike">
              <a:solidFill>
                <a:srgbClr val="000000"/>
              </a:solidFill>
              <a:effectLst/>
              <a:uFillTx/>
              <a:latin typeface="Arial"/>
            </a:endParaRPr>
          </a:p>
        </p:txBody>
      </p:sp>
      <p:sp>
        <p:nvSpPr>
          <p:cNvPr id="258" name="Text 19"/>
          <p:cNvSpPr/>
          <p:nvPr/>
        </p:nvSpPr>
        <p:spPr>
          <a:xfrm>
            <a:off x="8001000" y="5212080"/>
            <a:ext cx="3382920" cy="5025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FFFFFF"/>
                </a:solidFill>
                <a:effectLst/>
                <a:uFillTx/>
                <a:latin typeface="Calibri"/>
                <a:ea typeface="Calibri"/>
              </a:rPr>
              <a:t>Sus usuarios pierden el acceso al sistema.</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9"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60"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261"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Roles y </a:t>
            </a:r>
            <a:r>
              <a:rPr lang="es-MX" sz="3200" b="0" u="none" strike="noStrike">
                <a:solidFill>
                  <a:schemeClr val="dk1"/>
                </a:solidFill>
                <a:effectLst/>
                <a:uFillTx/>
                <a:latin typeface="Calibri"/>
              </a:rPr>
              <a:t>permis</a:t>
            </a:r>
            <a:r>
              <a:rPr lang="es-MX" sz="3200" b="0" u="none" strike="noStrike">
                <a:solidFill>
                  <a:schemeClr val="dk1"/>
                </a:solidFill>
                <a:effectLst/>
                <a:uFillTx/>
                <a:latin typeface="Calibri"/>
              </a:rPr>
              <a:t>os</a:t>
            </a:r>
            <a:endParaRPr lang="es-CL" sz="3200" b="0" u="none" strike="noStrike">
              <a:solidFill>
                <a:srgbClr val="000000"/>
              </a:solidFill>
              <a:effectLst/>
              <a:uFillTx/>
              <a:latin typeface="Arial"/>
            </a:endParaRPr>
          </a:p>
        </p:txBody>
      </p:sp>
      <p:cxnSp>
        <p:nvCxnSpPr>
          <p:cNvPr id="262" name="Conector recto 8"/>
          <p:cNvCxnSpPr/>
          <p:nvPr/>
        </p:nvCxnSpPr>
        <p:spPr>
          <a:xfrm>
            <a:off x="0" y="757800"/>
            <a:ext cx="4085640" cy="360"/>
          </a:xfrm>
          <a:prstGeom prst="straightConnector1">
            <a:avLst/>
          </a:prstGeom>
          <a:ln w="15875">
            <a:solidFill>
              <a:srgbClr val="ABC0E4"/>
            </a:solidFill>
          </a:ln>
        </p:spPr>
      </p:cxnSp>
      <p:graphicFrame>
        <p:nvGraphicFramePr>
          <p:cNvPr id="263" name="Matriz de permisos"/>
          <p:cNvGraphicFramePr/>
          <p:nvPr/>
        </p:nvGraphicFramePr>
        <p:xfrm>
          <a:off x="548640" y="1691640"/>
          <a:ext cx="11091240" cy="3620520"/>
        </p:xfrm>
        <a:graphic>
          <a:graphicData uri="http://schemas.openxmlformats.org/drawingml/2006/table">
            <a:tbl>
              <a:tblPr/>
              <a:tblGrid>
                <a:gridCol w="1463040"/>
                <a:gridCol w="1069560"/>
                <a:gridCol w="1069560"/>
                <a:gridCol w="1069560"/>
                <a:gridCol w="1188720"/>
                <a:gridCol w="1069560"/>
                <a:gridCol w="1069560"/>
                <a:gridCol w="1005840"/>
                <a:gridCol w="1078920"/>
                <a:gridCol w="1005840"/>
              </a:tblGrid>
              <a:tr h="548640">
                <a:tc>
                  <a:txBody>
                    <a:bodyPr anchor="ctr">
                      <a:noAutofit/>
                    </a:bodyPr>
                    <a:p>
                      <a:pPr defTabSz="914400">
                        <a:lnSpc>
                          <a:spcPct val="100000"/>
                        </a:lnSpc>
                        <a:tabLst>
                          <a:tab pos="0" algn="l"/>
                        </a:tabLst>
                      </a:pPr>
                      <a:r>
                        <a:rPr lang="en-US" sz="1200" b="1" u="none" strike="noStrike">
                          <a:solidFill>
                            <a:srgbClr val="FFFFFF"/>
                          </a:solidFill>
                          <a:effectLst/>
                          <a:uFillTx/>
                          <a:latin typeface="Calibri"/>
                          <a:ea typeface="Calibri"/>
                        </a:rPr>
                        <a:t>Rol</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Dashboard</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Topología</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DocChat</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Documentos</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Usuarios</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Empresas</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Crear OT</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Cambiar estado</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c>
                  <a:txBody>
                    <a:bodyPr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Cancelar OT</a:t>
                      </a:r>
                      <a:endParaRPr lang="es-CL" sz="1200" b="0" u="none" strike="noStrike">
                        <a:solidFill>
                          <a:srgbClr val="FFFFFF"/>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1F2A37"/>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operador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D97706"/>
                          </a:solidFill>
                          <a:effectLst/>
                          <a:uFillTx/>
                          <a:latin typeface="Calibri"/>
                          <a:ea typeface="Calibri"/>
                        </a:rPr>
                        <a:t>Ver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tecnico</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D97706"/>
                          </a:solidFill>
                          <a:effectLst/>
                          <a:uFillTx/>
                          <a:latin typeface="Calibri"/>
                          <a:ea typeface="Calibri"/>
                        </a:rPr>
                        <a:t>Ver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supervisor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D97706"/>
                          </a:solidFill>
                          <a:effectLst/>
                          <a:uFillTx/>
                          <a:latin typeface="Calibri"/>
                          <a:ea typeface="Calibri"/>
                        </a:rPr>
                        <a:t>Ver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engineer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gerente</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admin</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visitante</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D97706"/>
                          </a:solidFill>
                          <a:effectLst/>
                          <a:uFillTx/>
                          <a:latin typeface="Calibri"/>
                          <a:ea typeface="Calibri"/>
                        </a:rPr>
                        <a:t>Ver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1" u="none" strike="noStrike">
                          <a:solidFill>
                            <a:srgbClr val="D97706"/>
                          </a:solidFill>
                          <a:effectLst/>
                          <a:uFillTx/>
                          <a:latin typeface="Calibri"/>
                          <a:ea typeface="Calibri"/>
                        </a:rPr>
                        <a:t>Ver</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FFFFF"/>
                    </a:solidFill>
                  </a:tcPr>
                </a:tc>
              </a:tr>
              <a:tr h="383760">
                <a:tc>
                  <a:txBody>
                    <a:bodyPr anchor="ctr">
                      <a:noAutofit/>
                    </a:bodyPr>
                    <a:p>
                      <a:pPr defTabSz="914400">
                        <a:lnSpc>
                          <a:spcPct val="100000"/>
                        </a:lnSpc>
                        <a:tabLst>
                          <a:tab pos="0" algn="l"/>
                        </a:tabLst>
                      </a:pPr>
                      <a:r>
                        <a:rPr lang="en-US" sz="1400" b="1" u="none" strike="noStrike">
                          <a:solidFill>
                            <a:srgbClr val="111827"/>
                          </a:solidFill>
                          <a:effectLst/>
                          <a:uFillTx/>
                          <a:latin typeface="Calibri"/>
                          <a:ea typeface="Calibri"/>
                        </a:rPr>
                        <a:t>super_usuario</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1" u="none" strike="noStrike">
                          <a:solidFill>
                            <a:srgbClr val="16A34A"/>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c>
                  <a:txBody>
                    <a:bodyPr anchor="ctr">
                      <a:noAutofit/>
                    </a:bodyPr>
                    <a:p>
                      <a:pPr algn="ctr" defTabSz="914400">
                        <a:lnSpc>
                          <a:spcPct val="100000"/>
                        </a:lnSpc>
                        <a:tabLst>
                          <a:tab pos="0" algn="l"/>
                        </a:tabLst>
                      </a:pPr>
                      <a:r>
                        <a:rPr lang="en-US" sz="1400" b="0" u="none" strike="noStrike">
                          <a:solidFill>
                            <a:srgbClr val="9CA3AF"/>
                          </a:solidFill>
                          <a:effectLst/>
                          <a:uFillTx/>
                          <a:latin typeface="Calibri"/>
                          <a:ea typeface="Calibri"/>
                        </a:rPr>
                        <a:t>—</a:t>
                      </a:r>
                      <a:endParaRPr lang="es-CL" sz="1400" b="0" u="none" strike="noStrike">
                        <a:solidFill>
                          <a:srgbClr val="000000"/>
                        </a:solidFill>
                        <a:effectLst/>
                        <a:uFillTx/>
                        <a:latin typeface="Arial"/>
                      </a:endParaRPr>
                    </a:p>
                  </a:txBody>
                  <a:tcPr anchor="ctr" marL="91440" marR="91440" marT="45720" marB="45720">
                    <a:lnL w="9360">
                      <a:solidFill>
                        <a:srgbClr val="E5E7EB"/>
                      </a:solidFill>
                      <a:prstDash val="solid"/>
                    </a:lnL>
                    <a:lnR w="9360">
                      <a:solidFill>
                        <a:srgbClr val="E5E7EB"/>
                      </a:solidFill>
                      <a:prstDash val="solid"/>
                    </a:lnR>
                    <a:lnT w="9360">
                      <a:solidFill>
                        <a:srgbClr val="E5E7EB"/>
                      </a:solidFill>
                      <a:prstDash val="solid"/>
                    </a:lnT>
                    <a:lnB w="9360">
                      <a:solidFill>
                        <a:srgbClr val="E5E7EB"/>
                      </a:solidFill>
                      <a:prstDash val="solid"/>
                    </a:lnB>
                    <a:solidFill>
                      <a:srgbClr val="F9FAFB"/>
                    </a:solidFill>
                  </a:tcPr>
                </a:tc>
              </a:tr>
            </a:tbl>
          </a:graphicData>
        </a:graphic>
      </p:graphicFrame>
      <p:sp>
        <p:nvSpPr>
          <p:cNvPr id="264" name="Text 0"/>
          <p:cNvSpPr/>
          <p:nvPr/>
        </p:nvSpPr>
        <p:spPr>
          <a:xfrm>
            <a:off x="548640" y="5394960"/>
            <a:ext cx="110912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4748B"/>
                </a:solidFill>
                <a:effectLst/>
                <a:uFillTx/>
                <a:latin typeface="Calibri"/>
                <a:ea typeface="Calibri"/>
              </a:rPr>
              <a:t>✓ acceso completo   ·   Ver = solo lectura   ·   — sin acceso   ·   * el super_usuario solo gestiona usuarios con perfil gerente</a:t>
            </a:r>
            <a:endParaRPr lang="es-CL" sz="1400" b="0" u="none" strike="noStrike">
              <a:solidFill>
                <a:srgbClr val="000000"/>
              </a:solidFill>
              <a:effectLst/>
              <a:uFillTx/>
              <a:latin typeface="Arial"/>
            </a:endParaRPr>
          </a:p>
        </p:txBody>
      </p:sp>
      <p:sp>
        <p:nvSpPr>
          <p:cNvPr id="265" name="Nota de autorización"/>
          <p:cNvSpPr/>
          <p:nvPr/>
        </p:nvSpPr>
        <p:spPr>
          <a:xfrm>
            <a:off x="548640" y="5852160"/>
            <a:ext cx="11091240" cy="776880"/>
          </a:xfrm>
          <a:prstGeom prst="roundRect">
            <a:avLst>
              <a:gd name="adj" fmla="val 9412"/>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66" name="Text 2"/>
          <p:cNvSpPr/>
          <p:nvPr/>
        </p:nvSpPr>
        <p:spPr>
          <a:xfrm>
            <a:off x="777240" y="5852160"/>
            <a:ext cx="10606680" cy="776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0" u="none" strike="noStrike">
                <a:solidFill>
                  <a:srgbClr val="111827"/>
                </a:solidFill>
                <a:effectLst/>
                <a:uFillTx/>
                <a:latin typeface="Calibri"/>
                <a:ea typeface="Calibri"/>
              </a:rPr>
              <a:t>La autorización se decide en el backend, que lee el rol desde la base de datos en cada solicitud. El frontend replica la matriz para ocultar lo que cada rol no puede usar.</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7"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68"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a:t>
            </a:r>
            <a:r>
              <a:rPr lang="es-MX" sz="1800" b="0" u="none" strike="noStrike">
                <a:solidFill>
                  <a:schemeClr val="lt2">
                    <a:lumMod val="50000"/>
                  </a:schemeClr>
                </a:solidFill>
                <a:effectLst/>
                <a:uFillTx/>
                <a:latin typeface="Calibri"/>
              </a:rPr>
              <a:t>“BARB”</a:t>
            </a:r>
            <a:endParaRPr lang="es-CL" sz="1800" b="0" u="none" strike="noStrike">
              <a:solidFill>
                <a:srgbClr val="000000"/>
              </a:solidFill>
              <a:effectLst/>
              <a:uFillTx/>
              <a:latin typeface="Arial"/>
            </a:endParaRPr>
          </a:p>
        </p:txBody>
      </p:sp>
      <p:sp>
        <p:nvSpPr>
          <p:cNvPr id="269"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Órdenes de trabajo</a:t>
            </a:r>
            <a:endParaRPr lang="es-CL" sz="3200" b="0" u="none" strike="noStrike">
              <a:solidFill>
                <a:srgbClr val="000000"/>
              </a:solidFill>
              <a:effectLst/>
              <a:uFillTx/>
              <a:latin typeface="Arial"/>
            </a:endParaRPr>
          </a:p>
        </p:txBody>
      </p:sp>
      <p:cxnSp>
        <p:nvCxnSpPr>
          <p:cNvPr id="270" name="Conector recto 8"/>
          <p:cNvCxnSpPr/>
          <p:nvPr/>
        </p:nvCxnSpPr>
        <p:spPr>
          <a:xfrm>
            <a:off x="0" y="757800"/>
            <a:ext cx="4085640" cy="360"/>
          </a:xfrm>
          <a:prstGeom prst="straightConnector1">
            <a:avLst/>
          </a:prstGeom>
          <a:ln w="15875">
            <a:solidFill>
              <a:srgbClr val="ABC0E4"/>
            </a:solidFill>
          </a:ln>
        </p:spPr>
      </p:cxnSp>
      <p:sp>
        <p:nvSpPr>
          <p:cNvPr id="271" name="Estado Pendiente"/>
          <p:cNvSpPr/>
          <p:nvPr/>
        </p:nvSpPr>
        <p:spPr>
          <a:xfrm>
            <a:off x="548640" y="1920240"/>
            <a:ext cx="1737000" cy="731160"/>
          </a:xfrm>
          <a:prstGeom prst="roundRect">
            <a:avLst>
              <a:gd name="adj" fmla="val 125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72" name="Text 1"/>
          <p:cNvSpPr/>
          <p:nvPr/>
        </p:nvSpPr>
        <p:spPr>
          <a:xfrm>
            <a:off x="548640" y="1920240"/>
            <a:ext cx="17370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Pendiente</a:t>
            </a:r>
            <a:endParaRPr lang="es-CL" sz="1600" b="0" u="none" strike="noStrike">
              <a:solidFill>
                <a:srgbClr val="000000"/>
              </a:solidFill>
              <a:effectLst/>
              <a:uFillTx/>
              <a:latin typeface="Arial"/>
            </a:endParaRPr>
          </a:p>
        </p:txBody>
      </p:sp>
      <p:sp>
        <p:nvSpPr>
          <p:cNvPr id="273" name="Estado En curso"/>
          <p:cNvSpPr/>
          <p:nvPr/>
        </p:nvSpPr>
        <p:spPr>
          <a:xfrm>
            <a:off x="2880360" y="1920240"/>
            <a:ext cx="1737000" cy="731160"/>
          </a:xfrm>
          <a:prstGeom prst="roundRect">
            <a:avLst>
              <a:gd name="adj" fmla="val 125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74" name="Text 3"/>
          <p:cNvSpPr/>
          <p:nvPr/>
        </p:nvSpPr>
        <p:spPr>
          <a:xfrm>
            <a:off x="2880360" y="1920240"/>
            <a:ext cx="17370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En curso</a:t>
            </a:r>
            <a:endParaRPr lang="es-CL" sz="1600" b="0" u="none" strike="noStrike">
              <a:solidFill>
                <a:srgbClr val="000000"/>
              </a:solidFill>
              <a:effectLst/>
              <a:uFillTx/>
              <a:latin typeface="Arial"/>
            </a:endParaRPr>
          </a:p>
        </p:txBody>
      </p:sp>
      <p:sp>
        <p:nvSpPr>
          <p:cNvPr id="275" name="Estado Cerrada"/>
          <p:cNvSpPr/>
          <p:nvPr/>
        </p:nvSpPr>
        <p:spPr>
          <a:xfrm>
            <a:off x="5212080" y="1920240"/>
            <a:ext cx="1737000" cy="731160"/>
          </a:xfrm>
          <a:prstGeom prst="roundRect">
            <a:avLst>
              <a:gd name="adj" fmla="val 12500"/>
            </a:avLst>
          </a:prstGeom>
          <a:solidFill>
            <a:srgbClr val="16A34A"/>
          </a:solidFill>
          <a:ln w="12700">
            <a:solidFill>
              <a:srgbClr val="16A34A"/>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76" name="Text 5"/>
          <p:cNvSpPr/>
          <p:nvPr/>
        </p:nvSpPr>
        <p:spPr>
          <a:xfrm>
            <a:off x="5212080" y="1920240"/>
            <a:ext cx="17370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Cerrada</a:t>
            </a:r>
            <a:endParaRPr lang="es-CL" sz="1600" b="0" u="none" strike="noStrike">
              <a:solidFill>
                <a:srgbClr val="000000"/>
              </a:solidFill>
              <a:effectLst/>
              <a:uFillTx/>
              <a:latin typeface="Arial"/>
            </a:endParaRPr>
          </a:p>
        </p:txBody>
      </p:sp>
      <p:sp>
        <p:nvSpPr>
          <p:cNvPr id="277" name="Estado Cancelada"/>
          <p:cNvSpPr/>
          <p:nvPr/>
        </p:nvSpPr>
        <p:spPr>
          <a:xfrm>
            <a:off x="2880360" y="3749040"/>
            <a:ext cx="1737000" cy="731160"/>
          </a:xfrm>
          <a:prstGeom prst="roundRect">
            <a:avLst>
              <a:gd name="adj" fmla="val 12500"/>
            </a:avLst>
          </a:prstGeom>
          <a:solidFill>
            <a:srgbClr val="DC2626"/>
          </a:solidFill>
          <a:ln w="12700">
            <a:solidFill>
              <a:srgbClr val="DC262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78" name="Text 7"/>
          <p:cNvSpPr/>
          <p:nvPr/>
        </p:nvSpPr>
        <p:spPr>
          <a:xfrm>
            <a:off x="2880360" y="3749040"/>
            <a:ext cx="1737000" cy="7311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Cancelada</a:t>
            </a:r>
            <a:endParaRPr lang="es-CL" sz="1600" b="0" u="none" strike="noStrike">
              <a:solidFill>
                <a:srgbClr val="000000"/>
              </a:solidFill>
              <a:effectLst/>
              <a:uFillTx/>
              <a:latin typeface="Arial"/>
            </a:endParaRPr>
          </a:p>
        </p:txBody>
      </p:sp>
      <p:sp>
        <p:nvSpPr>
          <p:cNvPr id="279" name="Flecha"/>
          <p:cNvSpPr/>
          <p:nvPr/>
        </p:nvSpPr>
        <p:spPr>
          <a:xfrm>
            <a:off x="2286000" y="2286000"/>
            <a:ext cx="594360" cy="360"/>
          </a:xfrm>
          <a:prstGeom prst="line">
            <a:avLst/>
          </a:prstGeom>
          <a:ln w="22225">
            <a:solidFill>
              <a:srgbClr val="64748B"/>
            </a:solidFill>
            <a:round/>
            <a:tailEnd len="med" type="triangle" w="med"/>
          </a:ln>
        </p:spPr>
        <p:style>
          <a:lnRef idx="0"/>
          <a:fillRef idx="0"/>
          <a:effectRef idx="0"/>
          <a:fontRef idx="minor"/>
        </p:style>
        <p:txBody>
          <a:bodyPr lIns="90000" tIns="-44640" rIns="90000" bIns="-44640" anchor="t">
            <a:noAutofit/>
          </a:bodyPr>
          <a:p>
            <a:pPr/>
            <a:endParaRPr lang="es-CL" sz="1800" b="0" u="none" strike="noStrike">
              <a:solidFill>
                <a:schemeClr val="dk1"/>
              </a:solidFill>
              <a:effectLst/>
              <a:uFillTx/>
              <a:latin typeface="Calibri"/>
            </a:endParaRPr>
          </a:p>
        </p:txBody>
      </p:sp>
      <p:sp>
        <p:nvSpPr>
          <p:cNvPr id="280" name="Flecha"/>
          <p:cNvSpPr/>
          <p:nvPr/>
        </p:nvSpPr>
        <p:spPr>
          <a:xfrm>
            <a:off x="4617720" y="2286000"/>
            <a:ext cx="594360" cy="360"/>
          </a:xfrm>
          <a:prstGeom prst="line">
            <a:avLst/>
          </a:prstGeom>
          <a:ln w="22225">
            <a:solidFill>
              <a:srgbClr val="64748B"/>
            </a:solidFill>
            <a:round/>
            <a:tailEnd len="med" type="triangle" w="med"/>
          </a:ln>
        </p:spPr>
        <p:style>
          <a:lnRef idx="0"/>
          <a:fillRef idx="0"/>
          <a:effectRef idx="0"/>
          <a:fontRef idx="minor"/>
        </p:style>
        <p:txBody>
          <a:bodyPr lIns="90000" tIns="-44640" rIns="90000" bIns="-44640" anchor="t">
            <a:noAutofit/>
          </a:bodyPr>
          <a:p>
            <a:pPr/>
            <a:endParaRPr lang="es-CL" sz="1800" b="0" u="none" strike="noStrike">
              <a:solidFill>
                <a:schemeClr val="dk1"/>
              </a:solidFill>
              <a:effectLst/>
              <a:uFillTx/>
              <a:latin typeface="Calibri"/>
            </a:endParaRPr>
          </a:p>
        </p:txBody>
      </p:sp>
      <p:sp>
        <p:nvSpPr>
          <p:cNvPr id="281" name="Flecha"/>
          <p:cNvSpPr/>
          <p:nvPr/>
        </p:nvSpPr>
        <p:spPr>
          <a:xfrm>
            <a:off x="1417320" y="2651760"/>
            <a:ext cx="1463040" cy="1463040"/>
          </a:xfrm>
          <a:prstGeom prst="line">
            <a:avLst/>
          </a:prstGeom>
          <a:ln w="22225">
            <a:solidFill>
              <a:srgbClr val="64748B"/>
            </a:solidFill>
            <a:round/>
            <a:tailEnd len="med" type="triangle" w="me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82" name="Flecha"/>
          <p:cNvSpPr/>
          <p:nvPr/>
        </p:nvSpPr>
        <p:spPr>
          <a:xfrm>
            <a:off x="3749040" y="2651760"/>
            <a:ext cx="360" cy="1097280"/>
          </a:xfrm>
          <a:prstGeom prst="line">
            <a:avLst/>
          </a:prstGeom>
          <a:ln w="22225">
            <a:solidFill>
              <a:srgbClr val="64748B"/>
            </a:solidFill>
            <a:round/>
            <a:tailEnd len="med" type="triangle" w="me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83" name="Text 12"/>
          <p:cNvSpPr/>
          <p:nvPr/>
        </p:nvSpPr>
        <p:spPr>
          <a:xfrm>
            <a:off x="548640" y="4709160"/>
            <a:ext cx="6309000" cy="6397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64748B"/>
                </a:solidFill>
                <a:effectLst/>
                <a:uFillTx/>
                <a:latin typeface="Calibri"/>
                <a:ea typeface="Calibri"/>
              </a:rPr>
              <a:t>Cerrada y Cancelada son estados finales. «Asignada» y «Vencida» (heredados del esquema) se tratan como Pendiente.</a:t>
            </a:r>
            <a:endParaRPr lang="es-CL" sz="1400" b="0" u="none" strike="noStrike">
              <a:solidFill>
                <a:srgbClr val="000000"/>
              </a:solidFill>
              <a:effectLst/>
              <a:uFillTx/>
              <a:latin typeface="Arial"/>
            </a:endParaRPr>
          </a:p>
        </p:txBody>
      </p:sp>
      <p:sp>
        <p:nvSpPr>
          <p:cNvPr id="284" name="Text 13"/>
          <p:cNvSpPr/>
          <p:nvPr/>
        </p:nvSpPr>
        <p:spPr>
          <a:xfrm>
            <a:off x="7223760" y="1828800"/>
            <a:ext cx="4416120" cy="35658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Listado con </a:t>
            </a:r>
            <a:r>
              <a:rPr lang="en-US" sz="1400" b="0" u="none" strike="noStrike">
                <a:solidFill>
                  <a:srgbClr val="111827"/>
                </a:solidFill>
                <a:effectLst/>
                <a:uFillTx/>
                <a:latin typeface="Calibri"/>
                <a:ea typeface="Calibri"/>
              </a:rPr>
              <a:t>filtro por </a:t>
            </a:r>
            <a:r>
              <a:rPr lang="en-US" sz="1400" b="0" u="none" strike="noStrike">
                <a:solidFill>
                  <a:srgbClr val="111827"/>
                </a:solidFill>
                <a:effectLst/>
                <a:uFillTx/>
                <a:latin typeface="Calibri"/>
                <a:ea typeface="Calibri"/>
              </a:rPr>
              <a:t>estado, </a:t>
            </a:r>
            <a:r>
              <a:rPr lang="en-US" sz="1400" b="0" u="none" strike="noStrike">
                <a:solidFill>
                  <a:srgbClr val="111827"/>
                </a:solidFill>
                <a:effectLst/>
                <a:uFillTx/>
                <a:latin typeface="Calibri"/>
                <a:ea typeface="Calibri"/>
              </a:rPr>
              <a:t>búsqueda, </a:t>
            </a:r>
            <a:r>
              <a:rPr lang="en-US" sz="1400" b="0" u="none" strike="noStrike">
                <a:solidFill>
                  <a:srgbClr val="111827"/>
                </a:solidFill>
                <a:effectLst/>
                <a:uFillTx/>
                <a:latin typeface="Calibri"/>
                <a:ea typeface="Calibri"/>
              </a:rPr>
              <a:t>contadores y </a:t>
            </a:r>
            <a:r>
              <a:rPr lang="en-US" sz="1400" b="0" u="none" strike="noStrike">
                <a:solidFill>
                  <a:srgbClr val="111827"/>
                </a:solidFill>
                <a:effectLst/>
                <a:uFillTx/>
                <a:latin typeface="Calibri"/>
                <a:ea typeface="Calibri"/>
              </a:rPr>
              <a:t>hoja de detalle</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Alta de OT con </a:t>
            </a:r>
            <a:r>
              <a:rPr lang="en-US" sz="1400" b="0" u="none" strike="noStrike">
                <a:solidFill>
                  <a:srgbClr val="111827"/>
                </a:solidFill>
                <a:effectLst/>
                <a:uFillTx/>
                <a:latin typeface="Calibri"/>
                <a:ea typeface="Calibri"/>
              </a:rPr>
              <a:t>prioridad y </a:t>
            </a:r>
            <a:r>
              <a:rPr lang="en-US" sz="1400" b="0" u="none" strike="noStrike">
                <a:solidFill>
                  <a:srgbClr val="111827"/>
                </a:solidFill>
                <a:effectLst/>
                <a:uFillTx/>
                <a:latin typeface="Calibri"/>
                <a:ea typeface="Calibri"/>
              </a:rPr>
              <a:t>foto de la falla </a:t>
            </a:r>
            <a:r>
              <a:rPr lang="en-US" sz="1400" b="0" u="none" strike="noStrike">
                <a:solidFill>
                  <a:srgbClr val="111827"/>
                </a:solidFill>
                <a:effectLst/>
                <a:uFillTx/>
                <a:latin typeface="Calibri"/>
                <a:ea typeface="Calibri"/>
              </a:rPr>
              <a:t>(JPG, PNG o </a:t>
            </a:r>
            <a:r>
              <a:rPr lang="en-US" sz="1400" b="0" u="none" strike="noStrike">
                <a:solidFill>
                  <a:srgbClr val="111827"/>
                </a:solidFill>
                <a:effectLst/>
                <a:uFillTx/>
                <a:latin typeface="Calibri"/>
                <a:ea typeface="Calibri"/>
              </a:rPr>
              <a:t>WebP); </a:t>
            </a:r>
            <a:r>
              <a:rPr lang="en-US" sz="1400" b="0" u="none" strike="noStrike">
                <a:solidFill>
                  <a:srgbClr val="111827"/>
                </a:solidFill>
                <a:effectLst/>
                <a:uFillTx/>
                <a:latin typeface="Calibri"/>
                <a:ea typeface="Calibri"/>
              </a:rPr>
              <a:t>número </a:t>
            </a:r>
            <a:r>
              <a:rPr lang="en-US" sz="1400" b="0" u="none" strike="noStrike">
                <a:solidFill>
                  <a:srgbClr val="111827"/>
                </a:solidFill>
                <a:effectLst/>
                <a:uFillTx/>
                <a:latin typeface="Calibri"/>
                <a:ea typeface="Calibri"/>
              </a:rPr>
              <a:t>automático </a:t>
            </a:r>
            <a:r>
              <a:rPr lang="en-US" sz="1400" b="0" u="none" strike="noStrike">
                <a:solidFill>
                  <a:srgbClr val="111827"/>
                </a:solidFill>
                <a:effectLst/>
                <a:uFillTx/>
                <a:latin typeface="Calibri"/>
                <a:ea typeface="Calibri"/>
              </a:rPr>
              <a:t>OT-AAAA-</a:t>
            </a:r>
            <a:r>
              <a:rPr lang="en-US" sz="1400" b="0" u="none" strike="noStrike">
                <a:solidFill>
                  <a:srgbClr val="111827"/>
                </a:solidFill>
                <a:effectLst/>
                <a:uFillTx/>
                <a:latin typeface="Calibri"/>
                <a:ea typeface="Calibri"/>
              </a:rPr>
              <a:t>NNNN</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Cada OT trae </a:t>
            </a:r>
            <a:r>
              <a:rPr lang="en-US" sz="1400" b="0" u="none" strike="noStrike">
                <a:solidFill>
                  <a:srgbClr val="111827"/>
                </a:solidFill>
                <a:effectLst/>
                <a:uFillTx/>
                <a:latin typeface="Calibri"/>
                <a:ea typeface="Calibri"/>
              </a:rPr>
              <a:t>las </a:t>
            </a:r>
            <a:r>
              <a:rPr lang="en-US" sz="1400" b="0" u="none" strike="noStrike">
                <a:solidFill>
                  <a:srgbClr val="111827"/>
                </a:solidFill>
                <a:effectLst/>
                <a:uFillTx/>
                <a:latin typeface="Calibri"/>
                <a:ea typeface="Calibri"/>
              </a:rPr>
              <a:t>transiciones </a:t>
            </a:r>
            <a:r>
              <a:rPr lang="en-US" sz="1400" b="0" u="none" strike="noStrike">
                <a:solidFill>
                  <a:srgbClr val="111827"/>
                </a:solidFill>
                <a:effectLst/>
                <a:uFillTx/>
                <a:latin typeface="Calibri"/>
                <a:ea typeface="Calibri"/>
              </a:rPr>
              <a:t>que el rol </a:t>
            </a:r>
            <a:r>
              <a:rPr lang="en-US" sz="1400" b="0" u="none" strike="noStrike">
                <a:solidFill>
                  <a:srgbClr val="111827"/>
                </a:solidFill>
                <a:effectLst/>
                <a:uFillTx/>
                <a:latin typeface="Calibri"/>
                <a:ea typeface="Calibri"/>
              </a:rPr>
              <a:t>puede </a:t>
            </a:r>
            <a:r>
              <a:rPr lang="en-US" sz="1400" b="0" u="none" strike="noStrike">
                <a:solidFill>
                  <a:srgbClr val="111827"/>
                </a:solidFill>
                <a:effectLst/>
                <a:uFillTx/>
                <a:latin typeface="Calibri"/>
                <a:ea typeface="Calibri"/>
              </a:rPr>
              <a:t>ejecutar: el </a:t>
            </a:r>
            <a:r>
              <a:rPr lang="en-US" sz="1400" b="0" u="none" strike="noStrike">
                <a:solidFill>
                  <a:srgbClr val="111827"/>
                </a:solidFill>
                <a:effectLst/>
                <a:uFillTx/>
                <a:latin typeface="Calibri"/>
                <a:ea typeface="Calibri"/>
              </a:rPr>
              <a:t>frontend no </a:t>
            </a:r>
            <a:r>
              <a:rPr lang="en-US" sz="1400" b="0" u="none" strike="noStrike">
                <a:solidFill>
                  <a:srgbClr val="111827"/>
                </a:solidFill>
                <a:effectLst/>
                <a:uFillTx/>
                <a:latin typeface="Calibri"/>
                <a:ea typeface="Calibri"/>
              </a:rPr>
              <a:t>duplica reglas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Cada cambio </a:t>
            </a:r>
            <a:r>
              <a:rPr lang="en-US" sz="1400" b="0" u="none" strike="noStrike">
                <a:solidFill>
                  <a:srgbClr val="111827"/>
                </a:solidFill>
                <a:effectLst/>
                <a:uFillTx/>
                <a:latin typeface="Calibri"/>
                <a:ea typeface="Calibri"/>
              </a:rPr>
              <a:t>queda en el </a:t>
            </a:r>
            <a:r>
              <a:rPr lang="en-US" sz="1400" b="0" u="none" strike="noStrike">
                <a:solidFill>
                  <a:srgbClr val="111827"/>
                </a:solidFill>
                <a:effectLst/>
                <a:uFillTx/>
                <a:latin typeface="Calibri"/>
                <a:ea typeface="Calibri"/>
              </a:rPr>
              <a:t>historial: </a:t>
            </a:r>
            <a:r>
              <a:rPr lang="en-US" sz="1400" b="0" u="none" strike="noStrike">
                <a:solidFill>
                  <a:srgbClr val="111827"/>
                </a:solidFill>
                <a:effectLst/>
                <a:uFillTx/>
                <a:latin typeface="Calibri"/>
                <a:ea typeface="Calibri"/>
              </a:rPr>
              <a:t>quién, cuándo, </a:t>
            </a:r>
            <a:r>
              <a:rPr lang="en-US" sz="1400" b="0" u="none" strike="noStrike">
                <a:solidFill>
                  <a:srgbClr val="111827"/>
                </a:solidFill>
                <a:effectLst/>
                <a:uFillTx/>
                <a:latin typeface="Calibri"/>
                <a:ea typeface="Calibri"/>
              </a:rPr>
              <a:t>estado </a:t>
            </a:r>
            <a:r>
              <a:rPr lang="en-US" sz="1400" b="0" u="none" strike="noStrike">
                <a:solidFill>
                  <a:srgbClr val="111827"/>
                </a:solidFill>
                <a:effectLst/>
                <a:uFillTx/>
                <a:latin typeface="Calibri"/>
                <a:ea typeface="Calibri"/>
              </a:rPr>
              <a:t>anterior y </a:t>
            </a:r>
            <a:r>
              <a:rPr lang="en-US" sz="1400" b="0" u="none" strike="noStrike">
                <a:solidFill>
                  <a:srgbClr val="111827"/>
                </a:solidFill>
                <a:effectLst/>
                <a:uFillTx/>
                <a:latin typeface="Calibri"/>
                <a:ea typeface="Calibri"/>
              </a:rPr>
              <a:t>nuevo, </a:t>
            </a:r>
            <a:r>
              <a:rPr lang="en-US" sz="1400" b="0" u="none" strike="noStrike">
                <a:solidFill>
                  <a:srgbClr val="111827"/>
                </a:solidFill>
                <a:effectLst/>
                <a:uFillTx/>
                <a:latin typeface="Calibri"/>
                <a:ea typeface="Calibri"/>
              </a:rPr>
              <a:t>comentario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Transición </a:t>
            </a:r>
            <a:r>
              <a:rPr lang="en-US" sz="1400" b="0" u="none" strike="noStrike">
                <a:solidFill>
                  <a:srgbClr val="111827"/>
                </a:solidFill>
                <a:effectLst/>
                <a:uFillTx/>
                <a:latin typeface="Calibri"/>
                <a:ea typeface="Calibri"/>
              </a:rPr>
              <a:t>inválida → </a:t>
            </a:r>
            <a:r>
              <a:rPr lang="en-US" sz="1400" b="0" u="none" strike="noStrike">
                <a:solidFill>
                  <a:srgbClr val="111827"/>
                </a:solidFill>
                <a:effectLst/>
                <a:uFillTx/>
                <a:latin typeface="Calibri"/>
                <a:ea typeface="Calibri"/>
              </a:rPr>
              <a:t>409; rol sin </a:t>
            </a:r>
            <a:r>
              <a:rPr lang="en-US" sz="1400" b="0" u="none" strike="noStrike">
                <a:solidFill>
                  <a:srgbClr val="111827"/>
                </a:solidFill>
                <a:effectLst/>
                <a:uFillTx/>
                <a:latin typeface="Calibri"/>
                <a:ea typeface="Calibri"/>
              </a:rPr>
              <a:t>permiso → </a:t>
            </a:r>
            <a:r>
              <a:rPr lang="en-US" sz="1400" b="0" u="none" strike="noStrike">
                <a:solidFill>
                  <a:srgbClr val="111827"/>
                </a:solidFill>
                <a:effectLst/>
                <a:uFillTx/>
                <a:latin typeface="Calibri"/>
                <a:ea typeface="Calibri"/>
              </a:rPr>
              <a:t>403</a:t>
            </a:r>
            <a:endParaRPr lang="es-CL" sz="1400" b="0" u="none" strike="noStrike">
              <a:solidFill>
                <a:srgbClr val="000000"/>
              </a:solidFill>
              <a:effectLst/>
              <a:uFillTx/>
              <a:latin typeface="Arial"/>
            </a:endParaRPr>
          </a:p>
        </p:txBody>
      </p:sp>
      <p:sp>
        <p:nvSpPr>
          <p:cNvPr id="285" name="Roles Crear OT"/>
          <p:cNvSpPr/>
          <p:nvPr/>
        </p:nvSpPr>
        <p:spPr>
          <a:xfrm>
            <a:off x="548640" y="5532120"/>
            <a:ext cx="3544920" cy="1051200"/>
          </a:xfrm>
          <a:prstGeom prst="roundRect">
            <a:avLst>
              <a:gd name="adj" fmla="val 695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86" name="Text 15"/>
          <p:cNvSpPr/>
          <p:nvPr/>
        </p:nvSpPr>
        <p:spPr>
          <a:xfrm>
            <a:off x="777240" y="5650920"/>
            <a:ext cx="3087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0F766E"/>
                </a:solidFill>
                <a:effectLst/>
                <a:uFillTx/>
                <a:latin typeface="Calibri"/>
                <a:ea typeface="Calibri"/>
              </a:rPr>
              <a:t>Crear OT</a:t>
            </a:r>
            <a:endParaRPr lang="es-CL" sz="1400" b="0" u="none" strike="noStrike">
              <a:solidFill>
                <a:srgbClr val="000000"/>
              </a:solidFill>
              <a:effectLst/>
              <a:uFillTx/>
              <a:latin typeface="Arial"/>
            </a:endParaRPr>
          </a:p>
        </p:txBody>
      </p:sp>
      <p:sp>
        <p:nvSpPr>
          <p:cNvPr id="287" name="Text 16"/>
          <p:cNvSpPr/>
          <p:nvPr/>
        </p:nvSpPr>
        <p:spPr>
          <a:xfrm>
            <a:off x="777240" y="5961960"/>
            <a:ext cx="30877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gerente · admin</a:t>
            </a:r>
            <a:endParaRPr lang="es-CL" sz="1400" b="0" u="none" strike="noStrike">
              <a:solidFill>
                <a:srgbClr val="000000"/>
              </a:solidFill>
              <a:effectLst/>
              <a:uFillTx/>
              <a:latin typeface="Arial"/>
            </a:endParaRPr>
          </a:p>
        </p:txBody>
      </p:sp>
      <p:sp>
        <p:nvSpPr>
          <p:cNvPr id="288" name="Roles Iniciar o cerrar"/>
          <p:cNvSpPr/>
          <p:nvPr/>
        </p:nvSpPr>
        <p:spPr>
          <a:xfrm>
            <a:off x="4322520" y="5532120"/>
            <a:ext cx="3544920" cy="1051200"/>
          </a:xfrm>
          <a:prstGeom prst="roundRect">
            <a:avLst>
              <a:gd name="adj" fmla="val 695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89" name="Text 18"/>
          <p:cNvSpPr/>
          <p:nvPr/>
        </p:nvSpPr>
        <p:spPr>
          <a:xfrm>
            <a:off x="4551120" y="5650920"/>
            <a:ext cx="3087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0F766E"/>
                </a:solidFill>
                <a:effectLst/>
                <a:uFillTx/>
                <a:latin typeface="Calibri"/>
                <a:ea typeface="Calibri"/>
              </a:rPr>
              <a:t>Iniciar o cerrar</a:t>
            </a:r>
            <a:endParaRPr lang="es-CL" sz="1400" b="0" u="none" strike="noStrike">
              <a:solidFill>
                <a:srgbClr val="000000"/>
              </a:solidFill>
              <a:effectLst/>
              <a:uFillTx/>
              <a:latin typeface="Arial"/>
            </a:endParaRPr>
          </a:p>
        </p:txBody>
      </p:sp>
      <p:sp>
        <p:nvSpPr>
          <p:cNvPr id="290" name="Text 19"/>
          <p:cNvSpPr/>
          <p:nvPr/>
        </p:nvSpPr>
        <p:spPr>
          <a:xfrm>
            <a:off x="4551120" y="5961960"/>
            <a:ext cx="30877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supervisor · </a:t>
            </a:r>
            <a:r>
              <a:rPr lang="en-US" sz="1400" b="0" u="none" strike="noStrike">
                <a:solidFill>
                  <a:srgbClr val="111827"/>
                </a:solidFill>
                <a:effectLst/>
                <a:uFillTx/>
                <a:latin typeface="Calibri"/>
                <a:ea typeface="Calibri"/>
              </a:rPr>
              <a:t>engineer · </a:t>
            </a:r>
            <a:r>
              <a:rPr lang="en-US" sz="1400" b="0" u="none" strike="noStrike">
                <a:solidFill>
                  <a:srgbClr val="111827"/>
                </a:solidFill>
                <a:effectLst/>
                <a:uFillTx/>
                <a:latin typeface="Calibri"/>
                <a:ea typeface="Calibri"/>
              </a:rPr>
              <a:t>gerente · admin</a:t>
            </a:r>
            <a:endParaRPr lang="es-CL" sz="1400" b="0" u="none" strike="noStrike">
              <a:solidFill>
                <a:srgbClr val="000000"/>
              </a:solidFill>
              <a:effectLst/>
              <a:uFillTx/>
              <a:latin typeface="Arial"/>
            </a:endParaRPr>
          </a:p>
        </p:txBody>
      </p:sp>
      <p:sp>
        <p:nvSpPr>
          <p:cNvPr id="291" name="Roles Cancelar"/>
          <p:cNvSpPr/>
          <p:nvPr/>
        </p:nvSpPr>
        <p:spPr>
          <a:xfrm>
            <a:off x="8096040" y="5532120"/>
            <a:ext cx="3544920" cy="1051200"/>
          </a:xfrm>
          <a:prstGeom prst="roundRect">
            <a:avLst>
              <a:gd name="adj" fmla="val 695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92" name="Text 21"/>
          <p:cNvSpPr/>
          <p:nvPr/>
        </p:nvSpPr>
        <p:spPr>
          <a:xfrm>
            <a:off x="8324640" y="5650920"/>
            <a:ext cx="3087720" cy="2739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0F766E"/>
                </a:solidFill>
                <a:effectLst/>
                <a:uFillTx/>
                <a:latin typeface="Calibri"/>
                <a:ea typeface="Calibri"/>
              </a:rPr>
              <a:t>Cancelar</a:t>
            </a:r>
            <a:endParaRPr lang="es-CL" sz="1400" b="0" u="none" strike="noStrike">
              <a:solidFill>
                <a:srgbClr val="000000"/>
              </a:solidFill>
              <a:effectLst/>
              <a:uFillTx/>
              <a:latin typeface="Arial"/>
            </a:endParaRPr>
          </a:p>
        </p:txBody>
      </p:sp>
      <p:sp>
        <p:nvSpPr>
          <p:cNvPr id="293" name="Text 22"/>
          <p:cNvSpPr/>
          <p:nvPr/>
        </p:nvSpPr>
        <p:spPr>
          <a:xfrm>
            <a:off x="8324640" y="5961960"/>
            <a:ext cx="3087720" cy="5940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supervisor · gerente · admin</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295"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296"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Seguimiento: KPIs, correos y tiempo real</a:t>
            </a:r>
            <a:endParaRPr lang="es-CL" sz="3200" b="0" u="none" strike="noStrike">
              <a:solidFill>
                <a:srgbClr val="000000"/>
              </a:solidFill>
              <a:effectLst/>
              <a:uFillTx/>
              <a:latin typeface="Arial"/>
            </a:endParaRPr>
          </a:p>
        </p:txBody>
      </p:sp>
      <p:cxnSp>
        <p:nvCxnSpPr>
          <p:cNvPr id="297" name="Conector recto 8"/>
          <p:cNvCxnSpPr/>
          <p:nvPr/>
        </p:nvCxnSpPr>
        <p:spPr>
          <a:xfrm>
            <a:off x="0" y="757800"/>
            <a:ext cx="4085640" cy="360"/>
          </a:xfrm>
          <a:prstGeom prst="straightConnector1">
            <a:avLst/>
          </a:prstGeom>
          <a:ln w="15875">
            <a:solidFill>
              <a:srgbClr val="ABC0E4"/>
            </a:solidFill>
          </a:ln>
        </p:spPr>
      </p:cxnSp>
      <p:sp>
        <p:nvSpPr>
          <p:cNvPr id="298" name="Tarjeta Dashboard de KPIs"/>
          <p:cNvSpPr/>
          <p:nvPr/>
        </p:nvSpPr>
        <p:spPr>
          <a:xfrm>
            <a:off x="548640" y="1737360"/>
            <a:ext cx="3544920" cy="4023000"/>
          </a:xfrm>
          <a:prstGeom prst="roundRect">
            <a:avLst>
              <a:gd name="adj" fmla="val 2063"/>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299" name="Dashboard de KPIs (círculo)"/>
          <p:cNvSpPr/>
          <p:nvPr/>
        </p:nvSpPr>
        <p:spPr>
          <a:xfrm>
            <a:off x="822960" y="196596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300" name="Dashboard de KPIs" descr="Dashboard de KPIs"/>
          <p:cNvPicPr/>
          <p:nvPr/>
        </p:nvPicPr>
        <p:blipFill>
          <a:blip r:embed="rId2"/>
          <a:stretch/>
        </p:blipFill>
        <p:spPr>
          <a:xfrm>
            <a:off x="994320" y="2137320"/>
            <a:ext cx="342720" cy="342720"/>
          </a:xfrm>
          <a:prstGeom prst="rect">
            <a:avLst/>
          </a:prstGeom>
          <a:noFill/>
          <a:ln w="0">
            <a:noFill/>
          </a:ln>
        </p:spPr>
      </p:pic>
      <p:sp>
        <p:nvSpPr>
          <p:cNvPr id="301" name="Etiqueta En la app"/>
          <p:cNvSpPr/>
          <p:nvPr/>
        </p:nvSpPr>
        <p:spPr>
          <a:xfrm>
            <a:off x="2539440" y="2148840"/>
            <a:ext cx="1279800" cy="273960"/>
          </a:xfrm>
          <a:prstGeom prst="roundRect">
            <a:avLst>
              <a:gd name="adj" fmla="val 50000"/>
            </a:avLst>
          </a:prstGeom>
          <a:solidFill>
            <a:srgbClr val="16A34A"/>
          </a:solidFill>
          <a:ln w="12700">
            <a:solidFill>
              <a:srgbClr val="16A34A"/>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02" name="Text 3"/>
          <p:cNvSpPr/>
          <p:nvPr/>
        </p:nvSpPr>
        <p:spPr>
          <a:xfrm>
            <a:off x="2539440" y="214884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En la app</a:t>
            </a:r>
            <a:endParaRPr lang="es-CL" sz="1200" b="0" u="none" strike="noStrike">
              <a:solidFill>
                <a:srgbClr val="000000"/>
              </a:solidFill>
              <a:effectLst/>
              <a:uFillTx/>
              <a:latin typeface="Arial"/>
            </a:endParaRPr>
          </a:p>
        </p:txBody>
      </p:sp>
      <p:sp>
        <p:nvSpPr>
          <p:cNvPr id="303" name="Text 4"/>
          <p:cNvSpPr/>
          <p:nvPr/>
        </p:nvSpPr>
        <p:spPr>
          <a:xfrm>
            <a:off x="822960" y="2880360"/>
            <a:ext cx="29962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111827"/>
                </a:solidFill>
                <a:effectLst/>
                <a:uFillTx/>
                <a:latin typeface="Calibri"/>
                <a:ea typeface="Calibri"/>
              </a:rPr>
              <a:t>Dashboard de KPIs</a:t>
            </a:r>
            <a:endParaRPr lang="es-CL" sz="2000" b="0" u="none" strike="noStrike">
              <a:solidFill>
                <a:srgbClr val="000000"/>
              </a:solidFill>
              <a:effectLst/>
              <a:uFillTx/>
              <a:latin typeface="Arial"/>
            </a:endParaRPr>
          </a:p>
        </p:txBody>
      </p:sp>
      <p:sp>
        <p:nvSpPr>
          <p:cNvPr id="304" name="Text 5"/>
          <p:cNvSpPr/>
          <p:nvPr/>
        </p:nvSpPr>
        <p:spPr>
          <a:xfrm>
            <a:off x="822960" y="3383280"/>
            <a:ext cx="2996280" cy="21942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MTTR global, eficiencia (cumplimiento de SLA), costo directo, MTBF y ahorro generado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Disponible desde supervisor; el visitante solo consulta</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Calcula solo con las OTs de la empresa del usuario</a:t>
            </a:r>
            <a:endParaRPr lang="es-CL" sz="1400" b="0" u="none" strike="noStrike">
              <a:solidFill>
                <a:srgbClr val="000000"/>
              </a:solidFill>
              <a:effectLst/>
              <a:uFillTx/>
              <a:latin typeface="Arial"/>
            </a:endParaRPr>
          </a:p>
        </p:txBody>
      </p:sp>
      <p:sp>
        <p:nvSpPr>
          <p:cNvPr id="305" name="Tarjeta Correo de OTs atrasadas"/>
          <p:cNvSpPr/>
          <p:nvPr/>
        </p:nvSpPr>
        <p:spPr>
          <a:xfrm>
            <a:off x="4322520" y="1737360"/>
            <a:ext cx="3544920" cy="4023000"/>
          </a:xfrm>
          <a:prstGeom prst="roundRect">
            <a:avLst>
              <a:gd name="adj" fmla="val 2063"/>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06" name="Correo de OTs atrasadas (círculo)"/>
          <p:cNvSpPr/>
          <p:nvPr/>
        </p:nvSpPr>
        <p:spPr>
          <a:xfrm>
            <a:off x="4596840" y="196596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307" name="Correo de OTs atrasadas" descr="Correo de OTs atrasadas"/>
          <p:cNvPicPr/>
          <p:nvPr/>
        </p:nvPicPr>
        <p:blipFill>
          <a:blip r:embed="rId3"/>
          <a:stretch/>
        </p:blipFill>
        <p:spPr>
          <a:xfrm>
            <a:off x="4768200" y="2137320"/>
            <a:ext cx="342720" cy="342720"/>
          </a:xfrm>
          <a:prstGeom prst="rect">
            <a:avLst/>
          </a:prstGeom>
          <a:noFill/>
          <a:ln w="0">
            <a:noFill/>
          </a:ln>
        </p:spPr>
      </p:pic>
      <p:sp>
        <p:nvSpPr>
          <p:cNvPr id="308" name="Etiqueta Solo backend"/>
          <p:cNvSpPr/>
          <p:nvPr/>
        </p:nvSpPr>
        <p:spPr>
          <a:xfrm>
            <a:off x="6312960" y="2148840"/>
            <a:ext cx="1279800" cy="27396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09" name="Text 9"/>
          <p:cNvSpPr/>
          <p:nvPr/>
        </p:nvSpPr>
        <p:spPr>
          <a:xfrm>
            <a:off x="6312960" y="214884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Solo backend</a:t>
            </a:r>
            <a:endParaRPr lang="es-CL" sz="1200" b="0" u="none" strike="noStrike">
              <a:solidFill>
                <a:srgbClr val="000000"/>
              </a:solidFill>
              <a:effectLst/>
              <a:uFillTx/>
              <a:latin typeface="Arial"/>
            </a:endParaRPr>
          </a:p>
        </p:txBody>
      </p:sp>
      <p:sp>
        <p:nvSpPr>
          <p:cNvPr id="310" name="Text 10"/>
          <p:cNvSpPr/>
          <p:nvPr/>
        </p:nvSpPr>
        <p:spPr>
          <a:xfrm>
            <a:off x="4596840" y="2880360"/>
            <a:ext cx="29962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111827"/>
                </a:solidFill>
                <a:effectLst/>
                <a:uFillTx/>
                <a:latin typeface="Calibri"/>
                <a:ea typeface="Calibri"/>
              </a:rPr>
              <a:t>Correo de </a:t>
            </a:r>
            <a:r>
              <a:rPr lang="en-US" sz="2000" b="1" u="none" strike="noStrike">
                <a:solidFill>
                  <a:srgbClr val="111827"/>
                </a:solidFill>
                <a:effectLst/>
                <a:uFillTx/>
                <a:latin typeface="Calibri"/>
                <a:ea typeface="Calibri"/>
              </a:rPr>
              <a:t>OTs </a:t>
            </a:r>
            <a:r>
              <a:rPr lang="en-US" sz="2000" b="1" u="none" strike="noStrike">
                <a:solidFill>
                  <a:srgbClr val="111827"/>
                </a:solidFill>
                <a:effectLst/>
                <a:uFillTx/>
                <a:latin typeface="Calibri"/>
                <a:ea typeface="Calibri"/>
              </a:rPr>
              <a:t>atrasadas</a:t>
            </a:r>
            <a:endParaRPr lang="es-CL" sz="2000" b="0" u="none" strike="noStrike">
              <a:solidFill>
                <a:srgbClr val="000000"/>
              </a:solidFill>
              <a:effectLst/>
              <a:uFillTx/>
              <a:latin typeface="Arial"/>
            </a:endParaRPr>
          </a:p>
        </p:txBody>
      </p:sp>
      <p:sp>
        <p:nvSpPr>
          <p:cNvPr id="311" name="Text 11"/>
          <p:cNvSpPr/>
          <p:nvPr/>
        </p:nvSpPr>
        <p:spPr>
          <a:xfrm>
            <a:off x="4596840" y="3383280"/>
            <a:ext cx="2996280" cy="21942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Un cron externo llama cada hora al endpoint del job</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Por empresa: frecuencia diaria o semanal, hora y hasta 20 destinatarios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Un envío por período; sin OTs atrasadas no se envía nada</a:t>
            </a:r>
            <a:endParaRPr lang="es-CL" sz="1400" b="0" u="none" strike="noStrike">
              <a:solidFill>
                <a:srgbClr val="000000"/>
              </a:solidFill>
              <a:effectLst/>
              <a:uFillTx/>
              <a:latin typeface="Arial"/>
            </a:endParaRPr>
          </a:p>
        </p:txBody>
      </p:sp>
      <p:sp>
        <p:nvSpPr>
          <p:cNvPr id="312" name="Tarjeta OTs en tiempo real"/>
          <p:cNvSpPr/>
          <p:nvPr/>
        </p:nvSpPr>
        <p:spPr>
          <a:xfrm>
            <a:off x="8096040" y="1737360"/>
            <a:ext cx="3544920" cy="4023000"/>
          </a:xfrm>
          <a:prstGeom prst="roundRect">
            <a:avLst>
              <a:gd name="adj" fmla="val 2063"/>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13" name="OTs en tiempo real (círculo)"/>
          <p:cNvSpPr/>
          <p:nvPr/>
        </p:nvSpPr>
        <p:spPr>
          <a:xfrm>
            <a:off x="8370360" y="1965960"/>
            <a:ext cx="685440" cy="6854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314" name="OTs en tiempo real" descr="OTs en tiempo real"/>
          <p:cNvPicPr/>
          <p:nvPr/>
        </p:nvPicPr>
        <p:blipFill>
          <a:blip r:embed="rId4"/>
          <a:stretch/>
        </p:blipFill>
        <p:spPr>
          <a:xfrm>
            <a:off x="8541720" y="2137320"/>
            <a:ext cx="342720" cy="342720"/>
          </a:xfrm>
          <a:prstGeom prst="rect">
            <a:avLst/>
          </a:prstGeom>
          <a:noFill/>
          <a:ln w="0">
            <a:noFill/>
          </a:ln>
        </p:spPr>
      </p:pic>
      <p:sp>
        <p:nvSpPr>
          <p:cNvPr id="315" name="Etiqueta Solo backend"/>
          <p:cNvSpPr/>
          <p:nvPr/>
        </p:nvSpPr>
        <p:spPr>
          <a:xfrm>
            <a:off x="10086840" y="2148840"/>
            <a:ext cx="1279800" cy="27396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16" name="Text 15"/>
          <p:cNvSpPr/>
          <p:nvPr/>
        </p:nvSpPr>
        <p:spPr>
          <a:xfrm>
            <a:off x="10086840" y="214884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Solo backend</a:t>
            </a:r>
            <a:endParaRPr lang="es-CL" sz="1200" b="0" u="none" strike="noStrike">
              <a:solidFill>
                <a:srgbClr val="000000"/>
              </a:solidFill>
              <a:effectLst/>
              <a:uFillTx/>
              <a:latin typeface="Arial"/>
            </a:endParaRPr>
          </a:p>
        </p:txBody>
      </p:sp>
      <p:sp>
        <p:nvSpPr>
          <p:cNvPr id="317" name="Text 16"/>
          <p:cNvSpPr/>
          <p:nvPr/>
        </p:nvSpPr>
        <p:spPr>
          <a:xfrm>
            <a:off x="8370360" y="2880360"/>
            <a:ext cx="2996280" cy="3654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000" b="1" u="none" strike="noStrike">
                <a:solidFill>
                  <a:srgbClr val="111827"/>
                </a:solidFill>
                <a:effectLst/>
                <a:uFillTx/>
                <a:latin typeface="Calibri"/>
                <a:ea typeface="Calibri"/>
              </a:rPr>
              <a:t>OTs en </a:t>
            </a:r>
            <a:r>
              <a:rPr lang="en-US" sz="2000" b="1" u="none" strike="noStrike">
                <a:solidFill>
                  <a:srgbClr val="111827"/>
                </a:solidFill>
                <a:effectLst/>
                <a:uFillTx/>
                <a:latin typeface="Calibri"/>
                <a:ea typeface="Calibri"/>
              </a:rPr>
              <a:t>tiempo real</a:t>
            </a:r>
            <a:endParaRPr lang="es-CL" sz="2000" b="0" u="none" strike="noStrike">
              <a:solidFill>
                <a:srgbClr val="000000"/>
              </a:solidFill>
              <a:effectLst/>
              <a:uFillTx/>
              <a:latin typeface="Arial"/>
            </a:endParaRPr>
          </a:p>
        </p:txBody>
      </p:sp>
      <p:sp>
        <p:nvSpPr>
          <p:cNvPr id="318" name="Text 17"/>
          <p:cNvSpPr/>
          <p:nvPr/>
        </p:nvSpPr>
        <p:spPr>
          <a:xfrm>
            <a:off x="8370360" y="3383280"/>
            <a:ext cx="2996280" cy="21942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Canal SSE por empresa con los cambios de estado de las OT</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Ticket de un solo uso (60 s), porque EventSource no envía headers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El super_usuario no tiene acceso al canal</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9"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320"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321"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Topología de planta</a:t>
            </a:r>
            <a:endParaRPr lang="es-CL" sz="3200" b="0" u="none" strike="noStrike">
              <a:solidFill>
                <a:srgbClr val="000000"/>
              </a:solidFill>
              <a:effectLst/>
              <a:uFillTx/>
              <a:latin typeface="Arial"/>
            </a:endParaRPr>
          </a:p>
        </p:txBody>
      </p:sp>
      <p:cxnSp>
        <p:nvCxnSpPr>
          <p:cNvPr id="322" name="Conector recto 8"/>
          <p:cNvCxnSpPr/>
          <p:nvPr/>
        </p:nvCxnSpPr>
        <p:spPr>
          <a:xfrm>
            <a:off x="0" y="757800"/>
            <a:ext cx="4085640" cy="360"/>
          </a:xfrm>
          <a:prstGeom prst="straightConnector1">
            <a:avLst/>
          </a:prstGeom>
          <a:ln w="15875">
            <a:solidFill>
              <a:srgbClr val="ABC0E4"/>
            </a:solidFill>
          </a:ln>
        </p:spPr>
      </p:cxnSp>
      <p:sp>
        <p:nvSpPr>
          <p:cNvPr id="323" name="Lienzo ilustrativo"/>
          <p:cNvSpPr/>
          <p:nvPr/>
        </p:nvSpPr>
        <p:spPr>
          <a:xfrm>
            <a:off x="548640" y="1737360"/>
            <a:ext cx="6857640" cy="4754520"/>
          </a:xfrm>
          <a:prstGeom prst="roundRect">
            <a:avLst>
              <a:gd name="adj" fmla="val 1538"/>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4" name="Conexión"/>
          <p:cNvSpPr/>
          <p:nvPr/>
        </p:nvSpPr>
        <p:spPr>
          <a:xfrm flipH="1">
            <a:off x="2926080" y="2697480"/>
            <a:ext cx="82296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5" name="Conexión"/>
          <p:cNvSpPr/>
          <p:nvPr/>
        </p:nvSpPr>
        <p:spPr>
          <a:xfrm>
            <a:off x="3749040" y="2697480"/>
            <a:ext cx="82296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6" name="Conexión"/>
          <p:cNvSpPr/>
          <p:nvPr/>
        </p:nvSpPr>
        <p:spPr>
          <a:xfrm flipH="1">
            <a:off x="4572000" y="2697480"/>
            <a:ext cx="82296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7" name="Conexión"/>
          <p:cNvSpPr/>
          <p:nvPr/>
        </p:nvSpPr>
        <p:spPr>
          <a:xfrm>
            <a:off x="5394960" y="2697480"/>
            <a:ext cx="82296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8" name="Conexión"/>
          <p:cNvSpPr/>
          <p:nvPr/>
        </p:nvSpPr>
        <p:spPr>
          <a:xfrm flipH="1">
            <a:off x="2377440" y="3931920"/>
            <a:ext cx="54864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29" name="Conexión"/>
          <p:cNvSpPr/>
          <p:nvPr/>
        </p:nvSpPr>
        <p:spPr>
          <a:xfrm flipH="1">
            <a:off x="3749040" y="3931920"/>
            <a:ext cx="82296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0" name="Conexión"/>
          <p:cNvSpPr/>
          <p:nvPr/>
        </p:nvSpPr>
        <p:spPr>
          <a:xfrm>
            <a:off x="4572000" y="3931920"/>
            <a:ext cx="54864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1" name="Conexión"/>
          <p:cNvSpPr/>
          <p:nvPr/>
        </p:nvSpPr>
        <p:spPr>
          <a:xfrm>
            <a:off x="6217920" y="3931920"/>
            <a:ext cx="274320" cy="685800"/>
          </a:xfrm>
          <a:prstGeom prst="line">
            <a:avLst/>
          </a:prstGeom>
          <a:ln w="1905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2" name="Nodo Planta A"/>
          <p:cNvSpPr/>
          <p:nvPr/>
        </p:nvSpPr>
        <p:spPr>
          <a:xfrm>
            <a:off x="3017520" y="2148840"/>
            <a:ext cx="1462680" cy="548280"/>
          </a:xfrm>
          <a:prstGeom prst="roundRect">
            <a:avLst>
              <a:gd name="adj" fmla="val 16667"/>
            </a:avLst>
          </a:prstGeom>
          <a:solidFill>
            <a:srgbClr val="1F2A37"/>
          </a:solidFill>
          <a:ln w="12700">
            <a:solidFill>
              <a:srgbClr val="1F2A37"/>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3" name="Text 10"/>
          <p:cNvSpPr/>
          <p:nvPr/>
        </p:nvSpPr>
        <p:spPr>
          <a:xfrm>
            <a:off x="3017520" y="2148840"/>
            <a:ext cx="14626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Planta A</a:t>
            </a:r>
            <a:endParaRPr lang="es-CL" sz="1400" b="0" u="none" strike="noStrike">
              <a:solidFill>
                <a:srgbClr val="000000"/>
              </a:solidFill>
              <a:effectLst/>
              <a:uFillTx/>
              <a:latin typeface="Arial"/>
            </a:endParaRPr>
          </a:p>
        </p:txBody>
      </p:sp>
      <p:sp>
        <p:nvSpPr>
          <p:cNvPr id="334" name="Nodo Planta B"/>
          <p:cNvSpPr/>
          <p:nvPr/>
        </p:nvSpPr>
        <p:spPr>
          <a:xfrm>
            <a:off x="4663440" y="2148840"/>
            <a:ext cx="1462680" cy="548280"/>
          </a:xfrm>
          <a:prstGeom prst="roundRect">
            <a:avLst>
              <a:gd name="adj" fmla="val 16667"/>
            </a:avLst>
          </a:prstGeom>
          <a:solidFill>
            <a:srgbClr val="1F2A37"/>
          </a:solidFill>
          <a:ln w="12700">
            <a:solidFill>
              <a:srgbClr val="1F2A37"/>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5" name="Text 12"/>
          <p:cNvSpPr/>
          <p:nvPr/>
        </p:nvSpPr>
        <p:spPr>
          <a:xfrm>
            <a:off x="4663440" y="2148840"/>
            <a:ext cx="14626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Planta B</a:t>
            </a:r>
            <a:endParaRPr lang="es-CL" sz="1400" b="0" u="none" strike="noStrike">
              <a:solidFill>
                <a:srgbClr val="000000"/>
              </a:solidFill>
              <a:effectLst/>
              <a:uFillTx/>
              <a:latin typeface="Arial"/>
            </a:endParaRPr>
          </a:p>
        </p:txBody>
      </p:sp>
      <p:sp>
        <p:nvSpPr>
          <p:cNvPr id="336" name="Nodo Disciplina 1"/>
          <p:cNvSpPr/>
          <p:nvPr/>
        </p:nvSpPr>
        <p:spPr>
          <a:xfrm>
            <a:off x="2240280" y="3383280"/>
            <a:ext cx="1371240" cy="548280"/>
          </a:xfrm>
          <a:prstGeom prst="roundRect">
            <a:avLst>
              <a:gd name="adj" fmla="val 16667"/>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7" name="Text 14"/>
          <p:cNvSpPr/>
          <p:nvPr/>
        </p:nvSpPr>
        <p:spPr>
          <a:xfrm>
            <a:off x="2240280" y="3383280"/>
            <a:ext cx="137124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Disciplina 1</a:t>
            </a:r>
            <a:endParaRPr lang="es-CL" sz="1400" b="0" u="none" strike="noStrike">
              <a:solidFill>
                <a:srgbClr val="000000"/>
              </a:solidFill>
              <a:effectLst/>
              <a:uFillTx/>
              <a:latin typeface="Arial"/>
            </a:endParaRPr>
          </a:p>
        </p:txBody>
      </p:sp>
      <p:sp>
        <p:nvSpPr>
          <p:cNvPr id="338" name="Nodo Disciplina 2"/>
          <p:cNvSpPr/>
          <p:nvPr/>
        </p:nvSpPr>
        <p:spPr>
          <a:xfrm>
            <a:off x="3886200" y="3383280"/>
            <a:ext cx="1371240" cy="548280"/>
          </a:xfrm>
          <a:prstGeom prst="roundRect">
            <a:avLst>
              <a:gd name="adj" fmla="val 16667"/>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39" name="Text 16"/>
          <p:cNvSpPr/>
          <p:nvPr/>
        </p:nvSpPr>
        <p:spPr>
          <a:xfrm>
            <a:off x="3886200" y="3383280"/>
            <a:ext cx="137124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Disciplina 2</a:t>
            </a:r>
            <a:endParaRPr lang="es-CL" sz="1400" b="0" u="none" strike="noStrike">
              <a:solidFill>
                <a:srgbClr val="000000"/>
              </a:solidFill>
              <a:effectLst/>
              <a:uFillTx/>
              <a:latin typeface="Arial"/>
            </a:endParaRPr>
          </a:p>
        </p:txBody>
      </p:sp>
      <p:sp>
        <p:nvSpPr>
          <p:cNvPr id="340" name="Nodo Disciplina 3"/>
          <p:cNvSpPr/>
          <p:nvPr/>
        </p:nvSpPr>
        <p:spPr>
          <a:xfrm>
            <a:off x="5532120" y="3383280"/>
            <a:ext cx="1371240" cy="548280"/>
          </a:xfrm>
          <a:prstGeom prst="roundRect">
            <a:avLst>
              <a:gd name="adj" fmla="val 16667"/>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41" name="Text 18"/>
          <p:cNvSpPr/>
          <p:nvPr/>
        </p:nvSpPr>
        <p:spPr>
          <a:xfrm>
            <a:off x="5532120" y="3383280"/>
            <a:ext cx="137124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Disciplina 3</a:t>
            </a:r>
            <a:endParaRPr lang="es-CL" sz="1400" b="0" u="none" strike="noStrike">
              <a:solidFill>
                <a:srgbClr val="000000"/>
              </a:solidFill>
              <a:effectLst/>
              <a:uFillTx/>
              <a:latin typeface="Arial"/>
            </a:endParaRPr>
          </a:p>
        </p:txBody>
      </p:sp>
      <p:sp>
        <p:nvSpPr>
          <p:cNvPr id="342" name="Nodo Máquina 1"/>
          <p:cNvSpPr/>
          <p:nvPr/>
        </p:nvSpPr>
        <p:spPr>
          <a:xfrm>
            <a:off x="1760400" y="4617720"/>
            <a:ext cx="1234080" cy="548280"/>
          </a:xfrm>
          <a:prstGeom prst="roundRect">
            <a:avLst>
              <a:gd name="adj" fmla="val 16667"/>
            </a:avLst>
          </a:prstGeom>
          <a:solidFill>
            <a:srgbClr val="FFFFFF"/>
          </a:solidFill>
          <a:ln w="31750">
            <a:solidFill>
              <a:srgbClr val="10B981"/>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43" name="Text 20"/>
          <p:cNvSpPr/>
          <p:nvPr/>
        </p:nvSpPr>
        <p:spPr>
          <a:xfrm>
            <a:off x="1760400" y="4617720"/>
            <a:ext cx="12340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11827"/>
                </a:solidFill>
                <a:effectLst/>
                <a:uFillTx/>
                <a:latin typeface="Calibri"/>
                <a:ea typeface="Calibri"/>
              </a:rPr>
              <a:t>Máquina 1</a:t>
            </a:r>
            <a:endParaRPr lang="es-CL" sz="1400" b="0" u="none" strike="noStrike">
              <a:solidFill>
                <a:srgbClr val="000000"/>
              </a:solidFill>
              <a:effectLst/>
              <a:uFillTx/>
              <a:latin typeface="Arial"/>
            </a:endParaRPr>
          </a:p>
        </p:txBody>
      </p:sp>
      <p:sp>
        <p:nvSpPr>
          <p:cNvPr id="344" name="Nodo Máquina 2"/>
          <p:cNvSpPr/>
          <p:nvPr/>
        </p:nvSpPr>
        <p:spPr>
          <a:xfrm>
            <a:off x="3132000" y="4617720"/>
            <a:ext cx="1234080" cy="548280"/>
          </a:xfrm>
          <a:prstGeom prst="roundRect">
            <a:avLst>
              <a:gd name="adj" fmla="val 16667"/>
            </a:avLst>
          </a:prstGeom>
          <a:solidFill>
            <a:srgbClr val="FFFFFF"/>
          </a:solidFill>
          <a:ln w="3175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45" name="Text 22"/>
          <p:cNvSpPr/>
          <p:nvPr/>
        </p:nvSpPr>
        <p:spPr>
          <a:xfrm>
            <a:off x="3132000" y="4617720"/>
            <a:ext cx="12340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11827"/>
                </a:solidFill>
                <a:effectLst/>
                <a:uFillTx/>
                <a:latin typeface="Calibri"/>
                <a:ea typeface="Calibri"/>
              </a:rPr>
              <a:t>Máquina 2</a:t>
            </a:r>
            <a:endParaRPr lang="es-CL" sz="1400" b="0" u="none" strike="noStrike">
              <a:solidFill>
                <a:srgbClr val="000000"/>
              </a:solidFill>
              <a:effectLst/>
              <a:uFillTx/>
              <a:latin typeface="Arial"/>
            </a:endParaRPr>
          </a:p>
        </p:txBody>
      </p:sp>
      <p:sp>
        <p:nvSpPr>
          <p:cNvPr id="346" name="Nodo Máquina 3"/>
          <p:cNvSpPr/>
          <p:nvPr/>
        </p:nvSpPr>
        <p:spPr>
          <a:xfrm>
            <a:off x="4503600" y="4617720"/>
            <a:ext cx="1234080" cy="548280"/>
          </a:xfrm>
          <a:prstGeom prst="roundRect">
            <a:avLst>
              <a:gd name="adj" fmla="val 16667"/>
            </a:avLst>
          </a:prstGeom>
          <a:solidFill>
            <a:srgbClr val="FFFFFF"/>
          </a:solidFill>
          <a:ln w="31750">
            <a:solidFill>
              <a:srgbClr val="DC262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47" name="Text 24"/>
          <p:cNvSpPr/>
          <p:nvPr/>
        </p:nvSpPr>
        <p:spPr>
          <a:xfrm>
            <a:off x="4503600" y="4617720"/>
            <a:ext cx="12340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11827"/>
                </a:solidFill>
                <a:effectLst/>
                <a:uFillTx/>
                <a:latin typeface="Calibri"/>
                <a:ea typeface="Calibri"/>
              </a:rPr>
              <a:t>Máquina 3</a:t>
            </a:r>
            <a:endParaRPr lang="es-CL" sz="1400" b="0" u="none" strike="noStrike">
              <a:solidFill>
                <a:srgbClr val="000000"/>
              </a:solidFill>
              <a:effectLst/>
              <a:uFillTx/>
              <a:latin typeface="Arial"/>
            </a:endParaRPr>
          </a:p>
        </p:txBody>
      </p:sp>
      <p:sp>
        <p:nvSpPr>
          <p:cNvPr id="348" name="Nodo Máquina 4"/>
          <p:cNvSpPr/>
          <p:nvPr/>
        </p:nvSpPr>
        <p:spPr>
          <a:xfrm>
            <a:off x="5875200" y="4617720"/>
            <a:ext cx="1234080" cy="548280"/>
          </a:xfrm>
          <a:prstGeom prst="roundRect">
            <a:avLst>
              <a:gd name="adj" fmla="val 16667"/>
            </a:avLst>
          </a:prstGeom>
          <a:solidFill>
            <a:srgbClr val="FFFFFF"/>
          </a:solidFill>
          <a:ln w="31750">
            <a:solidFill>
              <a:srgbClr val="10B981"/>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49" name="Text 26"/>
          <p:cNvSpPr/>
          <p:nvPr/>
        </p:nvSpPr>
        <p:spPr>
          <a:xfrm>
            <a:off x="5875200" y="4617720"/>
            <a:ext cx="1234080" cy="54828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111827"/>
                </a:solidFill>
                <a:effectLst/>
                <a:uFillTx/>
                <a:latin typeface="Calibri"/>
                <a:ea typeface="Calibri"/>
              </a:rPr>
              <a:t>Máquina 4</a:t>
            </a:r>
            <a:endParaRPr lang="es-CL" sz="1400" b="0" u="none" strike="noStrike">
              <a:solidFill>
                <a:srgbClr val="000000"/>
              </a:solidFill>
              <a:effectLst/>
              <a:uFillTx/>
              <a:latin typeface="Arial"/>
            </a:endParaRPr>
          </a:p>
        </p:txBody>
      </p:sp>
      <p:sp>
        <p:nvSpPr>
          <p:cNvPr id="350" name="Text 27"/>
          <p:cNvSpPr/>
          <p:nvPr/>
        </p:nvSpPr>
        <p:spPr>
          <a:xfrm>
            <a:off x="731520" y="2148840"/>
            <a:ext cx="914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Planta</a:t>
            </a:r>
            <a:endParaRPr lang="es-CL" sz="1200" b="0" u="none" strike="noStrike">
              <a:solidFill>
                <a:srgbClr val="000000"/>
              </a:solidFill>
              <a:effectLst/>
              <a:uFillTx/>
              <a:latin typeface="Arial"/>
            </a:endParaRPr>
          </a:p>
        </p:txBody>
      </p:sp>
      <p:sp>
        <p:nvSpPr>
          <p:cNvPr id="351" name="Text 28"/>
          <p:cNvSpPr/>
          <p:nvPr/>
        </p:nvSpPr>
        <p:spPr>
          <a:xfrm>
            <a:off x="731520" y="3383280"/>
            <a:ext cx="914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Disciplina</a:t>
            </a:r>
            <a:endParaRPr lang="es-CL" sz="1200" b="0" u="none" strike="noStrike">
              <a:solidFill>
                <a:srgbClr val="000000"/>
              </a:solidFill>
              <a:effectLst/>
              <a:uFillTx/>
              <a:latin typeface="Arial"/>
            </a:endParaRPr>
          </a:p>
        </p:txBody>
      </p:sp>
      <p:sp>
        <p:nvSpPr>
          <p:cNvPr id="352" name="Text 29"/>
          <p:cNvSpPr/>
          <p:nvPr/>
        </p:nvSpPr>
        <p:spPr>
          <a:xfrm>
            <a:off x="731520" y="4617720"/>
            <a:ext cx="914040" cy="548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Máquina</a:t>
            </a:r>
            <a:endParaRPr lang="es-CL" sz="1200" b="0" u="none" strike="noStrike">
              <a:solidFill>
                <a:srgbClr val="000000"/>
              </a:solidFill>
              <a:effectLst/>
              <a:uFillTx/>
              <a:latin typeface="Arial"/>
            </a:endParaRPr>
          </a:p>
        </p:txBody>
      </p:sp>
      <p:sp>
        <p:nvSpPr>
          <p:cNvPr id="353" name="Leyenda Operativo"/>
          <p:cNvSpPr/>
          <p:nvPr/>
        </p:nvSpPr>
        <p:spPr>
          <a:xfrm>
            <a:off x="822960" y="5833800"/>
            <a:ext cx="164160" cy="164160"/>
          </a:xfrm>
          <a:prstGeom prst="ellipse">
            <a:avLst/>
          </a:prstGeom>
          <a:solidFill>
            <a:srgbClr val="10B981"/>
          </a:solidFill>
          <a:ln w="12700">
            <a:solidFill>
              <a:srgbClr val="10B981"/>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54" name="Text 31"/>
          <p:cNvSpPr/>
          <p:nvPr/>
        </p:nvSpPr>
        <p:spPr>
          <a:xfrm>
            <a:off x="1078920" y="5760720"/>
            <a:ext cx="100548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11827"/>
                </a:solidFill>
                <a:effectLst/>
                <a:uFillTx/>
                <a:latin typeface="Calibri"/>
                <a:ea typeface="Calibri"/>
              </a:rPr>
              <a:t>Operativo</a:t>
            </a:r>
            <a:endParaRPr lang="es-CL" sz="1200" b="0" u="none" strike="noStrike">
              <a:solidFill>
                <a:srgbClr val="000000"/>
              </a:solidFill>
              <a:effectLst/>
              <a:uFillTx/>
              <a:latin typeface="Arial"/>
            </a:endParaRPr>
          </a:p>
        </p:txBody>
      </p:sp>
      <p:sp>
        <p:nvSpPr>
          <p:cNvPr id="355" name="Leyenda Alerta"/>
          <p:cNvSpPr/>
          <p:nvPr/>
        </p:nvSpPr>
        <p:spPr>
          <a:xfrm>
            <a:off x="2194560" y="5833800"/>
            <a:ext cx="164160" cy="164160"/>
          </a:xfrm>
          <a:prstGeom prst="ellipse">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56" name="Text 33"/>
          <p:cNvSpPr/>
          <p:nvPr/>
        </p:nvSpPr>
        <p:spPr>
          <a:xfrm>
            <a:off x="2450520" y="5760720"/>
            <a:ext cx="100548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11827"/>
                </a:solidFill>
                <a:effectLst/>
                <a:uFillTx/>
                <a:latin typeface="Calibri"/>
                <a:ea typeface="Calibri"/>
              </a:rPr>
              <a:t>Alerta</a:t>
            </a:r>
            <a:endParaRPr lang="es-CL" sz="1200" b="0" u="none" strike="noStrike">
              <a:solidFill>
                <a:srgbClr val="000000"/>
              </a:solidFill>
              <a:effectLst/>
              <a:uFillTx/>
              <a:latin typeface="Arial"/>
            </a:endParaRPr>
          </a:p>
        </p:txBody>
      </p:sp>
      <p:sp>
        <p:nvSpPr>
          <p:cNvPr id="357" name="Leyenda Falla"/>
          <p:cNvSpPr/>
          <p:nvPr/>
        </p:nvSpPr>
        <p:spPr>
          <a:xfrm>
            <a:off x="3566160" y="5833800"/>
            <a:ext cx="164160" cy="164160"/>
          </a:xfrm>
          <a:prstGeom prst="ellipse">
            <a:avLst/>
          </a:prstGeom>
          <a:solidFill>
            <a:srgbClr val="DC2626"/>
          </a:solidFill>
          <a:ln w="12700">
            <a:solidFill>
              <a:srgbClr val="DC262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58" name="Text 35"/>
          <p:cNvSpPr/>
          <p:nvPr/>
        </p:nvSpPr>
        <p:spPr>
          <a:xfrm>
            <a:off x="3822120" y="5760720"/>
            <a:ext cx="1005480" cy="310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0" u="none" strike="noStrike">
                <a:solidFill>
                  <a:srgbClr val="111827"/>
                </a:solidFill>
                <a:effectLst/>
                <a:uFillTx/>
                <a:latin typeface="Calibri"/>
                <a:ea typeface="Calibri"/>
              </a:rPr>
              <a:t>Falla</a:t>
            </a:r>
            <a:endParaRPr lang="es-CL" sz="1200" b="0" u="none" strike="noStrike">
              <a:solidFill>
                <a:srgbClr val="000000"/>
              </a:solidFill>
              <a:effectLst/>
              <a:uFillTx/>
              <a:latin typeface="Arial"/>
            </a:endParaRPr>
          </a:p>
        </p:txBody>
      </p:sp>
      <p:sp>
        <p:nvSpPr>
          <p:cNvPr id="359" name="Text 36"/>
          <p:cNvSpPr/>
          <p:nvPr/>
        </p:nvSpPr>
        <p:spPr>
          <a:xfrm>
            <a:off x="5120640" y="5760720"/>
            <a:ext cx="2011320" cy="3106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200" b="0" u="none" strike="noStrike">
                <a:solidFill>
                  <a:srgbClr val="64748B"/>
                </a:solidFill>
                <a:effectLst/>
                <a:uFillTx/>
                <a:latin typeface="Calibri"/>
                <a:ea typeface="Calibri"/>
              </a:rPr>
              <a:t>Ejemplo ilustrativo</a:t>
            </a:r>
            <a:endParaRPr lang="es-CL" sz="1200" b="0" u="none" strike="noStrike">
              <a:solidFill>
                <a:srgbClr val="000000"/>
              </a:solidFill>
              <a:effectLst/>
              <a:uFillTx/>
              <a:latin typeface="Arial"/>
            </a:endParaRPr>
          </a:p>
        </p:txBody>
      </p:sp>
      <p:sp>
        <p:nvSpPr>
          <p:cNvPr id="360" name="Text 37"/>
          <p:cNvSpPr/>
          <p:nvPr/>
        </p:nvSpPr>
        <p:spPr>
          <a:xfrm>
            <a:off x="7772400" y="1783080"/>
            <a:ext cx="3867480" cy="466308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Plantas, disciplinas y máquinas de la empresa en un lienzo SVG con zoom (acercar, alejar, restablecer)</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Color por estado de la máquina: falla (OT urgente o vencida), alerta (OT activa) u operativo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Una planta sin máquinas no se dibuja; una disciplina se dibuja una vez y se conecta a cada planta donde tiene máquinas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Al elegir un nodo, un panel lista sus OTs agrupadas en Pendientes, En curso, Cerradas y Canceladas, con botón Volver</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El visitante accede en solo lectura</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1"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362"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363"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Gestión de documentos</a:t>
            </a:r>
            <a:endParaRPr lang="es-CL" sz="3200" b="0" u="none" strike="noStrike">
              <a:solidFill>
                <a:srgbClr val="000000"/>
              </a:solidFill>
              <a:effectLst/>
              <a:uFillTx/>
              <a:latin typeface="Arial"/>
            </a:endParaRPr>
          </a:p>
        </p:txBody>
      </p:sp>
      <p:cxnSp>
        <p:nvCxnSpPr>
          <p:cNvPr id="364" name="Conector recto 8"/>
          <p:cNvCxnSpPr/>
          <p:nvPr/>
        </p:nvCxnSpPr>
        <p:spPr>
          <a:xfrm>
            <a:off x="0" y="757800"/>
            <a:ext cx="4085640" cy="360"/>
          </a:xfrm>
          <a:prstGeom prst="straightConnector1">
            <a:avLst/>
          </a:prstGeom>
          <a:ln w="15875">
            <a:solidFill>
              <a:srgbClr val="ABC0E4"/>
            </a:solidFill>
          </a:ln>
        </p:spPr>
      </p:cxnSp>
      <p:sp>
        <p:nvSpPr>
          <p:cNvPr id="365" name="Paso Subir"/>
          <p:cNvSpPr/>
          <p:nvPr/>
        </p:nvSpPr>
        <p:spPr>
          <a:xfrm>
            <a:off x="548640" y="1737360"/>
            <a:ext cx="2514240" cy="2102760"/>
          </a:xfrm>
          <a:prstGeom prst="roundRect">
            <a:avLst>
              <a:gd name="adj" fmla="val 3478"/>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66" name="Número 1"/>
          <p:cNvSpPr/>
          <p:nvPr/>
        </p:nvSpPr>
        <p:spPr>
          <a:xfrm>
            <a:off x="777240" y="1920240"/>
            <a:ext cx="456840" cy="45684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67" name="Text 2"/>
          <p:cNvSpPr/>
          <p:nvPr/>
        </p:nvSpPr>
        <p:spPr>
          <a:xfrm>
            <a:off x="777240" y="19202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1</a:t>
            </a:r>
            <a:endParaRPr lang="es-CL" sz="1600" b="0" u="none" strike="noStrike">
              <a:solidFill>
                <a:srgbClr val="000000"/>
              </a:solidFill>
              <a:effectLst/>
              <a:uFillTx/>
              <a:latin typeface="Arial"/>
            </a:endParaRPr>
          </a:p>
        </p:txBody>
      </p:sp>
      <p:sp>
        <p:nvSpPr>
          <p:cNvPr id="368" name="Text 3"/>
          <p:cNvSpPr/>
          <p:nvPr/>
        </p:nvSpPr>
        <p:spPr>
          <a:xfrm>
            <a:off x="1371600" y="1920240"/>
            <a:ext cx="1508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Subir</a:t>
            </a:r>
            <a:endParaRPr lang="es-CL" sz="1600" b="0" u="none" strike="noStrike">
              <a:solidFill>
                <a:srgbClr val="000000"/>
              </a:solidFill>
              <a:effectLst/>
              <a:uFillTx/>
              <a:latin typeface="Arial"/>
            </a:endParaRPr>
          </a:p>
        </p:txBody>
      </p:sp>
      <p:sp>
        <p:nvSpPr>
          <p:cNvPr id="369" name="Text 4"/>
          <p:cNvSpPr/>
          <p:nvPr/>
        </p:nvSpPr>
        <p:spPr>
          <a:xfrm>
            <a:off x="777240" y="2560320"/>
            <a:ext cx="205704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PDF, DOCX, TXT, MD, CSV, JSON o LOG de hasta 15 MB</a:t>
            </a:r>
            <a:endParaRPr lang="es-CL" sz="1400" b="0" u="none" strike="noStrike">
              <a:solidFill>
                <a:srgbClr val="000000"/>
              </a:solidFill>
              <a:effectLst/>
              <a:uFillTx/>
              <a:latin typeface="Arial"/>
            </a:endParaRPr>
          </a:p>
        </p:txBody>
      </p:sp>
      <p:sp>
        <p:nvSpPr>
          <p:cNvPr id="370" name="Flecha paso"/>
          <p:cNvSpPr/>
          <p:nvPr/>
        </p:nvSpPr>
        <p:spPr>
          <a:xfrm>
            <a:off x="3099960" y="265176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1" name="Paso Extraer texto"/>
          <p:cNvSpPr/>
          <p:nvPr/>
        </p:nvSpPr>
        <p:spPr>
          <a:xfrm>
            <a:off x="3408120" y="1737360"/>
            <a:ext cx="2514240" cy="2102760"/>
          </a:xfrm>
          <a:prstGeom prst="roundRect">
            <a:avLst>
              <a:gd name="adj" fmla="val 3478"/>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2" name="Número 2"/>
          <p:cNvSpPr/>
          <p:nvPr/>
        </p:nvSpPr>
        <p:spPr>
          <a:xfrm>
            <a:off x="3636720" y="1920240"/>
            <a:ext cx="456840" cy="45684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3" name="Text 8"/>
          <p:cNvSpPr/>
          <p:nvPr/>
        </p:nvSpPr>
        <p:spPr>
          <a:xfrm>
            <a:off x="3636720" y="19202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2</a:t>
            </a:r>
            <a:endParaRPr lang="es-CL" sz="1600" b="0" u="none" strike="noStrike">
              <a:solidFill>
                <a:srgbClr val="000000"/>
              </a:solidFill>
              <a:effectLst/>
              <a:uFillTx/>
              <a:latin typeface="Arial"/>
            </a:endParaRPr>
          </a:p>
        </p:txBody>
      </p:sp>
      <p:sp>
        <p:nvSpPr>
          <p:cNvPr id="374" name="Text 9"/>
          <p:cNvSpPr/>
          <p:nvPr/>
        </p:nvSpPr>
        <p:spPr>
          <a:xfrm>
            <a:off x="4231080" y="1920240"/>
            <a:ext cx="1508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Extraer texto</a:t>
            </a:r>
            <a:endParaRPr lang="es-CL" sz="1600" b="0" u="none" strike="noStrike">
              <a:solidFill>
                <a:srgbClr val="000000"/>
              </a:solidFill>
              <a:effectLst/>
              <a:uFillTx/>
              <a:latin typeface="Arial"/>
            </a:endParaRPr>
          </a:p>
        </p:txBody>
      </p:sp>
      <p:sp>
        <p:nvSpPr>
          <p:cNvPr id="375" name="Text 10"/>
          <p:cNvSpPr/>
          <p:nvPr/>
        </p:nvSpPr>
        <p:spPr>
          <a:xfrm>
            <a:off x="3636720" y="2560320"/>
            <a:ext cx="205704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Lee el texto del archivo; un PDF escaneado sin texto se rechaza (422)</a:t>
            </a:r>
            <a:endParaRPr lang="es-CL" sz="1400" b="0" u="none" strike="noStrike">
              <a:solidFill>
                <a:srgbClr val="000000"/>
              </a:solidFill>
              <a:effectLst/>
              <a:uFillTx/>
              <a:latin typeface="Arial"/>
            </a:endParaRPr>
          </a:p>
        </p:txBody>
      </p:sp>
      <p:sp>
        <p:nvSpPr>
          <p:cNvPr id="376" name="Flecha paso"/>
          <p:cNvSpPr/>
          <p:nvPr/>
        </p:nvSpPr>
        <p:spPr>
          <a:xfrm>
            <a:off x="5959080" y="265176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7" name="Paso Fragmentar"/>
          <p:cNvSpPr/>
          <p:nvPr/>
        </p:nvSpPr>
        <p:spPr>
          <a:xfrm>
            <a:off x="6267240" y="1737360"/>
            <a:ext cx="2514240" cy="2102760"/>
          </a:xfrm>
          <a:prstGeom prst="roundRect">
            <a:avLst>
              <a:gd name="adj" fmla="val 3478"/>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8" name="Número 3"/>
          <p:cNvSpPr/>
          <p:nvPr/>
        </p:nvSpPr>
        <p:spPr>
          <a:xfrm>
            <a:off x="6495840" y="1920240"/>
            <a:ext cx="456840" cy="45684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79" name="Text 14"/>
          <p:cNvSpPr/>
          <p:nvPr/>
        </p:nvSpPr>
        <p:spPr>
          <a:xfrm>
            <a:off x="6495840" y="19202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3</a:t>
            </a:r>
            <a:endParaRPr lang="es-CL" sz="1600" b="0" u="none" strike="noStrike">
              <a:solidFill>
                <a:srgbClr val="000000"/>
              </a:solidFill>
              <a:effectLst/>
              <a:uFillTx/>
              <a:latin typeface="Arial"/>
            </a:endParaRPr>
          </a:p>
        </p:txBody>
      </p:sp>
      <p:sp>
        <p:nvSpPr>
          <p:cNvPr id="380" name="Text 15"/>
          <p:cNvSpPr/>
          <p:nvPr/>
        </p:nvSpPr>
        <p:spPr>
          <a:xfrm>
            <a:off x="7090200" y="1920240"/>
            <a:ext cx="1508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Fragmentar</a:t>
            </a:r>
            <a:endParaRPr lang="es-CL" sz="1600" b="0" u="none" strike="noStrike">
              <a:solidFill>
                <a:srgbClr val="000000"/>
              </a:solidFill>
              <a:effectLst/>
              <a:uFillTx/>
              <a:latin typeface="Arial"/>
            </a:endParaRPr>
          </a:p>
        </p:txBody>
      </p:sp>
      <p:sp>
        <p:nvSpPr>
          <p:cNvPr id="381" name="Text 16"/>
          <p:cNvSpPr/>
          <p:nvPr/>
        </p:nvSpPr>
        <p:spPr>
          <a:xfrm>
            <a:off x="6495840" y="2560320"/>
            <a:ext cx="205704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Fragmentos de unos 1000 caracteres con solape de 150 (máx. 2000 por documento)</a:t>
            </a:r>
            <a:endParaRPr lang="es-CL" sz="1400" b="0" u="none" strike="noStrike">
              <a:solidFill>
                <a:srgbClr val="000000"/>
              </a:solidFill>
              <a:effectLst/>
              <a:uFillTx/>
              <a:latin typeface="Arial"/>
            </a:endParaRPr>
          </a:p>
        </p:txBody>
      </p:sp>
      <p:sp>
        <p:nvSpPr>
          <p:cNvPr id="382" name="Flecha paso"/>
          <p:cNvSpPr/>
          <p:nvPr/>
        </p:nvSpPr>
        <p:spPr>
          <a:xfrm>
            <a:off x="8818560" y="265176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83" name="Paso Indexar"/>
          <p:cNvSpPr/>
          <p:nvPr/>
        </p:nvSpPr>
        <p:spPr>
          <a:xfrm>
            <a:off x="9126720" y="1737360"/>
            <a:ext cx="2514240" cy="2102760"/>
          </a:xfrm>
          <a:prstGeom prst="roundRect">
            <a:avLst>
              <a:gd name="adj" fmla="val 3478"/>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84" name="Número 4"/>
          <p:cNvSpPr/>
          <p:nvPr/>
        </p:nvSpPr>
        <p:spPr>
          <a:xfrm>
            <a:off x="9355320" y="1920240"/>
            <a:ext cx="456840" cy="456840"/>
          </a:xfrm>
          <a:prstGeom prst="ellipse">
            <a:avLst/>
          </a:prstGeom>
          <a:solidFill>
            <a:srgbClr val="F28C28"/>
          </a:solidFill>
          <a:ln w="12700">
            <a:solidFill>
              <a:srgbClr val="F28C28"/>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85" name="Text 20"/>
          <p:cNvSpPr/>
          <p:nvPr/>
        </p:nvSpPr>
        <p:spPr>
          <a:xfrm>
            <a:off x="9355320" y="1920240"/>
            <a:ext cx="456840" cy="4568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600" b="1" u="none" strike="noStrike">
                <a:solidFill>
                  <a:srgbClr val="FFFFFF"/>
                </a:solidFill>
                <a:effectLst/>
                <a:uFillTx/>
                <a:latin typeface="Calibri"/>
                <a:ea typeface="Calibri"/>
              </a:rPr>
              <a:t>4</a:t>
            </a:r>
            <a:endParaRPr lang="es-CL" sz="1600" b="0" u="none" strike="noStrike">
              <a:solidFill>
                <a:srgbClr val="000000"/>
              </a:solidFill>
              <a:effectLst/>
              <a:uFillTx/>
              <a:latin typeface="Arial"/>
            </a:endParaRPr>
          </a:p>
        </p:txBody>
      </p:sp>
      <p:sp>
        <p:nvSpPr>
          <p:cNvPr id="386" name="Text 21"/>
          <p:cNvSpPr/>
          <p:nvPr/>
        </p:nvSpPr>
        <p:spPr>
          <a:xfrm>
            <a:off x="9949680" y="1920240"/>
            <a:ext cx="150840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Indexar</a:t>
            </a:r>
            <a:endParaRPr lang="es-CL" sz="1600" b="0" u="none" strike="noStrike">
              <a:solidFill>
                <a:srgbClr val="000000"/>
              </a:solidFill>
              <a:effectLst/>
              <a:uFillTx/>
              <a:latin typeface="Arial"/>
            </a:endParaRPr>
          </a:p>
        </p:txBody>
      </p:sp>
      <p:sp>
        <p:nvSpPr>
          <p:cNvPr id="387" name="Text 22"/>
          <p:cNvSpPr/>
          <p:nvPr/>
        </p:nvSpPr>
        <p:spPr>
          <a:xfrm>
            <a:off x="9355320" y="2560320"/>
            <a:ext cx="2057040" cy="1188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Guarda los fragmentos en PostgreSQL con índice de texto completo en español</a:t>
            </a:r>
            <a:endParaRPr lang="es-CL" sz="1400" b="0" u="none" strike="noStrike">
              <a:solidFill>
                <a:srgbClr val="000000"/>
              </a:solidFill>
              <a:effectLst/>
              <a:uFillTx/>
              <a:latin typeface="Arial"/>
            </a:endParaRPr>
          </a:p>
        </p:txBody>
      </p:sp>
      <p:sp>
        <p:nvSpPr>
          <p:cNvPr id="388" name="Tarjeta Administración"/>
          <p:cNvSpPr/>
          <p:nvPr/>
        </p:nvSpPr>
        <p:spPr>
          <a:xfrm>
            <a:off x="548640" y="4114800"/>
            <a:ext cx="5454000" cy="2514240"/>
          </a:xfrm>
          <a:prstGeom prst="roundRect">
            <a:avLst>
              <a:gd name="adj" fmla="val 2909"/>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89" name="Administración (círculo)"/>
          <p:cNvSpPr/>
          <p:nvPr/>
        </p:nvSpPr>
        <p:spPr>
          <a:xfrm>
            <a:off x="777240" y="4297680"/>
            <a:ext cx="502560" cy="50256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390" name="Administración" descr="Administración"/>
          <p:cNvPicPr/>
          <p:nvPr/>
        </p:nvPicPr>
        <p:blipFill>
          <a:blip r:embed="rId2"/>
          <a:stretch/>
        </p:blipFill>
        <p:spPr>
          <a:xfrm>
            <a:off x="902880" y="4423320"/>
            <a:ext cx="251280" cy="251280"/>
          </a:xfrm>
          <a:prstGeom prst="rect">
            <a:avLst/>
          </a:prstGeom>
          <a:noFill/>
          <a:ln w="0">
            <a:noFill/>
          </a:ln>
        </p:spPr>
      </p:pic>
      <p:sp>
        <p:nvSpPr>
          <p:cNvPr id="391" name="Text 25"/>
          <p:cNvSpPr/>
          <p:nvPr/>
        </p:nvSpPr>
        <p:spPr>
          <a:xfrm>
            <a:off x="1463040" y="4297680"/>
            <a:ext cx="42973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11827"/>
                </a:solidFill>
                <a:effectLst/>
                <a:uFillTx/>
                <a:latin typeface="Calibri"/>
                <a:ea typeface="Calibri"/>
              </a:rPr>
              <a:t>Administración</a:t>
            </a:r>
            <a:endParaRPr lang="es-CL" sz="1800" b="0" u="none" strike="noStrike">
              <a:solidFill>
                <a:srgbClr val="000000"/>
              </a:solidFill>
              <a:effectLst/>
              <a:uFillTx/>
              <a:latin typeface="Arial"/>
            </a:endParaRPr>
          </a:p>
        </p:txBody>
      </p:sp>
      <p:sp>
        <p:nvSpPr>
          <p:cNvPr id="392" name="Text 26"/>
          <p:cNvSpPr/>
          <p:nvPr/>
        </p:nvSpPr>
        <p:spPr>
          <a:xfrm>
            <a:off x="822960" y="4983480"/>
            <a:ext cx="4937400" cy="15998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Excluir o incluir un documento en la IA sin borrarlo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Editar título y notas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Eliminar borra el documento, sus fragmentos y el archivo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El archivo original va a Supabase Storage (carpeta local si no está configurado)</a:t>
            </a:r>
            <a:endParaRPr lang="es-CL" sz="1400" b="0" u="none" strike="noStrike">
              <a:solidFill>
                <a:srgbClr val="000000"/>
              </a:solidFill>
              <a:effectLst/>
              <a:uFillTx/>
              <a:latin typeface="Arial"/>
            </a:endParaRPr>
          </a:p>
        </p:txBody>
      </p:sp>
      <p:sp>
        <p:nvSpPr>
          <p:cNvPr id="393" name="Tarjeta Acceso y aislamiento"/>
          <p:cNvSpPr/>
          <p:nvPr/>
        </p:nvSpPr>
        <p:spPr>
          <a:xfrm>
            <a:off x="6185880" y="4114800"/>
            <a:ext cx="5454000" cy="2514240"/>
          </a:xfrm>
          <a:prstGeom prst="roundRect">
            <a:avLst>
              <a:gd name="adj" fmla="val 2909"/>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394" name="Acceso y aislamiento (círculo)"/>
          <p:cNvSpPr/>
          <p:nvPr/>
        </p:nvSpPr>
        <p:spPr>
          <a:xfrm>
            <a:off x="6414480" y="4297680"/>
            <a:ext cx="502560" cy="50256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395" name="Acceso y aislamiento" descr="Acceso y aislamiento"/>
          <p:cNvPicPr/>
          <p:nvPr/>
        </p:nvPicPr>
        <p:blipFill>
          <a:blip r:embed="rId3"/>
          <a:stretch/>
        </p:blipFill>
        <p:spPr>
          <a:xfrm>
            <a:off x="6540120" y="4423320"/>
            <a:ext cx="251280" cy="251280"/>
          </a:xfrm>
          <a:prstGeom prst="rect">
            <a:avLst/>
          </a:prstGeom>
          <a:noFill/>
          <a:ln w="0">
            <a:noFill/>
          </a:ln>
        </p:spPr>
      </p:pic>
      <p:sp>
        <p:nvSpPr>
          <p:cNvPr id="396" name="Text 29"/>
          <p:cNvSpPr/>
          <p:nvPr/>
        </p:nvSpPr>
        <p:spPr>
          <a:xfrm>
            <a:off x="7100280" y="4297680"/>
            <a:ext cx="4297320" cy="502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11827"/>
                </a:solidFill>
                <a:effectLst/>
                <a:uFillTx/>
                <a:latin typeface="Calibri"/>
                <a:ea typeface="Calibri"/>
              </a:rPr>
              <a:t>Acceso y aislamiento</a:t>
            </a:r>
            <a:endParaRPr lang="es-CL" sz="1800" b="0" u="none" strike="noStrike">
              <a:solidFill>
                <a:srgbClr val="000000"/>
              </a:solidFill>
              <a:effectLst/>
              <a:uFillTx/>
              <a:latin typeface="Arial"/>
            </a:endParaRPr>
          </a:p>
        </p:txBody>
      </p:sp>
      <p:sp>
        <p:nvSpPr>
          <p:cNvPr id="397" name="Text 30"/>
          <p:cNvSpPr/>
          <p:nvPr/>
        </p:nvSpPr>
        <p:spPr>
          <a:xfrm>
            <a:off x="6460200" y="4983480"/>
            <a:ext cx="4937400" cy="15998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Subir, editar y eliminar: engineer, gerente y admin</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Operador, técnico y supervisor: solo consulta; visitante sin acceso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Cada documento pertenece a una empresa: otra empresa recibe 404</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98"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399" name="CuadroTexto 5"/>
          <p:cNvSpPr/>
          <p:nvPr/>
        </p:nvSpPr>
        <p:spPr>
          <a:xfrm>
            <a:off x="136080" y="369000"/>
            <a:ext cx="12191760" cy="36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s-MX" sz="1800" b="0" u="none" strike="noStrike">
                <a:solidFill>
                  <a:schemeClr val="lt2">
                    <a:lumMod val="50000"/>
                  </a:schemeClr>
                </a:solidFill>
                <a:effectLst/>
                <a:uFillTx/>
                <a:latin typeface="Calibri"/>
              </a:rPr>
              <a:t>PROYECTO “BARB”</a:t>
            </a:r>
            <a:endParaRPr lang="es-CL" sz="1800" b="0" u="none" strike="noStrike">
              <a:solidFill>
                <a:srgbClr val="000000"/>
              </a:solidFill>
              <a:effectLst/>
              <a:uFillTx/>
              <a:latin typeface="Arial"/>
            </a:endParaRPr>
          </a:p>
        </p:txBody>
      </p:sp>
      <p:sp>
        <p:nvSpPr>
          <p:cNvPr id="400" name="CuadroTexto 6"/>
          <p:cNvSpPr/>
          <p:nvPr/>
        </p:nvSpPr>
        <p:spPr>
          <a:xfrm>
            <a:off x="0" y="960120"/>
            <a:ext cx="12191760" cy="64584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3200" b="0" u="none" strike="noStrike">
                <a:solidFill>
                  <a:schemeClr val="dk1"/>
                </a:solidFill>
                <a:effectLst/>
                <a:uFillTx/>
                <a:latin typeface="Calibri"/>
              </a:rPr>
              <a:t>DocChat con IA</a:t>
            </a:r>
            <a:endParaRPr lang="es-CL" sz="3200" b="0" u="none" strike="noStrike">
              <a:solidFill>
                <a:srgbClr val="000000"/>
              </a:solidFill>
              <a:effectLst/>
              <a:uFillTx/>
              <a:latin typeface="Arial"/>
            </a:endParaRPr>
          </a:p>
        </p:txBody>
      </p:sp>
      <p:cxnSp>
        <p:nvCxnSpPr>
          <p:cNvPr id="401" name="Conector recto 8"/>
          <p:cNvCxnSpPr/>
          <p:nvPr/>
        </p:nvCxnSpPr>
        <p:spPr>
          <a:xfrm>
            <a:off x="0" y="757800"/>
            <a:ext cx="4085640" cy="360"/>
          </a:xfrm>
          <a:prstGeom prst="straightConnector1">
            <a:avLst/>
          </a:prstGeom>
          <a:ln w="15875">
            <a:solidFill>
              <a:srgbClr val="ABC0E4"/>
            </a:solidFill>
          </a:ln>
        </p:spPr>
      </p:cxnSp>
      <p:sp>
        <p:nvSpPr>
          <p:cNvPr id="402" name="Paso Pregunta"/>
          <p:cNvSpPr/>
          <p:nvPr/>
        </p:nvSpPr>
        <p:spPr>
          <a:xfrm>
            <a:off x="548640" y="1737360"/>
            <a:ext cx="2514240" cy="1828440"/>
          </a:xfrm>
          <a:prstGeom prst="roundRect">
            <a:avLst>
              <a:gd name="adj" fmla="val 4000"/>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03" name="Text 1"/>
          <p:cNvSpPr/>
          <p:nvPr/>
        </p:nvSpPr>
        <p:spPr>
          <a:xfrm>
            <a:off x="777240" y="1874520"/>
            <a:ext cx="2057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0F766E"/>
                </a:solidFill>
                <a:effectLst/>
                <a:uFillTx/>
                <a:latin typeface="Calibri"/>
                <a:ea typeface="Calibri"/>
              </a:rPr>
              <a:t>Pregunta</a:t>
            </a:r>
            <a:endParaRPr lang="es-CL" sz="1600" b="0" u="none" strike="noStrike">
              <a:solidFill>
                <a:srgbClr val="000000"/>
              </a:solidFill>
              <a:effectLst/>
              <a:uFillTx/>
              <a:latin typeface="Arial"/>
            </a:endParaRPr>
          </a:p>
        </p:txBody>
      </p:sp>
      <p:sp>
        <p:nvSpPr>
          <p:cNvPr id="404" name="Text 2"/>
          <p:cNvSpPr/>
          <p:nvPr/>
        </p:nvSpPr>
        <p:spPr>
          <a:xfrm>
            <a:off x="777240" y="2240280"/>
            <a:ext cx="20570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El mensaje del usuario y su mensaje anterior, para entender preguntas de seguimiento</a:t>
            </a:r>
            <a:endParaRPr lang="es-CL" sz="1400" b="0" u="none" strike="noStrike">
              <a:solidFill>
                <a:srgbClr val="000000"/>
              </a:solidFill>
              <a:effectLst/>
              <a:uFillTx/>
              <a:latin typeface="Arial"/>
            </a:endParaRPr>
          </a:p>
        </p:txBody>
      </p:sp>
      <p:sp>
        <p:nvSpPr>
          <p:cNvPr id="405" name="Flecha paso"/>
          <p:cNvSpPr/>
          <p:nvPr/>
        </p:nvSpPr>
        <p:spPr>
          <a:xfrm>
            <a:off x="3099960" y="251460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06" name="Paso Búsqueda"/>
          <p:cNvSpPr/>
          <p:nvPr/>
        </p:nvSpPr>
        <p:spPr>
          <a:xfrm>
            <a:off x="3408120" y="1737360"/>
            <a:ext cx="2514240" cy="1828440"/>
          </a:xfrm>
          <a:prstGeom prst="roundRect">
            <a:avLst>
              <a:gd name="adj" fmla="val 4000"/>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07" name="Text 5"/>
          <p:cNvSpPr/>
          <p:nvPr/>
        </p:nvSpPr>
        <p:spPr>
          <a:xfrm>
            <a:off x="3636720" y="1874520"/>
            <a:ext cx="2057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0F766E"/>
                </a:solidFill>
                <a:effectLst/>
                <a:uFillTx/>
                <a:latin typeface="Calibri"/>
                <a:ea typeface="Calibri"/>
              </a:rPr>
              <a:t>Búsqueda</a:t>
            </a:r>
            <a:endParaRPr lang="es-CL" sz="1600" b="0" u="none" strike="noStrike">
              <a:solidFill>
                <a:srgbClr val="000000"/>
              </a:solidFill>
              <a:effectLst/>
              <a:uFillTx/>
              <a:latin typeface="Arial"/>
            </a:endParaRPr>
          </a:p>
        </p:txBody>
      </p:sp>
      <p:sp>
        <p:nvSpPr>
          <p:cNvPr id="408" name="Text 6"/>
          <p:cNvSpPr/>
          <p:nvPr/>
        </p:nvSpPr>
        <p:spPr>
          <a:xfrm>
            <a:off x="3636720" y="2240280"/>
            <a:ext cx="20570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Texto completo en español sobre los documentos activos de su empresa; se toman los 6 mejores fragmentos</a:t>
            </a:r>
            <a:endParaRPr lang="es-CL" sz="1400" b="0" u="none" strike="noStrike">
              <a:solidFill>
                <a:srgbClr val="000000"/>
              </a:solidFill>
              <a:effectLst/>
              <a:uFillTx/>
              <a:latin typeface="Arial"/>
            </a:endParaRPr>
          </a:p>
        </p:txBody>
      </p:sp>
      <p:sp>
        <p:nvSpPr>
          <p:cNvPr id="409" name="Flecha paso"/>
          <p:cNvSpPr/>
          <p:nvPr/>
        </p:nvSpPr>
        <p:spPr>
          <a:xfrm>
            <a:off x="5959080" y="251460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10" name="Paso ¿Hay fragmentos?"/>
          <p:cNvSpPr/>
          <p:nvPr/>
        </p:nvSpPr>
        <p:spPr>
          <a:xfrm>
            <a:off x="6267240" y="1737360"/>
            <a:ext cx="2514240" cy="1828440"/>
          </a:xfrm>
          <a:prstGeom prst="roundRect">
            <a:avLst>
              <a:gd name="adj" fmla="val 4000"/>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11" name="Text 9"/>
          <p:cNvSpPr/>
          <p:nvPr/>
        </p:nvSpPr>
        <p:spPr>
          <a:xfrm>
            <a:off x="6495840" y="1874520"/>
            <a:ext cx="2057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0F766E"/>
                </a:solidFill>
                <a:effectLst/>
                <a:uFillTx/>
                <a:latin typeface="Calibri"/>
                <a:ea typeface="Calibri"/>
              </a:rPr>
              <a:t>¿Hay fragmentos?</a:t>
            </a:r>
            <a:endParaRPr lang="es-CL" sz="1600" b="0" u="none" strike="noStrike">
              <a:solidFill>
                <a:srgbClr val="000000"/>
              </a:solidFill>
              <a:effectLst/>
              <a:uFillTx/>
              <a:latin typeface="Arial"/>
            </a:endParaRPr>
          </a:p>
        </p:txBody>
      </p:sp>
      <p:sp>
        <p:nvSpPr>
          <p:cNvPr id="412" name="Text 10"/>
          <p:cNvSpPr/>
          <p:nvPr/>
        </p:nvSpPr>
        <p:spPr>
          <a:xfrm>
            <a:off x="6495840" y="2240280"/>
            <a:ext cx="20570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1" u="none" strike="noStrike">
                <a:solidFill>
                  <a:srgbClr val="DC2626"/>
                </a:solidFill>
                <a:effectLst/>
                <a:uFillTx/>
                <a:latin typeface="Calibri"/>
                <a:ea typeface="Calibri"/>
              </a:rPr>
              <a:t>No: </a:t>
            </a:r>
            <a:r>
              <a:rPr lang="en-US" sz="1400" b="0" u="none" strike="noStrike">
                <a:solidFill>
                  <a:srgbClr val="111827"/>
                </a:solidFill>
                <a:effectLst/>
                <a:uFillTx/>
                <a:latin typeface="Calibri"/>
                <a:ea typeface="Calibri"/>
              </a:rPr>
              <a:t>respuesta fija, sin llamar al LLM</a:t>
            </a:r>
            <a:endParaRPr lang="es-CL" sz="1400" b="0" u="none" strike="noStrike">
              <a:solidFill>
                <a:srgbClr val="000000"/>
              </a:solidFill>
              <a:effectLst/>
              <a:uFillTx/>
              <a:latin typeface="Arial"/>
            </a:endParaRPr>
          </a:p>
          <a:p>
            <a:pPr defTabSz="914400">
              <a:lnSpc>
                <a:spcPct val="100000"/>
              </a:lnSpc>
              <a:tabLst>
                <a:tab pos="0" algn="l"/>
              </a:tabLst>
            </a:pPr>
            <a:r>
              <a:rPr lang="en-US" sz="1400" b="1" u="none" strike="noStrike">
                <a:solidFill>
                  <a:srgbClr val="16A34A"/>
                </a:solidFill>
                <a:effectLst/>
                <a:uFillTx/>
                <a:latin typeface="Calibri"/>
                <a:ea typeface="Calibri"/>
              </a:rPr>
              <a:t>Sí: </a:t>
            </a:r>
            <a:r>
              <a:rPr lang="en-US" sz="1400" b="0" u="none" strike="noStrike">
                <a:solidFill>
                  <a:srgbClr val="111827"/>
                </a:solidFill>
                <a:effectLst/>
                <a:uFillTx/>
                <a:latin typeface="Calibri"/>
                <a:ea typeface="Calibri"/>
              </a:rPr>
              <a:t>el LLM responde con reglas estrictas</a:t>
            </a:r>
            <a:endParaRPr lang="es-CL" sz="1400" b="0" u="none" strike="noStrike">
              <a:solidFill>
                <a:srgbClr val="000000"/>
              </a:solidFill>
              <a:effectLst/>
              <a:uFillTx/>
              <a:latin typeface="Arial"/>
            </a:endParaRPr>
          </a:p>
        </p:txBody>
      </p:sp>
      <p:sp>
        <p:nvSpPr>
          <p:cNvPr id="413" name="Flecha paso"/>
          <p:cNvSpPr/>
          <p:nvPr/>
        </p:nvSpPr>
        <p:spPr>
          <a:xfrm>
            <a:off x="8818560" y="2514600"/>
            <a:ext cx="273960" cy="273960"/>
          </a:xfrm>
          <a:prstGeom prst="rightArrow">
            <a:avLst>
              <a:gd name="adj1" fmla="val 50000"/>
              <a:gd name="adj2" fmla="val 50000"/>
            </a:avLst>
          </a:prstGeom>
          <a:solidFill>
            <a:srgbClr val="64748B"/>
          </a:solidFill>
          <a:ln w="12700">
            <a:solidFill>
              <a:srgbClr val="64748B"/>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14" name="Paso Respuesta"/>
          <p:cNvSpPr/>
          <p:nvPr/>
        </p:nvSpPr>
        <p:spPr>
          <a:xfrm>
            <a:off x="9126720" y="1737360"/>
            <a:ext cx="2514240" cy="1828440"/>
          </a:xfrm>
          <a:prstGeom prst="roundRect">
            <a:avLst>
              <a:gd name="adj" fmla="val 4000"/>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15" name="Text 13"/>
          <p:cNvSpPr/>
          <p:nvPr/>
        </p:nvSpPr>
        <p:spPr>
          <a:xfrm>
            <a:off x="9355320" y="1874520"/>
            <a:ext cx="2057040" cy="3196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600" b="1" u="none" strike="noStrike">
                <a:solidFill>
                  <a:srgbClr val="0F766E"/>
                </a:solidFill>
                <a:effectLst/>
                <a:uFillTx/>
                <a:latin typeface="Calibri"/>
                <a:ea typeface="Calibri"/>
              </a:rPr>
              <a:t>Respuesta</a:t>
            </a:r>
            <a:endParaRPr lang="es-CL" sz="1600" b="0" u="none" strike="noStrike">
              <a:solidFill>
                <a:srgbClr val="000000"/>
              </a:solidFill>
              <a:effectLst/>
              <a:uFillTx/>
              <a:latin typeface="Arial"/>
            </a:endParaRPr>
          </a:p>
        </p:txBody>
      </p:sp>
      <p:sp>
        <p:nvSpPr>
          <p:cNvPr id="416" name="Text 14"/>
          <p:cNvSpPr/>
          <p:nvPr/>
        </p:nvSpPr>
        <p:spPr>
          <a:xfrm>
            <a:off x="9355320" y="2240280"/>
            <a:ext cx="2057040" cy="127980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rgbClr val="111827"/>
                </a:solidFill>
                <a:effectLst/>
                <a:uFillTx/>
                <a:latin typeface="Calibri"/>
                <a:ea typeface="Calibri"/>
              </a:rPr>
              <a:t>Streaming por SSE, citando el documento de origen; se guarda en el historial</a:t>
            </a:r>
            <a:endParaRPr lang="es-CL" sz="1400" b="0" u="none" strike="noStrike">
              <a:solidFill>
                <a:srgbClr val="000000"/>
              </a:solidFill>
              <a:effectLst/>
              <a:uFillTx/>
              <a:latin typeface="Arial"/>
            </a:endParaRPr>
          </a:p>
        </p:txBody>
      </p:sp>
      <p:sp>
        <p:nvSpPr>
          <p:cNvPr id="417" name="Tarjeta Reglas anti-alucinación"/>
          <p:cNvSpPr/>
          <p:nvPr/>
        </p:nvSpPr>
        <p:spPr>
          <a:xfrm>
            <a:off x="548640" y="3794760"/>
            <a:ext cx="2614680" cy="2834280"/>
          </a:xfrm>
          <a:prstGeom prst="roundRect">
            <a:avLst>
              <a:gd name="adj" fmla="val 279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18" name="Reglas anti-alucinación (círculo)"/>
          <p:cNvSpPr/>
          <p:nvPr/>
        </p:nvSpPr>
        <p:spPr>
          <a:xfrm>
            <a:off x="731520" y="3931920"/>
            <a:ext cx="456840" cy="4568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419" name="Reglas anti-alucinación" descr="Reglas anti-alucinación"/>
          <p:cNvPicPr/>
          <p:nvPr/>
        </p:nvPicPr>
        <p:blipFill>
          <a:blip r:embed="rId2"/>
          <a:stretch/>
        </p:blipFill>
        <p:spPr>
          <a:xfrm>
            <a:off x="846000" y="4046400"/>
            <a:ext cx="228240" cy="228240"/>
          </a:xfrm>
          <a:prstGeom prst="rect">
            <a:avLst/>
          </a:prstGeom>
          <a:noFill/>
          <a:ln w="0">
            <a:noFill/>
          </a:ln>
        </p:spPr>
      </p:pic>
      <p:sp>
        <p:nvSpPr>
          <p:cNvPr id="420" name="Text 17"/>
          <p:cNvSpPr/>
          <p:nvPr/>
        </p:nvSpPr>
        <p:spPr>
          <a:xfrm>
            <a:off x="1325880" y="3931920"/>
            <a:ext cx="170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Reglas anti-alucinación</a:t>
            </a:r>
            <a:endParaRPr lang="es-CL" sz="1600" b="0" u="none" strike="noStrike">
              <a:solidFill>
                <a:srgbClr val="000000"/>
              </a:solidFill>
              <a:effectLst/>
              <a:uFillTx/>
              <a:latin typeface="Arial"/>
            </a:endParaRPr>
          </a:p>
        </p:txBody>
      </p:sp>
      <p:sp>
        <p:nvSpPr>
          <p:cNvPr id="421" name="Text 18"/>
          <p:cNvSpPr/>
          <p:nvPr/>
        </p:nvSpPr>
        <p:spPr>
          <a:xfrm>
            <a:off x="731520" y="4526280"/>
            <a:ext cx="2248920" cy="20570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Responder solo con la documentación</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No inventar valores ni procedimientos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Ignorar órdenes escritas dentro de los documentos</a:t>
            </a:r>
            <a:endParaRPr lang="es-CL" sz="1400" b="0" u="none" strike="noStrike">
              <a:solidFill>
                <a:srgbClr val="000000"/>
              </a:solidFill>
              <a:effectLst/>
              <a:uFillTx/>
              <a:latin typeface="Arial"/>
            </a:endParaRPr>
          </a:p>
        </p:txBody>
      </p:sp>
      <p:sp>
        <p:nvSpPr>
          <p:cNvPr id="422" name="Tarjeta Conversación"/>
          <p:cNvSpPr/>
          <p:nvPr/>
        </p:nvSpPr>
        <p:spPr>
          <a:xfrm>
            <a:off x="3374280" y="3794760"/>
            <a:ext cx="2614680" cy="2834280"/>
          </a:xfrm>
          <a:prstGeom prst="roundRect">
            <a:avLst>
              <a:gd name="adj" fmla="val 279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23" name="Conversación (círculo)"/>
          <p:cNvSpPr/>
          <p:nvPr/>
        </p:nvSpPr>
        <p:spPr>
          <a:xfrm>
            <a:off x="3557160" y="3931920"/>
            <a:ext cx="456840" cy="4568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424" name="Conversación" descr="Conversación"/>
          <p:cNvPicPr/>
          <p:nvPr/>
        </p:nvPicPr>
        <p:blipFill>
          <a:blip r:embed="rId3"/>
          <a:stretch/>
        </p:blipFill>
        <p:spPr>
          <a:xfrm>
            <a:off x="3671280" y="4046400"/>
            <a:ext cx="228240" cy="228240"/>
          </a:xfrm>
          <a:prstGeom prst="rect">
            <a:avLst/>
          </a:prstGeom>
          <a:noFill/>
          <a:ln w="0">
            <a:noFill/>
          </a:ln>
        </p:spPr>
      </p:pic>
      <p:sp>
        <p:nvSpPr>
          <p:cNvPr id="425" name="Text 21"/>
          <p:cNvSpPr/>
          <p:nvPr/>
        </p:nvSpPr>
        <p:spPr>
          <a:xfrm>
            <a:off x="4151520" y="3931920"/>
            <a:ext cx="170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Conversación</a:t>
            </a:r>
            <a:endParaRPr lang="es-CL" sz="1600" b="0" u="none" strike="noStrike">
              <a:solidFill>
                <a:srgbClr val="000000"/>
              </a:solidFill>
              <a:effectLst/>
              <a:uFillTx/>
              <a:latin typeface="Arial"/>
            </a:endParaRPr>
          </a:p>
        </p:txBody>
      </p:sp>
      <p:sp>
        <p:nvSpPr>
          <p:cNvPr id="426" name="Text 22"/>
          <p:cNvSpPr/>
          <p:nvPr/>
        </p:nvSpPr>
        <p:spPr>
          <a:xfrm>
            <a:off x="3557160" y="4526280"/>
            <a:ext cx="2248920" cy="20570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Historial por usuario en la base de datos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Barra lateral para retomar o eliminar sesiones</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Respuestas con formato Markdown</a:t>
            </a:r>
            <a:endParaRPr lang="es-CL" sz="1400" b="0" u="none" strike="noStrike">
              <a:solidFill>
                <a:srgbClr val="000000"/>
              </a:solidFill>
              <a:effectLst/>
              <a:uFillTx/>
              <a:latin typeface="Arial"/>
            </a:endParaRPr>
          </a:p>
        </p:txBody>
      </p:sp>
      <p:sp>
        <p:nvSpPr>
          <p:cNvPr id="427" name="Tarjeta Límites y proveedores"/>
          <p:cNvSpPr/>
          <p:nvPr/>
        </p:nvSpPr>
        <p:spPr>
          <a:xfrm>
            <a:off x="6199560" y="3794760"/>
            <a:ext cx="2614680" cy="2834280"/>
          </a:xfrm>
          <a:prstGeom prst="roundRect">
            <a:avLst>
              <a:gd name="adj" fmla="val 279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28" name="Límites y proveedores (círculo)"/>
          <p:cNvSpPr/>
          <p:nvPr/>
        </p:nvSpPr>
        <p:spPr>
          <a:xfrm>
            <a:off x="6382440" y="3931920"/>
            <a:ext cx="456840" cy="4568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429" name="Límites y proveedores" descr="Límites y proveedores"/>
          <p:cNvPicPr/>
          <p:nvPr/>
        </p:nvPicPr>
        <p:blipFill>
          <a:blip r:embed="rId4"/>
          <a:stretch/>
        </p:blipFill>
        <p:spPr>
          <a:xfrm>
            <a:off x="6496920" y="4046400"/>
            <a:ext cx="228240" cy="228240"/>
          </a:xfrm>
          <a:prstGeom prst="rect">
            <a:avLst/>
          </a:prstGeom>
          <a:noFill/>
          <a:ln w="0">
            <a:noFill/>
          </a:ln>
        </p:spPr>
      </p:pic>
      <p:sp>
        <p:nvSpPr>
          <p:cNvPr id="430" name="Text 25"/>
          <p:cNvSpPr/>
          <p:nvPr/>
        </p:nvSpPr>
        <p:spPr>
          <a:xfrm>
            <a:off x="6976800" y="3931920"/>
            <a:ext cx="170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Límites y proveedores</a:t>
            </a:r>
            <a:endParaRPr lang="es-CL" sz="1600" b="0" u="none" strike="noStrike">
              <a:solidFill>
                <a:srgbClr val="000000"/>
              </a:solidFill>
              <a:effectLst/>
              <a:uFillTx/>
              <a:latin typeface="Arial"/>
            </a:endParaRPr>
          </a:p>
        </p:txBody>
      </p:sp>
      <p:sp>
        <p:nvSpPr>
          <p:cNvPr id="431" name="Text 26"/>
          <p:cNvSpPr/>
          <p:nvPr/>
        </p:nvSpPr>
        <p:spPr>
          <a:xfrm>
            <a:off x="6382440" y="4526280"/>
            <a:ext cx="2248920" cy="205704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10 consultas por minuto y 50 000 tokens al día por usuario</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Proveedor configurable: DeepSeek, OpenAI, OpenRouter, Groq o NVIDIA</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Reintentos y proveedores de respaldo</a:t>
            </a:r>
            <a:endParaRPr lang="es-CL" sz="1400" b="0" u="none" strike="noStrike">
              <a:solidFill>
                <a:srgbClr val="000000"/>
              </a:solidFill>
              <a:effectLst/>
              <a:uFillTx/>
              <a:latin typeface="Arial"/>
            </a:endParaRPr>
          </a:p>
        </p:txBody>
      </p:sp>
      <p:sp>
        <p:nvSpPr>
          <p:cNvPr id="432" name="Tarjeta Multimodal"/>
          <p:cNvSpPr/>
          <p:nvPr/>
        </p:nvSpPr>
        <p:spPr>
          <a:xfrm>
            <a:off x="9025200" y="3794760"/>
            <a:ext cx="2614680" cy="2834280"/>
          </a:xfrm>
          <a:prstGeom prst="roundRect">
            <a:avLst>
              <a:gd name="adj" fmla="val 2797"/>
            </a:avLst>
          </a:prstGeom>
          <a:solidFill>
            <a:srgbClr val="F3F4F6"/>
          </a:solidFill>
          <a:ln w="12700">
            <a:solidFill>
              <a:srgbClr val="F3F4F6"/>
            </a:solidFill>
            <a:round/>
          </a:ln>
          <a:effectLst>
            <a:outerShdw algn="bl" blurRad="76320" dir="5400000" dist="25560" rotWithShape="0">
              <a:srgbClr val="111827">
                <a:alpha val="12000"/>
              </a:srgbClr>
            </a:outerShdw>
          </a:effectLst>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33" name="Multimodal (círculo)"/>
          <p:cNvSpPr/>
          <p:nvPr/>
        </p:nvSpPr>
        <p:spPr>
          <a:xfrm>
            <a:off x="9208080" y="3931920"/>
            <a:ext cx="456840" cy="456840"/>
          </a:xfrm>
          <a:prstGeom prst="ellipse">
            <a:avLst/>
          </a:prstGeom>
          <a:solidFill>
            <a:srgbClr val="0F766E"/>
          </a:solidFill>
          <a:ln w="12700">
            <a:solidFill>
              <a:srgbClr val="0F766E"/>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pic>
        <p:nvPicPr>
          <p:cNvPr id="434" name="Multimodal" descr="Multimodal"/>
          <p:cNvPicPr/>
          <p:nvPr/>
        </p:nvPicPr>
        <p:blipFill>
          <a:blip r:embed="rId5"/>
          <a:stretch/>
        </p:blipFill>
        <p:spPr>
          <a:xfrm>
            <a:off x="9322200" y="4046400"/>
            <a:ext cx="228240" cy="228240"/>
          </a:xfrm>
          <a:prstGeom prst="rect">
            <a:avLst/>
          </a:prstGeom>
          <a:noFill/>
          <a:ln w="0">
            <a:noFill/>
          </a:ln>
        </p:spPr>
      </p:pic>
      <p:sp>
        <p:nvSpPr>
          <p:cNvPr id="435" name="Text 29"/>
          <p:cNvSpPr/>
          <p:nvPr/>
        </p:nvSpPr>
        <p:spPr>
          <a:xfrm>
            <a:off x="9802440" y="3931920"/>
            <a:ext cx="1700280" cy="4568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111827"/>
                </a:solidFill>
                <a:effectLst/>
                <a:uFillTx/>
                <a:latin typeface="Calibri"/>
                <a:ea typeface="Calibri"/>
              </a:rPr>
              <a:t>Multimodal</a:t>
            </a:r>
            <a:endParaRPr lang="es-CL" sz="1600" b="0" u="none" strike="noStrike">
              <a:solidFill>
                <a:srgbClr val="000000"/>
              </a:solidFill>
              <a:effectLst/>
              <a:uFillTx/>
              <a:latin typeface="Arial"/>
            </a:endParaRPr>
          </a:p>
        </p:txBody>
      </p:sp>
      <p:sp>
        <p:nvSpPr>
          <p:cNvPr id="436" name="Etiqueta Solo backend"/>
          <p:cNvSpPr/>
          <p:nvPr/>
        </p:nvSpPr>
        <p:spPr>
          <a:xfrm>
            <a:off x="9208080" y="4480560"/>
            <a:ext cx="1279800" cy="273960"/>
          </a:xfrm>
          <a:prstGeom prst="roundRect">
            <a:avLst>
              <a:gd name="adj" fmla="val 50000"/>
            </a:avLst>
          </a:prstGeom>
          <a:solidFill>
            <a:srgbClr val="D97706"/>
          </a:solidFill>
          <a:ln w="12700">
            <a:solidFill>
              <a:srgbClr val="D97706"/>
            </a:solidFill>
            <a:round/>
          </a:ln>
        </p:spPr>
        <p:style>
          <a:lnRef idx="0"/>
          <a:fillRef idx="0"/>
          <a:effectRef idx="0"/>
          <a:fontRef idx="minor"/>
        </p:style>
        <p:txBody>
          <a:bodyPr lIns="90000" tIns="45000" rIns="90000" bIns="45000" anchor="t">
            <a:noAutofit/>
          </a:bodyPr>
          <a:p>
            <a:pPr/>
            <a:endParaRPr lang="es-CL" sz="1800" b="0" u="none" strike="noStrike">
              <a:solidFill>
                <a:schemeClr val="dk1"/>
              </a:solidFill>
              <a:effectLst/>
              <a:uFillTx/>
              <a:latin typeface="Calibri"/>
            </a:endParaRPr>
          </a:p>
        </p:txBody>
      </p:sp>
      <p:sp>
        <p:nvSpPr>
          <p:cNvPr id="437" name="Text 31"/>
          <p:cNvSpPr/>
          <p:nvPr/>
        </p:nvSpPr>
        <p:spPr>
          <a:xfrm>
            <a:off x="9208080" y="4480560"/>
            <a:ext cx="1279800" cy="2739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FFFFFF"/>
                </a:solidFill>
                <a:effectLst/>
                <a:uFillTx/>
                <a:latin typeface="Calibri"/>
                <a:ea typeface="Calibri"/>
              </a:rPr>
              <a:t>Solo backend</a:t>
            </a:r>
            <a:endParaRPr lang="es-CL" sz="1200" b="0" u="none" strike="noStrike">
              <a:solidFill>
                <a:srgbClr val="000000"/>
              </a:solidFill>
              <a:effectLst/>
              <a:uFillTx/>
              <a:latin typeface="Arial"/>
            </a:endParaRPr>
          </a:p>
        </p:txBody>
      </p:sp>
      <p:sp>
        <p:nvSpPr>
          <p:cNvPr id="438" name="Text 32"/>
          <p:cNvSpPr/>
          <p:nvPr/>
        </p:nvSpPr>
        <p:spPr>
          <a:xfrm>
            <a:off x="9208080" y="4846320"/>
            <a:ext cx="2248920" cy="1737000"/>
          </a:xfrm>
          <a:prstGeom prst="rect">
            <a:avLst/>
          </a:prstGeom>
          <a:noFill/>
          <a:ln w="0">
            <a:noFill/>
          </a:ln>
        </p:spPr>
        <p:style>
          <a:lnRef idx="0"/>
          <a:fillRef idx="0"/>
          <a:effectRef idx="0"/>
          <a:fontRef idx="minor"/>
        </p:style>
        <p:txBody>
          <a:bodyPr lIns="0" tIns="0" rIns="0" bIns="0" anchor="t">
            <a:noAutofit/>
          </a:bodyPr>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Pregunta + imagen (JPG, PNG o WebP, hasta 5 MB)</a:t>
            </a:r>
            <a:endParaRPr lang="es-CL" sz="1400" b="0" u="none" strike="noStrike">
              <a:solidFill>
                <a:srgbClr val="000000"/>
              </a:solidFill>
              <a:effectLst/>
              <a:uFillTx/>
              <a:latin typeface="Arial"/>
            </a:endParaRPr>
          </a:p>
          <a:p>
            <a:pPr marL="177840" indent="-177840" defTabSz="914400">
              <a:lnSpc>
                <a:spcPct val="100000"/>
              </a:lnSpc>
              <a:spcAft>
                <a:spcPts val="601"/>
              </a:spcAft>
              <a:buClr>
                <a:srgbClr val="111827"/>
              </a:buClr>
              <a:buFont typeface="Symbol" charset="2"/>
              <a:buChar char=""/>
            </a:pPr>
            <a:r>
              <a:rPr lang="en-US" sz="1400" b="0" u="none" strike="noStrike">
                <a:solidFill>
                  <a:srgbClr val="111827"/>
                </a:solidFill>
                <a:effectLst/>
                <a:uFillTx/>
                <a:latin typeface="Calibri"/>
                <a:ea typeface="Calibri"/>
              </a:rPr>
              <a:t>Sin búsqueda en documentos; la imagen no se guarda</a:t>
            </a:r>
            <a:endParaRPr lang="es-CL"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39"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440" name="CuadroTexto 3"/>
          <p:cNvSpPr/>
          <p:nvPr/>
        </p:nvSpPr>
        <p:spPr>
          <a:xfrm>
            <a:off x="0" y="1459080"/>
            <a:ext cx="12191760" cy="7689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4400" b="0" u="none" strike="noStrike">
                <a:solidFill>
                  <a:schemeClr val="dk1"/>
                </a:solidFill>
                <a:effectLst/>
                <a:uFillTx/>
                <a:latin typeface="Calibri"/>
              </a:rPr>
              <a:t>Resultados obtenidos</a:t>
            </a:r>
            <a:endParaRPr lang="es-CL" sz="4400" b="0" u="none" strike="noStrike">
              <a:solidFill>
                <a:srgbClr val="000000"/>
              </a:solidFill>
              <a:effectLst/>
              <a:uFillTx/>
              <a:latin typeface="Arial"/>
            </a:endParaRPr>
          </a:p>
        </p:txBody>
      </p:sp>
      <p:sp>
        <p:nvSpPr>
          <p:cNvPr id="441" name="Cifra 1"/>
          <p:cNvSpPr/>
          <p:nvPr/>
        </p:nvSpPr>
        <p:spPr>
          <a:xfrm>
            <a:off x="645840" y="2250000"/>
            <a:ext cx="2499480" cy="14497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ctr">
            <a:noAutofit/>
          </a:bodyPr>
          <a:p>
            <a:pPr algn="ctr" defTabSz="914400">
              <a:lnSpc>
                <a:spcPct val="100000"/>
              </a:lnSpc>
              <a:spcAft>
                <a:spcPts val="601"/>
              </a:spcAft>
            </a:pPr>
            <a:r>
              <a:rPr lang="es-CL" sz="4000" b="1" u="none" strike="noStrike">
                <a:solidFill>
                  <a:schemeClr val="dk1"/>
                </a:solidFill>
                <a:effectLst/>
                <a:uFillTx/>
                <a:latin typeface="Calibri"/>
              </a:rPr>
              <a:t>5</a:t>
            </a:r>
            <a:endParaRPr lang="es-CL" sz="4000" b="0" u="none" strike="noStrike">
              <a:solidFill>
                <a:srgbClr val="000000"/>
              </a:solidFill>
              <a:effectLst/>
              <a:uFillTx/>
              <a:latin typeface="Arial"/>
            </a:endParaRPr>
          </a:p>
          <a:p>
            <a:pPr algn="ctr" defTabSz="914400">
              <a:lnSpc>
                <a:spcPct val="100000"/>
              </a:lnSpc>
              <a:spcAft>
                <a:spcPts val="400"/>
              </a:spcAft>
            </a:pPr>
            <a:r>
              <a:rPr lang="es-CL" sz="1400" b="0" u="none" strike="noStrike">
                <a:solidFill>
                  <a:schemeClr val="dk1"/>
                </a:solidFill>
                <a:effectLst/>
                <a:uFillTx/>
                <a:latin typeface="Calibri"/>
              </a:rPr>
              <a:t>módulos funcionales</a:t>
            </a:r>
            <a:endParaRPr lang="es-CL" sz="1400" b="0" u="none" strike="noStrike">
              <a:solidFill>
                <a:srgbClr val="000000"/>
              </a:solidFill>
              <a:effectLst/>
              <a:uFillTx/>
              <a:latin typeface="Arial"/>
            </a:endParaRPr>
          </a:p>
        </p:txBody>
      </p:sp>
      <p:sp>
        <p:nvSpPr>
          <p:cNvPr id="442" name="Cifra 2"/>
          <p:cNvSpPr/>
          <p:nvPr/>
        </p:nvSpPr>
        <p:spPr>
          <a:xfrm>
            <a:off x="3445920" y="2250000"/>
            <a:ext cx="2499480" cy="14497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ctr">
            <a:noAutofit/>
          </a:bodyPr>
          <a:p>
            <a:pPr algn="ctr" defTabSz="914400">
              <a:lnSpc>
                <a:spcPct val="100000"/>
              </a:lnSpc>
              <a:spcAft>
                <a:spcPts val="601"/>
              </a:spcAft>
            </a:pPr>
            <a:r>
              <a:rPr lang="es-CL" sz="4000" b="1" u="none" strike="noStrike">
                <a:solidFill>
                  <a:schemeClr val="dk1"/>
                </a:solidFill>
                <a:effectLst/>
                <a:uFillTx/>
                <a:latin typeface="Calibri"/>
              </a:rPr>
              <a:t>64</a:t>
            </a:r>
            <a:endParaRPr lang="es-CL" sz="4000" b="0" u="none" strike="noStrike">
              <a:solidFill>
                <a:srgbClr val="000000"/>
              </a:solidFill>
              <a:effectLst/>
              <a:uFillTx/>
              <a:latin typeface="Arial"/>
            </a:endParaRPr>
          </a:p>
          <a:p>
            <a:pPr algn="ctr" defTabSz="914400">
              <a:lnSpc>
                <a:spcPct val="100000"/>
              </a:lnSpc>
              <a:spcAft>
                <a:spcPts val="400"/>
              </a:spcAft>
            </a:pPr>
            <a:r>
              <a:rPr lang="es-CL" sz="1400" b="0" u="none" strike="noStrike">
                <a:solidFill>
                  <a:schemeClr val="dk1"/>
                </a:solidFill>
                <a:effectLst/>
                <a:uFillTx/>
                <a:latin typeface="Calibri"/>
              </a:rPr>
              <a:t>endpoints REST</a:t>
            </a:r>
            <a:endParaRPr lang="es-CL" sz="1400" b="0" u="none" strike="noStrike">
              <a:solidFill>
                <a:srgbClr val="000000"/>
              </a:solidFill>
              <a:effectLst/>
              <a:uFillTx/>
              <a:latin typeface="Arial"/>
            </a:endParaRPr>
          </a:p>
        </p:txBody>
      </p:sp>
      <p:sp>
        <p:nvSpPr>
          <p:cNvPr id="443" name="Cifra 3"/>
          <p:cNvSpPr/>
          <p:nvPr/>
        </p:nvSpPr>
        <p:spPr>
          <a:xfrm>
            <a:off x="6246000" y="2250000"/>
            <a:ext cx="2499480" cy="14497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ctr">
            <a:noAutofit/>
          </a:bodyPr>
          <a:p>
            <a:pPr algn="ctr" defTabSz="914400">
              <a:lnSpc>
                <a:spcPct val="100000"/>
              </a:lnSpc>
              <a:spcAft>
                <a:spcPts val="601"/>
              </a:spcAft>
            </a:pPr>
            <a:r>
              <a:rPr lang="es-CL" sz="4000" b="1" u="none" strike="noStrike">
                <a:solidFill>
                  <a:schemeClr val="dk1"/>
                </a:solidFill>
                <a:effectLst/>
                <a:uFillTx/>
                <a:latin typeface="Calibri"/>
              </a:rPr>
              <a:t>266</a:t>
            </a:r>
            <a:endParaRPr lang="es-CL" sz="4000" b="0" u="none" strike="noStrike">
              <a:solidFill>
                <a:srgbClr val="000000"/>
              </a:solidFill>
              <a:effectLst/>
              <a:uFillTx/>
              <a:latin typeface="Arial"/>
            </a:endParaRPr>
          </a:p>
          <a:p>
            <a:pPr algn="ctr" defTabSz="914400">
              <a:lnSpc>
                <a:spcPct val="100000"/>
              </a:lnSpc>
              <a:spcAft>
                <a:spcPts val="400"/>
              </a:spcAft>
            </a:pPr>
            <a:r>
              <a:rPr lang="es-CL" sz="1400" b="0" u="none" strike="noStrike">
                <a:solidFill>
                  <a:schemeClr val="dk1"/>
                </a:solidFill>
                <a:effectLst/>
                <a:uFillTx/>
                <a:latin typeface="Calibri"/>
              </a:rPr>
              <a:t>pruebas automatizadas</a:t>
            </a:r>
            <a:endParaRPr lang="es-CL" sz="1400" b="0" u="none" strike="noStrike">
              <a:solidFill>
                <a:srgbClr val="000000"/>
              </a:solidFill>
              <a:effectLst/>
              <a:uFillTx/>
              <a:latin typeface="Arial"/>
            </a:endParaRPr>
          </a:p>
        </p:txBody>
      </p:sp>
      <p:sp>
        <p:nvSpPr>
          <p:cNvPr id="444" name="Cifra 4"/>
          <p:cNvSpPr/>
          <p:nvPr/>
        </p:nvSpPr>
        <p:spPr>
          <a:xfrm>
            <a:off x="9046080" y="2250000"/>
            <a:ext cx="2499480" cy="14497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ctr">
            <a:noAutofit/>
          </a:bodyPr>
          <a:p>
            <a:pPr algn="ctr" defTabSz="914400">
              <a:lnSpc>
                <a:spcPct val="100000"/>
              </a:lnSpc>
              <a:spcAft>
                <a:spcPts val="601"/>
              </a:spcAft>
            </a:pPr>
            <a:r>
              <a:rPr lang="es-CL" sz="4000" b="1" u="none" strike="noStrike">
                <a:solidFill>
                  <a:schemeClr val="dk1"/>
                </a:solidFill>
                <a:effectLst/>
                <a:uFillTx/>
                <a:latin typeface="Calibri"/>
              </a:rPr>
              <a:t>8</a:t>
            </a:r>
            <a:endParaRPr lang="es-CL" sz="4000" b="0" u="none" strike="noStrike">
              <a:solidFill>
                <a:srgbClr val="000000"/>
              </a:solidFill>
              <a:effectLst/>
              <a:uFillTx/>
              <a:latin typeface="Arial"/>
            </a:endParaRPr>
          </a:p>
          <a:p>
            <a:pPr algn="ctr" defTabSz="914400">
              <a:lnSpc>
                <a:spcPct val="100000"/>
              </a:lnSpc>
              <a:spcAft>
                <a:spcPts val="400"/>
              </a:spcAft>
            </a:pPr>
            <a:r>
              <a:rPr lang="es-CL" sz="1400" b="0" u="none" strike="noStrike">
                <a:solidFill>
                  <a:schemeClr val="dk1"/>
                </a:solidFill>
                <a:effectLst/>
                <a:uFillTx/>
                <a:latin typeface="Calibri"/>
              </a:rPr>
              <a:t>roles con permisos</a:t>
            </a:r>
            <a:endParaRPr lang="es-CL" sz="1400" b="0" u="none" strike="noStrike">
              <a:solidFill>
                <a:srgbClr val="000000"/>
              </a:solidFill>
              <a:effectLst/>
              <a:uFillTx/>
              <a:latin typeface="Arial"/>
            </a:endParaRPr>
          </a:p>
        </p:txBody>
      </p:sp>
      <p:sp>
        <p:nvSpPr>
          <p:cNvPr id="445" name="Logros"/>
          <p:cNvSpPr/>
          <p:nvPr/>
        </p:nvSpPr>
        <p:spPr>
          <a:xfrm>
            <a:off x="645840" y="3949920"/>
            <a:ext cx="5299560" cy="254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Logros</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Plataforma multiempresa desplegada en Render, Supabase y Cloudflare Pages.</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DocChat responde solo con los documentos de la empresa y cita la fuente.</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OT con auditoría, dashboard de KPIs y topología interactiva.</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Más de 100 commits y 29 integraciones de ramas del equipo.</a:t>
            </a:r>
            <a:endParaRPr lang="es-CL" sz="1400" b="0" u="none" strike="noStrike">
              <a:solidFill>
                <a:srgbClr val="000000"/>
              </a:solidFill>
              <a:effectLst/>
              <a:uFillTx/>
              <a:latin typeface="Arial"/>
            </a:endParaRPr>
          </a:p>
        </p:txBody>
      </p:sp>
      <p:sp>
        <p:nvSpPr>
          <p:cNvPr id="446" name="Pendiente"/>
          <p:cNvSpPr/>
          <p:nvPr/>
        </p:nvSpPr>
        <p:spPr>
          <a:xfrm>
            <a:off x="6246000" y="3949920"/>
            <a:ext cx="5299560" cy="254952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800" b="1" u="none" strike="noStrike">
                <a:solidFill>
                  <a:schemeClr val="dk1"/>
                </a:solidFill>
                <a:effectLst/>
                <a:uFillTx/>
                <a:latin typeface="Calibri"/>
              </a:rPr>
              <a:t>Pendiente y próximos pasos</a:t>
            </a:r>
            <a:endParaRPr lang="es-CL" sz="18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Pantallas para correo de OT atrasadas, tiempo real y chat con imágenes (hoy solo backend).</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Búsqueda semántica con embeddings en lugar de texto completo.</a:t>
            </a:r>
            <a:endParaRPr lang="es-CL" sz="1400" b="0" u="none" strike="noStrike">
              <a:solidFill>
                <a:srgbClr val="000000"/>
              </a:solidFill>
              <a:effectLst/>
              <a:uFillTx/>
              <a:latin typeface="Arial"/>
            </a:endParaRPr>
          </a:p>
          <a:p>
            <a:pPr marL="228600" indent="-228600" defTabSz="914400">
              <a:lnSpc>
                <a:spcPct val="100000"/>
              </a:lnSpc>
              <a:spcAft>
                <a:spcPts val="400"/>
              </a:spcAft>
              <a:buClr>
                <a:srgbClr val="000000"/>
              </a:buClr>
              <a:buFont typeface="Arial"/>
              <a:buChar char="•"/>
            </a:pPr>
            <a:r>
              <a:rPr lang="es-CL" sz="1400" b="0" u="none" strike="noStrike">
                <a:solidFill>
                  <a:schemeClr val="dk1"/>
                </a:solidFill>
                <a:effectLst/>
                <a:uFillTx/>
                <a:latin typeface="Calibri"/>
              </a:rPr>
              <a:t>Límites de uso persistentes, válidos con varios workers.</a:t>
            </a:r>
            <a:endParaRPr lang="es-CL" sz="1400" b="0" u="none" strike="noStrike">
              <a:solidFill>
                <a:srgbClr val="000000"/>
              </a:solidFill>
              <a:effectLst/>
              <a:uFillTx/>
              <a:latin typeface="Arial"/>
            </a:endParaRPr>
          </a:p>
        </p:txBody>
      </p:sp>
    </p:spTree>
  </p:cSld>
  <p:transition spd="slow">
    <p:wipe dir="l"/>
  </p:transition>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47"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448" name="CuadroTexto 3"/>
          <p:cNvSpPr/>
          <p:nvPr/>
        </p:nvSpPr>
        <p:spPr>
          <a:xfrm>
            <a:off x="0" y="1360800"/>
            <a:ext cx="12191760" cy="7689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4400" b="0" u="none" strike="noStrike">
                <a:solidFill>
                  <a:schemeClr val="dk1"/>
                </a:solidFill>
                <a:effectLst/>
                <a:uFillTx/>
                <a:latin typeface="Calibri"/>
              </a:rPr>
              <a:t>Obstáculos presentados durante el desarrollo</a:t>
            </a:r>
            <a:endParaRPr lang="es-CL" sz="4400" b="0" u="none" strike="noStrike">
              <a:solidFill>
                <a:srgbClr val="000000"/>
              </a:solidFill>
              <a:effectLst/>
              <a:uFillTx/>
              <a:latin typeface="Arial"/>
            </a:endParaRPr>
          </a:p>
        </p:txBody>
      </p:sp>
      <p:sp>
        <p:nvSpPr>
          <p:cNvPr id="449" name="Obstáculo 1"/>
          <p:cNvSpPr/>
          <p:nvPr/>
        </p:nvSpPr>
        <p:spPr>
          <a:xfrm>
            <a:off x="596160" y="225000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Migraciones con dos cabezas en Alembic</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Se unieron con 0005_merge_heads y se documentó usar siempre upgrade heads.</a:t>
            </a:r>
            <a:endParaRPr lang="es-CL" sz="1400" b="0" u="none" strike="noStrike">
              <a:solidFill>
                <a:srgbClr val="000000"/>
              </a:solidFill>
              <a:effectLst/>
              <a:uFillTx/>
              <a:latin typeface="Arial"/>
            </a:endParaRPr>
          </a:p>
        </p:txBody>
      </p:sp>
      <p:sp>
        <p:nvSpPr>
          <p:cNvPr id="450" name="Obstáculo 2"/>
          <p:cNvSpPr/>
          <p:nvPr/>
        </p:nvSpPr>
        <p:spPr>
          <a:xfrm>
            <a:off x="6195960" y="225000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Límite de dimensiones del índice HNSW</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Se probó halfvec y se optó por búsqueda de texto completo en español (GIN).</a:t>
            </a:r>
            <a:endParaRPr lang="es-CL" sz="1400" b="0" u="none" strike="noStrike">
              <a:solidFill>
                <a:srgbClr val="000000"/>
              </a:solidFill>
              <a:effectLst/>
              <a:uFillTx/>
              <a:latin typeface="Arial"/>
            </a:endParaRPr>
          </a:p>
        </p:txBody>
      </p:sp>
      <p:sp>
        <p:nvSpPr>
          <p:cNvPr id="451" name="Obstáculo 3"/>
          <p:cNvSpPr/>
          <p:nvPr/>
        </p:nvSpPr>
        <p:spPr>
          <a:xfrm>
            <a:off x="596160" y="372996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Disco efímero del plan gratuito de Render</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Los archivos originales se guardan en Supabase Storage.</a:t>
            </a:r>
            <a:endParaRPr lang="es-CL" sz="1400" b="0" u="none" strike="noStrike">
              <a:solidFill>
                <a:srgbClr val="000000"/>
              </a:solidFill>
              <a:effectLst/>
              <a:uFillTx/>
              <a:latin typeface="Arial"/>
            </a:endParaRPr>
          </a:p>
        </p:txBody>
      </p:sp>
      <p:sp>
        <p:nvSpPr>
          <p:cNvPr id="452" name="Obstáculo 4"/>
          <p:cNvSpPr/>
          <p:nvPr/>
        </p:nvSpPr>
        <p:spPr>
          <a:xfrm>
            <a:off x="6195960" y="372996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Estabilidad y costo de los proveedores LLM</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Reintentos, proveedores de respaldo, timeouts y límite de 50 000 tokens al día.</a:t>
            </a:r>
            <a:endParaRPr lang="es-CL" sz="1400" b="0" u="none" strike="noStrike">
              <a:solidFill>
                <a:srgbClr val="000000"/>
              </a:solidFill>
              <a:effectLst/>
              <a:uFillTx/>
              <a:latin typeface="Arial"/>
            </a:endParaRPr>
          </a:p>
        </p:txBody>
      </p:sp>
      <p:sp>
        <p:nvSpPr>
          <p:cNvPr id="453" name="Obstáculo 5"/>
          <p:cNvSpPr/>
          <p:nvPr/>
        </p:nvSpPr>
        <p:spPr>
          <a:xfrm>
            <a:off x="596160" y="520992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Aislamiento entre empresas</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Toda consulta se filtra por empresa; otra empresa recibe 404 y no se revela el dato.</a:t>
            </a:r>
            <a:endParaRPr lang="es-CL" sz="1400" b="0" u="none" strike="noStrike">
              <a:solidFill>
                <a:srgbClr val="000000"/>
              </a:solidFill>
              <a:effectLst/>
              <a:uFillTx/>
              <a:latin typeface="Arial"/>
            </a:endParaRPr>
          </a:p>
        </p:txBody>
      </p:sp>
      <p:sp>
        <p:nvSpPr>
          <p:cNvPr id="454" name="Obstáculo 6"/>
          <p:cNvSpPr/>
          <p:nvPr/>
        </p:nvSpPr>
        <p:spPr>
          <a:xfrm>
            <a:off x="6195960" y="5209920"/>
            <a:ext cx="5399640" cy="1349640"/>
          </a:xfrm>
          <a:prstGeom prst="roundRect">
            <a:avLst>
              <a:gd name="adj" fmla="val 8000"/>
            </a:avLst>
          </a:prstGeom>
          <a:solidFill>
            <a:srgbClr val="FFFFFF"/>
          </a:solidFill>
          <a:ln>
            <a:solidFill>
              <a:srgbClr val="4472C4"/>
            </a:solidFill>
          </a:ln>
        </p:spPr>
        <p:style>
          <a:lnRef idx="2">
            <a:schemeClr val="accent1"/>
          </a:lnRef>
          <a:fillRef idx="1">
            <a:schemeClr val="lt1"/>
          </a:fillRef>
          <a:effectRef idx="0">
            <a:schemeClr val="accent1"/>
          </a:effectRef>
          <a:fontRef idx="minor"/>
        </p:style>
        <p:txBody>
          <a:bodyPr lIns="90000" tIns="65880" rIns="90000" bIns="65880" anchor="t">
            <a:noAutofit/>
          </a:bodyPr>
          <a:p>
            <a:pPr defTabSz="914400">
              <a:lnSpc>
                <a:spcPct val="100000"/>
              </a:lnSpc>
              <a:spcAft>
                <a:spcPts val="601"/>
              </a:spcAft>
            </a:pPr>
            <a:r>
              <a:rPr lang="es-CL" sz="1600" b="1" u="none" strike="noStrike">
                <a:solidFill>
                  <a:schemeClr val="dk1"/>
                </a:solidFill>
                <a:effectLst/>
                <a:uFillTx/>
                <a:latin typeface="Calibri"/>
              </a:rPr>
              <a:t>Trabajo en paralelo de cinco integrantes</a:t>
            </a:r>
            <a:endParaRPr lang="es-CL" sz="1600" b="0" u="none" strike="noStrike">
              <a:solidFill>
                <a:srgbClr val="000000"/>
              </a:solidFill>
              <a:effectLst/>
              <a:uFillTx/>
              <a:latin typeface="Arial"/>
            </a:endParaRPr>
          </a:p>
          <a:p>
            <a:pPr defTabSz="914400">
              <a:lnSpc>
                <a:spcPct val="100000"/>
              </a:lnSpc>
              <a:spcAft>
                <a:spcPts val="400"/>
              </a:spcAft>
            </a:pPr>
            <a:r>
              <a:rPr lang="es-CL" sz="1400" b="0" u="none" strike="noStrike">
                <a:solidFill>
                  <a:schemeClr val="dk1"/>
                </a:solidFill>
                <a:effectLst/>
                <a:uFillTx/>
                <a:latin typeface="Calibri"/>
              </a:rPr>
              <a:t>Ramas por historia de usuario, pull requests y contratos de API documentados.</a:t>
            </a:r>
            <a:endParaRPr lang="es-CL" sz="1400" b="0" u="none" strike="noStrike">
              <a:solidFill>
                <a:srgbClr val="000000"/>
              </a:solidFill>
              <a:effectLst/>
              <a:uFillTx/>
              <a:latin typeface="Arial"/>
            </a:endParaRPr>
          </a:p>
        </p:txBody>
      </p:sp>
    </p:spTree>
  </p:cSld>
  <p:transition spd="slow">
    <p:wipe dir="l"/>
  </p:transition>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5" name="Picture 2" descr="EscuelaIT Duoc UC - Escuela de Informática y Telecomunicaciones Duoc UC - Duoc  UC | LinkedIn"/>
          <p:cNvPicPr/>
          <p:nvPr/>
        </p:nvPicPr>
        <p:blipFill>
          <a:blip r:embed="rId1"/>
          <a:stretch/>
        </p:blipFill>
        <p:spPr>
          <a:xfrm>
            <a:off x="8772120" y="207720"/>
            <a:ext cx="3141000" cy="785160"/>
          </a:xfrm>
          <a:prstGeom prst="rect">
            <a:avLst/>
          </a:prstGeom>
          <a:noFill/>
          <a:ln w="0">
            <a:noFill/>
          </a:ln>
        </p:spPr>
      </p:pic>
      <p:sp>
        <p:nvSpPr>
          <p:cNvPr id="456" name="CuadroTexto 3"/>
          <p:cNvSpPr/>
          <p:nvPr/>
        </p:nvSpPr>
        <p:spPr>
          <a:xfrm>
            <a:off x="0" y="3044160"/>
            <a:ext cx="12191760" cy="768960"/>
          </a:xfrm>
          <a:prstGeom prst="rect">
            <a:avLst/>
          </a:prstGeom>
          <a:noFill/>
          <a:ln w="0">
            <a:noFill/>
          </a:ln>
        </p:spPr>
        <p:style>
          <a:lnRef idx="0"/>
          <a:fillRef idx="0"/>
          <a:effectRef idx="0"/>
          <a:fontRef idx="minor"/>
        </p:style>
        <p:txBody>
          <a:bodyPr lIns="90000" tIns="45000" rIns="90000" bIns="45000" anchor="t">
            <a:spAutoFit/>
          </a:bodyPr>
          <a:p>
            <a:pPr algn="ctr" defTabSz="914400">
              <a:lnSpc>
                <a:spcPct val="100000"/>
              </a:lnSpc>
            </a:pPr>
            <a:r>
              <a:rPr lang="es-MX" sz="4400" b="0" u="none" strike="noStrike">
                <a:solidFill>
                  <a:schemeClr val="dk1"/>
                </a:solidFill>
                <a:effectLst/>
                <a:uFillTx/>
                <a:latin typeface="Calibri"/>
              </a:rPr>
              <a:t>PREGUNTAS DE LA COMISIÓN</a:t>
            </a:r>
            <a:endParaRPr lang="es-CL" sz="4400" b="0" u="none" strike="noStrike">
              <a:solidFill>
                <a:srgbClr val="000000"/>
              </a:solidFill>
              <a:effectLst/>
              <a:uFillTx/>
              <a:latin typeface="Arial"/>
            </a:endParaRPr>
          </a:p>
        </p:txBody>
      </p:sp>
    </p:spTree>
  </p:cSld>
  <p:transition spd="slow">
    <p:wipe dir="l"/>
  </p:transition>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139</TotalTime>
  <Application>LibreOffice/26.8.1.1$Linux_X86_64 LibreOffice_project/bf6ef2662401c7d6dce671ab4deb26ee0af3a7c1</Application>
  <AppVersion>15.0000</AppVersion>
  <Words>2888</Words>
  <Paragraphs>482</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2023-10-28T21:12:11Z</dcterms:created>
  <dc:creator>Gerardo Galan Cruz</dc:creator>
  <dc:description/>
  <dc:language>es-CL</dc:language>
  <cp:lastModifiedBy/>
  <dcterms:modified xsi:type="dcterms:W3CDTF">2026-10-16T21:36:52Z</dcterms:modified>
  <cp:revision>5</cp:revision>
  <dc:subject/>
  <dc:title>Presentación de PowerPoint</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10</vt:i4>
  </property>
  <property fmtid="{D5CDD505-2E9C-101B-9397-08002B2CF9AE}" pid="3" name="PresentationFormat">
    <vt:lpwstr>Panorámica</vt:lpwstr>
  </property>
  <property fmtid="{D5CDD505-2E9C-101B-9397-08002B2CF9AE}" pid="4" name="Slides">
    <vt:i4>22</vt:i4>
  </property>
</Properties>
</file>